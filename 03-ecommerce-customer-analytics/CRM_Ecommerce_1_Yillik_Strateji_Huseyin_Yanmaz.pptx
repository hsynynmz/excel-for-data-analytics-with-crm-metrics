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f7405b00a24d44" /><Relationship Type="http://schemas.openxmlformats.org/officeDocument/2006/relationships/extended-properties" Target="/docProps/app.xml" Id="R72112245787344d6" /><Relationship Type="http://schemas.openxmlformats.org/officeDocument/2006/relationships/officeDocument" Target="/ppt/presentation.xml" Id="Re0a1441d526e4203" /></Relationships>
</file>

<file path=ppt/presentation.xml><?xml version="1.0" encoding="utf-8"?>
<p:presentation xmlns:p="http://schemas.openxmlformats.org/presentationml/2006/main">
  <p:sldMasterIdLst>
    <p:sldMasterId xmlns:r="http://schemas.openxmlformats.org/officeDocument/2006/relationships" id="2147483648" r:id="R4e0f026efde24002"/>
  </p:sldMasterIdLst>
  <p:notesMasterIdLst>
    <p:notesMasterId xmlns:r="http://schemas.openxmlformats.org/officeDocument/2006/relationships" r:id="R15f3e393d8554aaa"/>
  </p:notesMasterIdLst>
  <p:sldIdLst>
    <p:sldId xmlns:r="http://schemas.openxmlformats.org/officeDocument/2006/relationships" id="256" r:id="R1f1a5b058bec460f"/>
    <p:sldId xmlns:r="http://schemas.openxmlformats.org/officeDocument/2006/relationships" id="257" r:id="R66725fa9538a4656"/>
    <p:sldId xmlns:r="http://schemas.openxmlformats.org/officeDocument/2006/relationships" id="258" r:id="R99f8733bb77e489f"/>
    <p:sldId xmlns:r="http://schemas.openxmlformats.org/officeDocument/2006/relationships" id="259" r:id="Rbfa7768d0a5d48b8"/>
    <p:sldId xmlns:r="http://schemas.openxmlformats.org/officeDocument/2006/relationships" id="260" r:id="R263c48b641e340ec"/>
    <p:sldId xmlns:r="http://schemas.openxmlformats.org/officeDocument/2006/relationships" id="261" r:id="R657157bb1b774e21"/>
    <p:sldId xmlns:r="http://schemas.openxmlformats.org/officeDocument/2006/relationships" id="262" r:id="R09c4e6469c5a4102"/>
    <p:sldId xmlns:r="http://schemas.openxmlformats.org/officeDocument/2006/relationships" id="263" r:id="Rcf8c0a8f825f421c"/>
    <p:sldId xmlns:r="http://schemas.openxmlformats.org/officeDocument/2006/relationships" id="264" r:id="Rc6bf76a96722488e"/>
    <p:sldId xmlns:r="http://schemas.openxmlformats.org/officeDocument/2006/relationships" id="265" r:id="R77f816a8e80c44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d304a179af406d" /><Relationship Type="http://schemas.openxmlformats.org/officeDocument/2006/relationships/slideMaster" Target="/ppt/slideMasters/slideMaster1.xml" Id="R4e0f026efde24002" /><Relationship Type="http://schemas.openxmlformats.org/officeDocument/2006/relationships/notesMaster" Target="/ppt/notesMasters/notesMaster1.xml" Id="R15f3e393d8554aaa" /><Relationship Type="http://schemas.openxmlformats.org/officeDocument/2006/relationships/presProps" Target="/ppt/presProps.xml" Id="Raf4b2ea927a54391" /><Relationship Type="http://schemas.openxmlformats.org/officeDocument/2006/relationships/tableStyles" Target="/ppt/tableStyles.xml" Id="Re04324b0608547d3" /><Relationship Type="http://schemas.openxmlformats.org/officeDocument/2006/relationships/slide" Target="/ppt/slides/slide1.xml" Id="R1f1a5b058bec460f" /><Relationship Type="http://schemas.openxmlformats.org/officeDocument/2006/relationships/slide" Target="/ppt/slides/slide2.xml" Id="R66725fa9538a4656" /><Relationship Type="http://schemas.openxmlformats.org/officeDocument/2006/relationships/slide" Target="/ppt/slides/slide3.xml" Id="R99f8733bb77e489f" /><Relationship Type="http://schemas.openxmlformats.org/officeDocument/2006/relationships/slide" Target="/ppt/slides/slide4.xml" Id="Rbfa7768d0a5d48b8" /><Relationship Type="http://schemas.openxmlformats.org/officeDocument/2006/relationships/slide" Target="/ppt/slides/slide5.xml" Id="R263c48b641e340ec" /><Relationship Type="http://schemas.openxmlformats.org/officeDocument/2006/relationships/slide" Target="/ppt/slides/slide6.xml" Id="R657157bb1b774e21" /><Relationship Type="http://schemas.openxmlformats.org/officeDocument/2006/relationships/slide" Target="/ppt/slides/slide7.xml" Id="R09c4e6469c5a4102" /><Relationship Type="http://schemas.openxmlformats.org/officeDocument/2006/relationships/slide" Target="/ppt/slides/slide8.xml" Id="Rcf8c0a8f825f421c" /><Relationship Type="http://schemas.openxmlformats.org/officeDocument/2006/relationships/slide" Target="/ppt/slides/slide9.xml" Id="Rc6bf76a96722488e" /><Relationship Type="http://schemas.openxmlformats.org/officeDocument/2006/relationships/slide" Target="/ppt/slides/slide10.xml" Id="R77f816a8e80c44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d5e313645c48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commerce Analytics">
      <a:dk1>
        <a:srgbClr val="000000"/>
      </a:dk1>
      <a:lt1>
        <a:srgbClr val="FFFFFF"/>
      </a:lt1>
      <a:dk2>
        <a:srgbClr val="173A5E"/>
      </a:dk2>
      <a:lt2>
        <a:srgbClr val="DCE5EE"/>
      </a:lt2>
      <a:accent1>
        <a:srgbClr val="2F6BFF"/>
      </a:accent1>
      <a:accent2>
        <a:srgbClr val="00A88F"/>
      </a:accent2>
      <a:accent3>
        <a:srgbClr val="EF6A5B"/>
      </a:accent3>
      <a:accent4>
        <a:srgbClr val="F2B94B"/>
      </a:accent4>
      <a:accent5>
        <a:srgbClr val="7B61FF"/>
      </a:accent5>
      <a:accent6>
        <a:srgbClr val="2DA66F"/>
      </a:accent6>
      <a:hlink>
        <a:srgbClr val="2F6BFF"/>
      </a:hlink>
      <a:folHlink>
        <a:srgbClr val="7B61FF"/>
      </a:folHlink>
    </a:clrScheme>
    <a:fontScheme name="Office">
      <a:majorFont>
        <a:latin typeface="Calibri Light"/>
        <a:ea typeface="Calibri Light"/>
        <a:cs typeface="Calibri Light"/>
      </a:majorFont>
      <a:minorFont>
        <a:latin typeface="Calibri"/>
        <a:ea typeface="Calibri"/>
        <a:cs typeface="Calibri"/>
      </a:minorFont>
    </a:fontScheme>
    <a:fmtScheme name="E-commerce Analytic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6867f4d37646b3" /><Relationship Type="http://schemas.openxmlformats.org/officeDocument/2006/relationships/notesMaster" Target="/ppt/notesMasters/notesMaster1.xml" Id="R3c1b8b5ea61f42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daafae714444f6" /><Relationship Type="http://schemas.openxmlformats.org/officeDocument/2006/relationships/notesMaster" Target="/ppt/notesMasters/notesMaster1.xml" Id="R6c0f60b64c174e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faec93535c41a2" /><Relationship Type="http://schemas.openxmlformats.org/officeDocument/2006/relationships/notesMaster" Target="/ppt/notesMasters/notesMaster1.xml" Id="Re6ee500b373649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0416bf10eb4ef0" /><Relationship Type="http://schemas.openxmlformats.org/officeDocument/2006/relationships/notesMaster" Target="/ppt/notesMasters/notesMaster1.xml" Id="R2d4b628f8bed46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22587f040f4fdd" /><Relationship Type="http://schemas.openxmlformats.org/officeDocument/2006/relationships/notesMaster" Target="/ppt/notesMasters/notesMaster1.xml" Id="Reec607c9f78e40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567be751dd4c0e" /><Relationship Type="http://schemas.openxmlformats.org/officeDocument/2006/relationships/notesMaster" Target="/ppt/notesMasters/notesMaster1.xml" Id="Rd9d593af8b4843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3423dcf1804026" /><Relationship Type="http://schemas.openxmlformats.org/officeDocument/2006/relationships/notesMaster" Target="/ppt/notesMasters/notesMaster1.xml" Id="R9b7c2e24a8ed40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6ef5607064421c" /><Relationship Type="http://schemas.openxmlformats.org/officeDocument/2006/relationships/notesMaster" Target="/ppt/notesMasters/notesMaster1.xml" Id="R6dc5fc416cbb47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6859d8587a443c" /><Relationship Type="http://schemas.openxmlformats.org/officeDocument/2006/relationships/notesMaster" Target="/ppt/notesMasters/notesMaster1.xml" Id="R0c62a2608e6f40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2a6efffbd543ef" /><Relationship Type="http://schemas.openxmlformats.org/officeDocument/2006/relationships/notesMaster" Target="/ppt/notesMasters/notesMaster1.xml" Id="R732e8a8284b44f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çalışmada mevcut müşteri ve satış verilerini üç açıdan ele aldım: RFM ile müşteri portföyünü, sepet analiziyle çapraz satış fırsatını ve memnuniyet verisiyle deneyim önceliklerini belirledim. Son bölümde bu üç alanı tek bir 12 aylık büyüme planında birleştiriyorum.</a:t>
            </a:r>
          </a:p>
          <a:p xmlns:a="http://schemas.openxmlformats.org/drawingml/2006/main">
            <a:r>
              <a:t/>
            </a:r>
          </a:p>
          <a:p xmlns:a="http://schemas.openxmlformats.org/drawingml/2006/main">
            <a:r>
              <a:t>[Sources]</a:t>
            </a:r>
          </a:p>
          <a:p xmlns:a="http://schemas.openxmlformats.org/drawingml/2006/main">
            <a:r>
              <a:t>- CRM_HM07_260826(1).xlsx — çalışma kitabının tamamı; veri dönemi Data!E7:E93874.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 setinin mevcut ölçeği 3.944 müşteri, 15.199 sepet ve 1,93 milyon toplam gelirdir. Benim önerim, 12 aylık büyüme planını üç kaldıraçla kurmak: At Risk müşteriyi geri kazanmak, JAM ürünü çevresindeki güçlü eşleşmeleri satışa çevirmek ve dijital deneyimdeki performans açığını kapatmak.</a:t>
            </a:r>
          </a:p>
          <a:p xmlns:a="http://schemas.openxmlformats.org/drawingml/2006/main">
            <a:r>
              <a:t/>
            </a:r>
          </a:p>
          <a:p xmlns:a="http://schemas.openxmlformats.org/drawingml/2006/main">
            <a:r>
              <a:t>[Sources]</a:t>
            </a:r>
          </a:p>
          <a:p xmlns:a="http://schemas.openxmlformats.org/drawingml/2006/main">
            <a:r>
              <a:t>- CRM_HM07_260826(1).xlsx — Data!A6:J93874.</a:t>
            </a:r>
          </a:p>
          <a:p xmlns:a="http://schemas.openxmlformats.org/drawingml/2006/main">
            <a:r>
              <a:t>- CRM_HM07_260826(1).xlsx — RFM!N4:R3948 ve RFM!U4:AB3948.</a:t>
            </a:r>
          </a:p>
          <a:p xmlns:a="http://schemas.openxmlformats.org/drawingml/2006/main">
            <a:r>
              <a:t>- CRM_HM07_260826(1).xlsx — HedefSepet!O5:S1178; Memnuniyet_Copy!A3:O5; NPS analizi!B3:I7.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RFM segmentlerini yalnızca müşteri sayısına göre yorumlamadım. Örneğin Hibernating en büyük segmentken düşük değer üretiyor; Champions ise müşterilerin yalnızca yüzde 7,9’u olmasına rağmen parasal değerin yüzde 41,6’sını oluşturuyor. Segment kodu Frequency ve Recency skorlarından oluşuyor; Monetary değerini ise segmentlerin ekonomik önemini karşılaştırmak için kullandım.</a:t>
            </a:r>
          </a:p>
          <a:p xmlns:a="http://schemas.openxmlformats.org/drawingml/2006/main">
            <a:r>
              <a:t/>
            </a:r>
          </a:p>
          <a:p xmlns:a="http://schemas.openxmlformats.org/drawingml/2006/main">
            <a:r>
              <a:t>[Sources]</a:t>
            </a:r>
          </a:p>
          <a:p xmlns:a="http://schemas.openxmlformats.org/drawingml/2006/main">
            <a:r>
              <a:t>- CRM_HM07_260826(1).xlsx — RFM!U4:AB3948.</a:t>
            </a:r>
          </a:p>
          <a:p xmlns:a="http://schemas.openxmlformats.org/drawingml/2006/main">
            <a:r>
              <a:t>- CRM_HM07_260826(1).xlsx — RFM!AC5:AC8, RFM!AK6:AL30 ve RFM!N4:R3948.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Geri kazanım kampanyası için At Risk segmentini seçtim. Çünkü bu grup 292 kişiyle ölçülebilir bir ölçeğe sahip; ortalama dört alışveriş ve 406,5 parasal değerle geçmişte ilişki kurmuş. Buna karşılık ortalama recency 137 güne çıkmış ve segment NPS eksi 3,1. Yani problem değersiz müşteri değil, zayıflayan ilişkidir. Sadece dört kişiden oluşan Can’t Lose Them grubunu ise toplu kampanya yerine birebir yönetmek daha doğru olur.</a:t>
            </a:r>
          </a:p>
          <a:p xmlns:a="http://schemas.openxmlformats.org/drawingml/2006/main">
            <a:r>
              <a:t/>
            </a:r>
          </a:p>
          <a:p xmlns:a="http://schemas.openxmlformats.org/drawingml/2006/main">
            <a:r>
              <a:t>[Sources]</a:t>
            </a:r>
          </a:p>
          <a:p xmlns:a="http://schemas.openxmlformats.org/drawingml/2006/main">
            <a:r>
              <a:t>- CRM_HM07_260826(1).xlsx — RFM!N4:R3948 ve RFM!U4:AB3948.</a:t>
            </a:r>
          </a:p>
          <a:p xmlns:a="http://schemas.openxmlformats.org/drawingml/2006/main">
            <a:r>
              <a:t>- CRM_HM07_260826(1).xlsx — Memnuniyet_Copy!A7:S3951; müşteri kimliği üzerinden RFM segmentiyle eşleştirme.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Kampanyayı yüzde 10 kontrol grubu ile 90 günlük bir öğrenme döngüsü olarak tasarladım. Mesaj ve ürün seçkisi geçmiş davranışa göre kişiselleştirilecek. İlk temas indirim yerine ilişkiyi hatırlatacak; son temasta ücretsiz kargo veya sınırlı yüzde 10 teklif test edilecek. Yüzde 12 reaktivasyon bir başlangıç eşiğidir; Q1 pilot sonucuna göre yeniden kalibre edilmelidir.</a:t>
            </a:r>
          </a:p>
          <a:p xmlns:a="http://schemas.openxmlformats.org/drawingml/2006/main">
            <a:r>
              <a:t/>
            </a:r>
          </a:p>
          <a:p xmlns:a="http://schemas.openxmlformats.org/drawingml/2006/main">
            <a:r>
              <a:t>[Sources]</a:t>
            </a:r>
          </a:p>
          <a:p xmlns:a="http://schemas.openxmlformats.org/drawingml/2006/main">
            <a:r>
              <a:t>- CRM_HM07_260826(1).xlsx — RFM!N4:R3948 ve RFM!U4:AB3948 (kampanya kitlesinin veri temeli).</a:t>
            </a:r>
          </a:p>
          <a:p xmlns:a="http://schemas.openxmlformats.org/drawingml/2006/main">
            <a:r>
              <a:t>- Kampanya akışı ve başarı eşikleri — bu analiz kapsamında geliştirilen öneri; dış kaynak kullanılmadı.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 MAKING SET WITH JARS 217 farklı sepette yer alıyor; support yüzde 1,43. Ürün niş görünse de hedef sepetlerin ortalama geliri 295,54 ile genel sepet ortalamasının üzerindedir. En ölçeklenebilir eşleşme 26 beraber görülme ve yüzde 12 confidence ile üçlü kek kalıbıdır. JAM MAKING SET PRINTED ise 7,87 lift ile güçlü bir tematik eşleşmedir.</a:t>
            </a:r>
          </a:p>
          <a:p xmlns:a="http://schemas.openxmlformats.org/drawingml/2006/main">
            <a:r>
              <a:t/>
            </a:r>
          </a:p>
          <a:p xmlns:a="http://schemas.openxmlformats.org/drawingml/2006/main">
            <a:r>
              <a:t>[Sources]</a:t>
            </a:r>
          </a:p>
          <a:p xmlns:a="http://schemas.openxmlformats.org/drawingml/2006/main">
            <a:r>
              <a:t>- CRM_HM07_260826(1).xlsx — SepetAnalizi!E2:F3.</a:t>
            </a:r>
          </a:p>
          <a:p xmlns:a="http://schemas.openxmlformats.org/drawingml/2006/main">
            <a:r>
              <a:t>- CRM_HM07_260826(1).xlsx — HedefSepet!O5:S1178.</a:t>
            </a:r>
          </a:p>
          <a:p xmlns:a="http://schemas.openxmlformats.org/drawingml/2006/main">
            <a:r>
              <a:t>- CRM_HM07_260826(1).xlsx — Data!A6:J93874; hedef sepetlerin gelir özeti.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Satış stratejisini Reçel Yapım Atölyesi isimli tematik paket etrafında kurdum. Çekirdek paket, en anlamlı ürün ailesini; yükseltme ise yüksek confidence gösteren kek kalıbını veya jelly moulds ürününü kullanıyor. Mevcut durumda hedef sepetlerin yüzde 28,6’sında ilk beş eşleşmeden en az biri bulunuyor. İlk yıl için yüzde 35 attach rate başlangıç hedefi öneriyorum.</a:t>
            </a:r>
          </a:p>
          <a:p xmlns:a="http://schemas.openxmlformats.org/drawingml/2006/main">
            <a:r>
              <a:t/>
            </a:r>
          </a:p>
          <a:p xmlns:a="http://schemas.openxmlformats.org/drawingml/2006/main">
            <a:r>
              <a:t>[Sources]</a:t>
            </a:r>
          </a:p>
          <a:p xmlns:a="http://schemas.openxmlformats.org/drawingml/2006/main">
            <a:r>
              <a:t>- CRM_HM07_260826(1).xlsx — HedefSepet!O5:S1178.</a:t>
            </a:r>
          </a:p>
          <a:p xmlns:a="http://schemas.openxmlformats.org/drawingml/2006/main">
            <a:r>
              <a:t>- CRM_HM07_260826(1).xlsx — Data!A6:J93874; ilk beş eşleşmenin hedef sepetlerdeki birleşik attach rate hesabı.</a:t>
            </a:r>
          </a:p>
          <a:p xmlns:a="http://schemas.openxmlformats.org/drawingml/2006/main">
            <a:r>
              <a:t>- Bundle adı, temas noktaları ve yüzde 35 hedefi — bu analiz kapsamında geliştirilen öneri.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Memnuniyet haritasında önem için ortalama yüzde 47,5, memnuniyet için 58,0 eşiklerini kullandım. Web ve uygulama performansı yüzde 50,8 önem ve 41,69 memnuniyetle kritik bölgede kalan temel başlıktır. Ürün çeşitliliği en yüksek öneme sahiptir; mevcut skor korunmalı ve izlenmelidir. Ambalaj ile sipariş karşılama ise şirketin koruması gereken güçlü alanlardır.</a:t>
            </a:r>
          </a:p>
          <a:p xmlns:a="http://schemas.openxmlformats.org/drawingml/2006/main">
            <a:r>
              <a:t/>
            </a:r>
          </a:p>
          <a:p xmlns:a="http://schemas.openxmlformats.org/drawingml/2006/main">
            <a:r>
              <a:t>[Sources]</a:t>
            </a:r>
          </a:p>
          <a:p xmlns:a="http://schemas.openxmlformats.org/drawingml/2006/main">
            <a:r>
              <a:t>- CRM_HM07_260826(1).xlsx — Satisfaction_Map!B4:D18.</a:t>
            </a:r>
          </a:p>
          <a:p xmlns:a="http://schemas.openxmlformats.org/drawingml/2006/main">
            <a:r>
              <a:t>- CRM_HM07_260826(1).xlsx — Memnuniyet_Copy!A3:O5.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Genel NPS artı 5,05’tir. Müşterilerin yüzde 65,2’si pasif olduğu için ana fırsat yalnızca detractor azaltmak değil, pasifi promotere çevirmektir. İlk öncelik web ve uygulama performansı, ikinci öncelik sipariş kolaylığı, üçüncü öncelik ise kapalı döngü müşteri sesi programıdır. NPS artı 15 ve iki düşük skoru 55’in üzerine çıkarma hedefleri Q1’de kalibre edilecek başlangıç hedefleridir.</a:t>
            </a:r>
          </a:p>
          <a:p xmlns:a="http://schemas.openxmlformats.org/drawingml/2006/main">
            <a:r>
              <a:t/>
            </a:r>
          </a:p>
          <a:p xmlns:a="http://schemas.openxmlformats.org/drawingml/2006/main">
            <a:r>
              <a:t>[Sources]</a:t>
            </a:r>
          </a:p>
          <a:p xmlns:a="http://schemas.openxmlformats.org/drawingml/2006/main">
            <a:r>
              <a:t>- CRM_HM07_260826(1).xlsx — NPS analizi!B3:I7.</a:t>
            </a:r>
          </a:p>
          <a:p xmlns:a="http://schemas.openxmlformats.org/drawingml/2006/main">
            <a:r>
              <a:t>- CRM_HM07_260826(1).xlsx — Memnuniyet_Copy!A3:O5 ve A7:S3951.</a:t>
            </a:r>
          </a:p>
          <a:p xmlns:a="http://schemas.openxmlformats.org/drawingml/2006/main">
            <a:r>
              <a:t>- 12 aylık hedefler ve aksiyonlar — bu analiz kapsamında geliştirilen öneri.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 haritası ilk çeyrekte ölçüm ve pilotla başlıyor. Q2’de kazanan kampanya, bundle yerleşimi ve performans iyileştirmeleri ölçekleniyor. Q3 kişiselleştirme ve yaşam döngüsü otomasyonuna, Q4 ise bütçe optimizasyonuna ayrılıyor. CEO scorecard üç ana sonuç metriğini ve marj, iade, şikâyet ile site hata oranı guardrail’lerini birlikte izleyecek.</a:t>
            </a:r>
          </a:p>
          <a:p xmlns:a="http://schemas.openxmlformats.org/drawingml/2006/main">
            <a:r>
              <a:t/>
            </a:r>
          </a:p>
          <a:p xmlns:a="http://schemas.openxmlformats.org/drawingml/2006/main">
            <a:r>
              <a:t>[Sources]</a:t>
            </a:r>
          </a:p>
          <a:p xmlns:a="http://schemas.openxmlformats.org/drawingml/2006/main">
            <a:r>
              <a:t>- CRM_HM07_260826(1).xlsx — RFM, HedefSepet, Satisfaction_Map ve NPS analizi sayfalarındaki mevcut durum metrikleri.</a:t>
            </a:r>
          </a:p>
          <a:p xmlns:a="http://schemas.openxmlformats.org/drawingml/2006/main">
            <a:r>
              <a:t>- 12 aylık yol haritası, hedefler ve guardrail’ler — bu analiz kapsamında geliştirilen öneri.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5ed2c6831c4a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9ede86f6cc4c17" /><Relationship Type="http://schemas.openxmlformats.org/officeDocument/2006/relationships/slideLayout" Target="/ppt/slideLayouts/slideLayout1.xml" Id="Rf149ce2f216848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49ce2f216848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commerce Analytics">
      <a:dk1>
        <a:srgbClr val="000000"/>
      </a:dk1>
      <a:lt1>
        <a:srgbClr val="FFFFFF"/>
      </a:lt1>
      <a:dk2>
        <a:srgbClr val="173A5E"/>
      </a:dk2>
      <a:lt2>
        <a:srgbClr val="DCE5EE"/>
      </a:lt2>
      <a:accent1>
        <a:srgbClr val="2F6BFF"/>
      </a:accent1>
      <a:accent2>
        <a:srgbClr val="00A88F"/>
      </a:accent2>
      <a:accent3>
        <a:srgbClr val="EF6A5B"/>
      </a:accent3>
      <a:accent4>
        <a:srgbClr val="F2B94B"/>
      </a:accent4>
      <a:accent5>
        <a:srgbClr val="7B61FF"/>
      </a:accent5>
      <a:accent6>
        <a:srgbClr val="2DA66F"/>
      </a:accent6>
      <a:hlink>
        <a:srgbClr val="2F6BFF"/>
      </a:hlink>
      <a:folHlink>
        <a:srgbClr val="7B61FF"/>
      </a:folHlink>
    </a:clrScheme>
    <a:fontScheme name="Office">
      <a:majorFont>
        <a:latin typeface="Calibri Light"/>
        <a:ea typeface="Calibri Light"/>
        <a:cs typeface="Calibri Light"/>
      </a:majorFont>
      <a:minorFont>
        <a:latin typeface="Calibri"/>
        <a:ea typeface="Calibri"/>
        <a:cs typeface="Calibri"/>
      </a:minorFont>
    </a:fontScheme>
    <a:fmtScheme name="E-commerce Analytic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59c731f71d44ca" /><Relationship Type="http://schemas.openxmlformats.org/officeDocument/2006/relationships/notesSlide" Target="/ppt/notesSlides/notesSlide1.xml" Id="Rb6dd688c56974b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b286a44e7842f5" /><Relationship Type="http://schemas.openxmlformats.org/officeDocument/2006/relationships/notesSlide" Target="/ppt/notesSlides/notesSlide2.xml" Id="R403b85433f4c4a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9ae64609f94492" /><Relationship Type="http://schemas.openxmlformats.org/officeDocument/2006/relationships/chart" Target="/ppt/slides/charts/chart1.xml" Id="Rae3f0b4f4f3b4326" /><Relationship Type="http://schemas.openxmlformats.org/officeDocument/2006/relationships/notesSlide" Target="/ppt/notesSlides/notesSlide3.xml" Id="R8a1b8cbc5aa04a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61c045cca24d59" /><Relationship Type="http://schemas.openxmlformats.org/officeDocument/2006/relationships/notesSlide" Target="/ppt/notesSlides/notesSlide4.xml" Id="Rfb2cb2a3ad3a45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d9fc8330824884" /><Relationship Type="http://schemas.openxmlformats.org/officeDocument/2006/relationships/notesSlide" Target="/ppt/notesSlides/notesSlide5.xml" Id="R25bbf75c894c42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da345e3b364c4e" /><Relationship Type="http://schemas.openxmlformats.org/officeDocument/2006/relationships/chart" Target="/ppt/slides/charts/chart2.xml" Id="Rf9c577a5214e47d2" /><Relationship Type="http://schemas.openxmlformats.org/officeDocument/2006/relationships/notesSlide" Target="/ppt/notesSlides/notesSlide6.xml" Id="Rf20e3bb578614c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d981fb4f6f4011" /><Relationship Type="http://schemas.openxmlformats.org/officeDocument/2006/relationships/notesSlide" Target="/ppt/notesSlides/notesSlide7.xml" Id="R67dedd1cf9024e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d8e4bc38d14c3f" /><Relationship Type="http://schemas.openxmlformats.org/officeDocument/2006/relationships/notesSlide" Target="/ppt/notesSlides/notesSlide8.xml" Id="Rd758493846764e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993e7f313d4738" /><Relationship Type="http://schemas.openxmlformats.org/officeDocument/2006/relationships/notesSlide" Target="/ppt/notesSlides/notesSlide9.xml" Id="R353874b68b3744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8937f2c10841e3" /><Relationship Type="http://schemas.openxmlformats.org/officeDocument/2006/relationships/notesSlide" Target="/ppt/notesSlides/notesSlide10.xml" Id="R8b27f42e363c4129" /></Relationships>
</file>

<file path=ppt/slides/charts/chart1.xml><?xml version="1.0" encoding="utf-8"?>
<c:chartSpace xmlns:c="http://schemas.openxmlformats.org/drawingml/2006/chart">
  <c:lang val="en-US"/>
  <c:chart>
    <c:plotArea>
      <c:barChart>
        <c:barDir val="bar"/>
        <c:grouping val="clustered"/>
        <c:varyColors val="1"/>
        <c:ser>
          <c:idx val="0"/>
          <c:order val="0"/>
          <c:tx>
            <c:v>Müşteri sayısı</c:v>
          </c:tx>
          <c:spPr>
            <a:solidFill xmlns:a="http://schemas.openxmlformats.org/drawingml/2006/main">
              <a:srgbClr val="2F6BFF"/>
            </a:solidFill>
          </c:spPr>
          <c:dPt>
            <c:idx val="0"/>
            <c:invertIfNegative val="0"/>
            <c:spPr>
              <a:solidFill xmlns:a="http://schemas.openxmlformats.org/drawingml/2006/main">
                <a:srgbClr val="D84F55"/>
              </a:solidFill>
            </c:spPr>
          </c:dPt>
          <c:dPt>
            <c:idx val="1"/>
            <c:invertIfNegative val="0"/>
            <c:spPr>
              <a:solidFill xmlns:a="http://schemas.openxmlformats.org/drawingml/2006/main">
                <a:srgbClr val="3BB8C5"/>
              </a:solidFill>
            </c:spPr>
          </c:dPt>
          <c:dPt>
            <c:idx val="2"/>
            <c:invertIfNegative val="0"/>
            <c:spPr>
              <a:solidFill xmlns:a="http://schemas.openxmlformats.org/drawingml/2006/main">
                <a:srgbClr val="7B61FF"/>
              </a:solidFill>
            </c:spPr>
          </c:dPt>
          <c:dPt>
            <c:idx val="3"/>
            <c:invertIfNegative val="0"/>
            <c:spPr>
              <a:solidFill xmlns:a="http://schemas.openxmlformats.org/drawingml/2006/main">
                <a:srgbClr val="00A88F"/>
              </a:solidFill>
            </c:spPr>
          </c:dPt>
          <c:dPt>
            <c:idx val="4"/>
            <c:invertIfNegative val="0"/>
            <c:spPr>
              <a:solidFill xmlns:a="http://schemas.openxmlformats.org/drawingml/2006/main">
                <a:srgbClr val="F2B94B"/>
              </a:solidFill>
            </c:spPr>
          </c:dPt>
          <c:dPt>
            <c:idx val="5"/>
            <c:invertIfNegative val="0"/>
            <c:spPr>
              <a:solidFill xmlns:a="http://schemas.openxmlformats.org/drawingml/2006/main">
                <a:srgbClr val="EF6A5B"/>
              </a:solidFill>
            </c:spPr>
          </c:dPt>
          <c:dPt>
            <c:idx val="6"/>
            <c:invertIfNegative val="0"/>
            <c:spPr>
              <a:solidFill xmlns:a="http://schemas.openxmlformats.org/drawingml/2006/main">
                <a:srgbClr val="2DA66F"/>
              </a:solidFill>
            </c:spPr>
          </c:dPt>
          <c:dPt>
            <c:idx val="7"/>
            <c:invertIfNegative val="0"/>
            <c:spPr>
              <a:solidFill xmlns:a="http://schemas.openxmlformats.org/drawingml/2006/main">
                <a:srgbClr val="C9A15D"/>
              </a:solidFill>
            </c:spPr>
          </c:dPt>
          <c:dPt>
            <c:idx val="8"/>
            <c:invertIfNegative val="0"/>
            <c:spPr>
              <a:solidFill xmlns:a="http://schemas.openxmlformats.org/drawingml/2006/main">
                <a:srgbClr val="2F6BFF"/>
              </a:solidFill>
            </c:spPr>
          </c:dPt>
          <c:dPt>
            <c:idx val="9"/>
            <c:invertIfNegative val="0"/>
            <c:spPr>
              <a:solidFill xmlns:a="http://schemas.openxmlformats.org/drawingml/2006/main">
                <a:srgbClr val="A8B5C2"/>
              </a:solidFill>
            </c:spPr>
          </c:dPt>
          <c:cat>
            <c:strLit>
              <c:ptCount val="10"/>
              <c:pt idx="0">
                <c:v>Can’t Lose Them</c:v>
              </c:pt>
              <c:pt idx="1">
                <c:v>New Customers</c:v>
              </c:pt>
              <c:pt idx="2">
                <c:v>Promising</c:v>
              </c:pt>
              <c:pt idx="3">
                <c:v>Loyal Customers</c:v>
              </c:pt>
              <c:pt idx="4">
                <c:v>Need Attention</c:v>
              </c:pt>
              <c:pt idx="5">
                <c:v>At Risk</c:v>
              </c:pt>
              <c:pt idx="6">
                <c:v>Champions</c:v>
              </c:pt>
              <c:pt idx="7">
                <c:v>About to Sleep</c:v>
              </c:pt>
              <c:pt idx="8">
                <c:v>Potential Loyalists</c:v>
              </c:pt>
              <c:pt idx="9">
                <c:v>Hibernating</c:v>
              </c:pt>
            </c:strLit>
          </c:cat>
          <c:val>
            <c:numLit>
              <c:formatCode>#,##0</c:formatCode>
              <c:ptCount val="10"/>
              <c:pt idx="0">
                <c:v>4</c:v>
              </c:pt>
              <c:pt idx="1">
                <c:v>77</c:v>
              </c:pt>
              <c:pt idx="2">
                <c:v>164</c:v>
              </c:pt>
              <c:pt idx="3">
                <c:v>221</c:v>
              </c:pt>
              <c:pt idx="4">
                <c:v>251</c:v>
              </c:pt>
              <c:pt idx="5">
                <c:v>292</c:v>
              </c:pt>
              <c:pt idx="6">
                <c:v>312</c:v>
              </c:pt>
              <c:pt idx="7">
                <c:v>452</c:v>
              </c:pt>
              <c:pt idx="8">
                <c:v>900</c:v>
              </c:pt>
              <c:pt idx="9">
                <c:v>1271</c:v>
              </c:pt>
            </c:numLit>
          </c:val>
        </c:ser>
        <c:dLbls>
          <c:txPr>
            <a:bodyPr xmlns:a="http://schemas.openxmlformats.org/drawingml/2006/main" anchorCtr="1"/>
            <a:lstStyle xmlns:a="http://schemas.openxmlformats.org/drawingml/2006/main"/>
            <a:p xmlns:a="http://schemas.openxmlformats.org/drawingml/2006/main">
              <a:pPr>
                <a:defRPr sz="1125" b="1">
                  <a:solidFill>
                    <a:srgbClr val="10263D"/>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10263D"/>
                </a:solidFill>
              </a:defRPr>
            </a:pPr>
          </a:p>
        </c:txPr>
        <c:crossAx val="48650112"/>
        <c:crossBetween val="between"/>
      </c:valAx>
      <c:spPr>
        <a:solidFill xmlns:a="http://schemas.openxmlformats.org/drawingml/2006/main">
          <a:srgbClr val="F4F7FA"/>
        </a:solidFill>
        <a:ln xmlns:a="http://schemas.openxmlformats.org/drawingml/2006/main" w="0">
          <a:noFill/>
          <a:prstDash val="solid"/>
        </a:ln>
      </c:spPr>
    </c:plotArea>
    <c:plotVisOnly val="1"/>
  </c:chart>
  <c:spPr>
    <a:solidFill xmlns:a="http://schemas.openxmlformats.org/drawingml/2006/main">
      <a:srgbClr val="F4F7FA"/>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1"/>
        <c:ser>
          <c:idx val="0"/>
          <c:order val="0"/>
          <c:tx>
            <c:v>Confidence</c:v>
          </c:tx>
          <c:spPr>
            <a:solidFill xmlns:a="http://schemas.openxmlformats.org/drawingml/2006/main">
              <a:srgbClr val="2F6BFF"/>
            </a:solidFill>
          </c:spPr>
          <c:dPt>
            <c:idx val="0"/>
            <c:invertIfNegative val="0"/>
            <c:spPr>
              <a:solidFill xmlns:a="http://schemas.openxmlformats.org/drawingml/2006/main">
                <a:srgbClr val="2F6BFF"/>
              </a:solidFill>
            </c:spPr>
          </c:dPt>
          <c:dPt>
            <c:idx val="1"/>
            <c:invertIfNegative val="0"/>
            <c:spPr>
              <a:solidFill xmlns:a="http://schemas.openxmlformats.org/drawingml/2006/main">
                <a:srgbClr val="2F6BFF"/>
              </a:solidFill>
            </c:spPr>
          </c:dPt>
          <c:dPt>
            <c:idx val="2"/>
            <c:invertIfNegative val="0"/>
            <c:spPr>
              <a:solidFill xmlns:a="http://schemas.openxmlformats.org/drawingml/2006/main">
                <a:srgbClr val="2F6BFF"/>
              </a:solidFill>
            </c:spPr>
          </c:dPt>
          <c:dPt>
            <c:idx val="3"/>
            <c:invertIfNegative val="0"/>
            <c:spPr>
              <a:solidFill xmlns:a="http://schemas.openxmlformats.org/drawingml/2006/main">
                <a:srgbClr val="00A88F"/>
              </a:solidFill>
            </c:spPr>
          </c:dPt>
          <c:dPt>
            <c:idx val="4"/>
            <c:invertIfNegative val="0"/>
            <c:spPr>
              <a:solidFill xmlns:a="http://schemas.openxmlformats.org/drawingml/2006/main">
                <a:srgbClr val="2F6BFF"/>
              </a:solidFill>
            </c:spPr>
          </c:dPt>
          <c:cat>
            <c:strLit>
              <c:ptCount val="5"/>
              <c:pt idx="0">
                <c:v>Kelebek kurabiye kalıbı</c:v>
              </c:pt>
              <c:pt idx="1">
                <c:v>4’lü pantry jelly moulds</c:v>
              </c:pt>
              <c:pt idx="2">
                <c:v>Tarif kutusu • sarı pantry</c:v>
              </c:pt>
              <c:pt idx="3">
                <c:v>JAM yapım seti • baskılı</c:v>
              </c:pt>
              <c:pt idx="4">
                <c:v>3’lü kek kalıbı • pantry</c:v>
              </c:pt>
            </c:strLit>
          </c:cat>
          <c:val>
            <c:numLit>
              <c:formatCode>0.0"%"</c:formatCode>
              <c:ptCount val="5"/>
              <c:pt idx="0">
                <c:v>4.608294930875576</c:v>
              </c:pt>
              <c:pt idx="1">
                <c:v>5.529953917050692</c:v>
              </c:pt>
              <c:pt idx="2">
                <c:v>6.451612903225806</c:v>
              </c:pt>
              <c:pt idx="3">
                <c:v>9.67741935483871</c:v>
              </c:pt>
              <c:pt idx="4">
                <c:v>11.981566820276496</c:v>
              </c:pt>
            </c:numLit>
          </c:val>
        </c:ser>
        <c:dLbls>
          <c:txPr>
            <a:bodyPr xmlns:a="http://schemas.openxmlformats.org/drawingml/2006/main" anchorCtr="1"/>
            <a:lstStyle xmlns:a="http://schemas.openxmlformats.org/drawingml/2006/main"/>
            <a:p xmlns:a="http://schemas.openxmlformats.org/drawingml/2006/main">
              <a:pPr>
                <a:defRPr sz="1125" b="1">
                  <a:solidFill>
                    <a:srgbClr val="10263D"/>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a:solidFill>
                  <a:srgbClr val="10263D"/>
                </a:solidFill>
              </a:defRPr>
            </a:pPr>
          </a:p>
        </c:txPr>
        <c:crossAx val="48650112"/>
        <c:crossBetween val="between"/>
      </c:valAx>
      <c:spPr>
        <a:solidFill xmlns:a="http://schemas.openxmlformats.org/drawingml/2006/main">
          <a:srgbClr val="F4F7FA"/>
        </a:solidFill>
        <a:ln xmlns:a="http://schemas.openxmlformats.org/drawingml/2006/main" w="0">
          <a:noFill/>
          <a:prstDash val="solid"/>
        </a:ln>
      </c:spPr>
    </c:plotArea>
    <c:plotVisOnly val="1"/>
  </c:chart>
  <c:spPr>
    <a:solidFill xmlns:a="http://schemas.openxmlformats.org/drawingml/2006/main">
      <a:srgbClr val="F4F7FA"/>
    </a:solidFill>
    <a:ln xmlns:a="http://schemas.openxmlformats.org/drawingml/2006/main" w="0">
      <a:noFill/>
      <a:prstDash val="solid"/>
    </a:ln>
  </c:spPr>
</c:chartSpace>
</file>

<file path=ppt/slides/slide1.xml><?xml version="1.0" encoding="utf-8"?>
<p:sld xmlns:p="http://schemas.openxmlformats.org/presentationml/2006/main">
  <p:cSld>
    <p:bg>
      <p:bgPr>
        <a:gradFill xmlns:a="http://schemas.openxmlformats.org/drawingml/2006/main">
          <a:gsLst>
            <a:gs pos="0">
              <a:srgbClr val="10263D"/>
            </a:gs>
            <a:gs pos="65000">
              <a:srgbClr val="153A59"/>
            </a:gs>
            <a:gs pos="100000">
              <a:srgbClr val="0A6B70"/>
            </a:gs>
          </a:gsLst>
          <a:lin ang="8700000"/>
        </a:gra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46D1FD1-EE43-43BB-B258-D63431EEF5E0}"/>
              </a:ext>
            </a:extLst>
          </p:cNvPr>
          <p:cNvSpPr>
            <a:spLocks xmlns:a="http://schemas.openxmlformats.org/drawingml/2006/main" noGrp="1"/>
          </p:cNvSpPr>
          <p:nvPr/>
        </p:nvSpPr>
        <p:spPr>
          <a:xfrm xmlns:a="http://schemas.openxmlformats.org/drawingml/2006/main">
            <a:off x="685800" y="628650"/>
            <a:ext cx="2781300" cy="285750"/>
          </a:xfrm>
          <a:prstGeom xmlns:a="http://schemas.openxmlformats.org/drawingml/2006/main" prst="roundRect">
            <a:avLst>
              <a:gd name="adj" fmla="val 50000"/>
            </a:avLst>
          </a:prstGeom>
          <a:solidFill xmlns:a="http://schemas.openxmlformats.org/drawingml/2006/main">
            <a:srgbClr val="FFFFFF">
              <a:alpha val="9412"/>
            </a:srgbClr>
          </a:solidFill>
          <a:ln xmlns:a="http://schemas.openxmlformats.org/drawingml/2006/main" w="9525">
            <a:solidFill>
              <a:srgbClr val="FFFFFF">
                <a:alpha val="25098"/>
              </a:srgbClr>
            </a:solidFill>
            <a:prstDash val="solid"/>
          </a:ln>
        </p:spPr>
      </p:sp>
      <p:sp>
        <p:nvSpPr>
          <p:cNvPr id="2" name="">
            <a:extLst xmlns:a="http://schemas.openxmlformats.org/drawingml/2006/main">
              <a:ext uri="{FF2B5EF4-FFF2-40B4-BE49-F238E27FC236}">
                <a16:creationId xmlns:a16="http://schemas.microsoft.com/office/drawing/2014/main" id="{929584A4-1A96-4CD2-A9A2-A41EF25A27EC}"/>
              </a:ext>
            </a:extLst>
          </p:cNvPr>
          <p:cNvSpPr>
            <a:spLocks xmlns:a="http://schemas.openxmlformats.org/drawingml/2006/main" noGrp="1"/>
          </p:cNvSpPr>
          <p:nvPr/>
        </p:nvSpPr>
        <p:spPr>
          <a:xfrm xmlns:a="http://schemas.openxmlformats.org/drawingml/2006/main">
            <a:off x="781050" y="676275"/>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CEO SUNUMU • 1 YILLIK YOL HARİTASI</a:t>
            </a:r>
          </a:p>
        </p:txBody>
      </p:sp>
      <p:sp>
        <p:nvSpPr>
          <p:cNvPr id="3" name="">
            <a:extLst xmlns:a="http://schemas.openxmlformats.org/drawingml/2006/main">
              <a:ext uri="{FF2B5EF4-FFF2-40B4-BE49-F238E27FC236}">
                <a16:creationId xmlns:a16="http://schemas.microsoft.com/office/drawing/2014/main" id="{8D70B061-207D-4E6C-8A8F-06E8FD72B8B6}"/>
              </a:ext>
            </a:extLst>
          </p:cNvPr>
          <p:cNvSpPr>
            <a:spLocks xmlns:a="http://schemas.openxmlformats.org/drawingml/2006/main" noGrp="1"/>
          </p:cNvSpPr>
          <p:nvPr/>
        </p:nvSpPr>
        <p:spPr>
          <a:xfrm xmlns:a="http://schemas.openxmlformats.org/drawingml/2006/main">
            <a:off x="685800" y="1362075"/>
            <a:ext cx="6572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950" b="1">
                <a:solidFill>
                  <a:srgbClr val="FFFFFF"/>
                </a:solidFill>
                <a:latin typeface="Aptos Display"/>
                <a:ea typeface="Aptos Display"/>
                <a:cs typeface="Aptos Display"/>
              </a:defRPr>
            </a:pPr>
            <a:r>
              <a:rPr sz="4950" b="1">
                <a:solidFill>
                  <a:srgbClr val="FFFFFF"/>
                </a:solidFill>
                <a:latin typeface="Aptos Display"/>
                <a:ea typeface="Aptos Display"/>
                <a:cs typeface="Aptos Display"/>
              </a:rPr>
              <a:t>E‑Commerce</a:t>
            </a:r>
          </a:p>
          <a:p xmlns:a="http://schemas.openxmlformats.org/drawingml/2006/main">
            <a:pPr algn="l">
              <a:lnSpc>
                <a:spcPct val="88000"/>
              </a:lnSpc>
              <a:buNone/>
              <a:defRPr sz="4950" b="1">
                <a:solidFill>
                  <a:srgbClr val="FFFFFF"/>
                </a:solidFill>
                <a:latin typeface="Aptos Display"/>
                <a:ea typeface="Aptos Display"/>
                <a:cs typeface="Aptos Display"/>
              </a:defRPr>
            </a:pPr>
            <a:r>
              <a:rPr sz="4950" b="1">
                <a:solidFill>
                  <a:srgbClr val="FFFFFF"/>
                </a:solidFill>
                <a:latin typeface="Aptos Display"/>
                <a:ea typeface="Aptos Display"/>
                <a:cs typeface="Aptos Display"/>
              </a:rPr>
              <a:t>Müşteri Analitiği</a:t>
            </a:r>
          </a:p>
          <a:p xmlns:a="http://schemas.openxmlformats.org/drawingml/2006/main">
            <a:pPr algn="l">
              <a:lnSpc>
                <a:spcPct val="88000"/>
              </a:lnSpc>
              <a:buNone/>
              <a:defRPr sz="4950" b="1">
                <a:solidFill>
                  <a:srgbClr val="FFFFFF"/>
                </a:solidFill>
                <a:latin typeface="Aptos Display"/>
                <a:ea typeface="Aptos Display"/>
                <a:cs typeface="Aptos Display"/>
              </a:defRPr>
            </a:pPr>
            <a:r>
              <a:rPr sz="4950" b="1">
                <a:solidFill>
                  <a:srgbClr val="FFFFFF"/>
                </a:solidFill>
                <a:latin typeface="Aptos Display"/>
                <a:ea typeface="Aptos Display"/>
                <a:cs typeface="Aptos Display"/>
              </a:rPr>
              <a:t>ve Büyüme Stratejisi</a:t>
            </a:r>
          </a:p>
        </p:txBody>
      </p:sp>
      <p:sp>
        <p:nvSpPr>
          <p:cNvPr id="4" name="">
            <a:extLst xmlns:a="http://schemas.openxmlformats.org/drawingml/2006/main">
              <a:ext uri="{FF2B5EF4-FFF2-40B4-BE49-F238E27FC236}">
                <a16:creationId xmlns:a16="http://schemas.microsoft.com/office/drawing/2014/main" id="{F77DBCA4-BBB7-40A8-8490-BFFF4C97C0FA}"/>
              </a:ext>
            </a:extLst>
          </p:cNvPr>
          <p:cNvSpPr>
            <a:spLocks xmlns:a="http://schemas.openxmlformats.org/drawingml/2006/main" noGrp="1"/>
          </p:cNvSpPr>
          <p:nvPr/>
        </p:nvSpPr>
        <p:spPr>
          <a:xfrm xmlns:a="http://schemas.openxmlformats.org/drawingml/2006/main">
            <a:off x="723900" y="424815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D7E6F1"/>
                </a:solidFill>
                <a:latin typeface="Aptos"/>
                <a:ea typeface="Aptos"/>
                <a:cs typeface="Aptos"/>
              </a:defRPr>
            </a:pPr>
            <a:r>
              <a:rPr sz="1650" b="0">
                <a:solidFill>
                  <a:srgbClr val="D7E6F1"/>
                </a:solidFill>
                <a:latin typeface="Aptos"/>
                <a:ea typeface="Aptos"/>
                <a:cs typeface="Aptos"/>
              </a:rPr>
              <a:t>RFM Analizi  •  Sepet Analizi  •  Müşteri Memnuniyeti</a:t>
            </a:r>
          </a:p>
        </p:txBody>
      </p:sp>
      <p:sp>
        <p:nvSpPr>
          <p:cNvPr id="5" name="">
            <a:extLst xmlns:a="http://schemas.openxmlformats.org/drawingml/2006/main">
              <a:ext uri="{FF2B5EF4-FFF2-40B4-BE49-F238E27FC236}">
                <a16:creationId xmlns:a16="http://schemas.microsoft.com/office/drawing/2014/main" id="{34BBFE14-132B-4625-8354-3C508CC1DD3A}"/>
              </a:ext>
            </a:extLst>
          </p:cNvPr>
          <p:cNvSpPr>
            <a:spLocks xmlns:a="http://schemas.openxmlformats.org/drawingml/2006/main" noGrp="1"/>
          </p:cNvSpPr>
          <p:nvPr/>
        </p:nvSpPr>
        <p:spPr>
          <a:xfrm xmlns:a="http://schemas.openxmlformats.org/drawingml/2006/main">
            <a:off x="723900" y="58102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Hüseyin Yanmaz  |  Data Analyst / Data Scientist</a:t>
            </a:r>
          </a:p>
        </p:txBody>
      </p:sp>
      <p:sp>
        <p:nvSpPr>
          <p:cNvPr id="6" name="">
            <a:extLst xmlns:a="http://schemas.openxmlformats.org/drawingml/2006/main">
              <a:ext uri="{FF2B5EF4-FFF2-40B4-BE49-F238E27FC236}">
                <a16:creationId xmlns:a16="http://schemas.microsoft.com/office/drawing/2014/main" id="{5AE7C29A-EBBD-414B-A0A7-6BE293252A7A}"/>
              </a:ext>
            </a:extLst>
          </p:cNvPr>
          <p:cNvSpPr>
            <a:spLocks xmlns:a="http://schemas.openxmlformats.org/drawingml/2006/main" noGrp="1"/>
          </p:cNvSpPr>
          <p:nvPr/>
        </p:nvSpPr>
        <p:spPr>
          <a:xfrm xmlns:a="http://schemas.openxmlformats.org/drawingml/2006/main">
            <a:off x="723900" y="612457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9CEDD"/>
                </a:solidFill>
                <a:latin typeface="Aptos"/>
                <a:ea typeface="Aptos"/>
                <a:cs typeface="Aptos"/>
              </a:defRPr>
            </a:pPr>
            <a:r>
              <a:rPr sz="1125" b="0">
                <a:solidFill>
                  <a:srgbClr val="B9CEDD"/>
                </a:solidFill>
                <a:latin typeface="Aptos"/>
                <a:ea typeface="Aptos"/>
                <a:cs typeface="Aptos"/>
              </a:rPr>
              <a:t>Veri dönemi: 13.11.2021 – 21.11.2022</a:t>
            </a:r>
          </a:p>
        </p:txBody>
      </p:sp>
      <p:sp>
        <p:nvSpPr>
          <p:cNvPr id="7" name="">
            <a:extLst xmlns:a="http://schemas.openxmlformats.org/drawingml/2006/main">
              <a:ext uri="{FF2B5EF4-FFF2-40B4-BE49-F238E27FC236}">
                <a16:creationId xmlns:a16="http://schemas.microsoft.com/office/drawing/2014/main" id="{46E87DBF-ED21-4BED-951A-46341684FBE2}"/>
              </a:ext>
            </a:extLst>
          </p:cNvPr>
          <p:cNvSpPr>
            <a:spLocks xmlns:a="http://schemas.openxmlformats.org/drawingml/2006/main" noGrp="1"/>
          </p:cNvSpPr>
          <p:nvPr/>
        </p:nvSpPr>
        <p:spPr>
          <a:xfrm xmlns:a="http://schemas.openxmlformats.org/drawingml/2006/main">
            <a:off x="8096250" y="1219200"/>
            <a:ext cx="2514600" cy="2514600"/>
          </a:xfrm>
          <a:prstGeom xmlns:a="http://schemas.openxmlformats.org/drawingml/2006/main" prst="ellipse">
            <a:avLst/>
          </a:prstGeom>
          <a:solidFill xmlns:a="http://schemas.openxmlformats.org/drawingml/2006/main">
            <a:srgbClr val="FFFFFF">
              <a:alpha val="3137"/>
            </a:srgbClr>
          </a:solidFill>
          <a:ln xmlns:a="http://schemas.openxmlformats.org/drawingml/2006/main" w="19050">
            <a:solidFill>
              <a:srgbClr val="FFFFFF">
                <a:alpha val="20784"/>
              </a:srgbClr>
            </a:solidFill>
            <a:prstDash val="solid"/>
          </a:ln>
        </p:spPr>
      </p:sp>
      <p:sp>
        <p:nvSpPr>
          <p:cNvPr id="8" name="">
            <a:extLst xmlns:a="http://schemas.openxmlformats.org/drawingml/2006/main">
              <a:ext uri="{FF2B5EF4-FFF2-40B4-BE49-F238E27FC236}">
                <a16:creationId xmlns:a16="http://schemas.microsoft.com/office/drawing/2014/main" id="{4192257E-6A0C-45A8-BA9D-2CCC8AD989A9}"/>
              </a:ext>
            </a:extLst>
          </p:cNvPr>
          <p:cNvSpPr>
            <a:spLocks xmlns:a="http://schemas.openxmlformats.org/drawingml/2006/main" noGrp="1"/>
          </p:cNvSpPr>
          <p:nvPr/>
        </p:nvSpPr>
        <p:spPr>
          <a:xfrm xmlns:a="http://schemas.openxmlformats.org/drawingml/2006/main">
            <a:off x="8705850" y="1828800"/>
            <a:ext cx="1295400" cy="1295400"/>
          </a:xfrm>
          <a:prstGeom xmlns:a="http://schemas.openxmlformats.org/drawingml/2006/main" prst="ellipse">
            <a:avLst/>
          </a:prstGeom>
          <a:solidFill xmlns:a="http://schemas.openxmlformats.org/drawingml/2006/main">
            <a:srgbClr val="FFFFFF">
              <a:alpha val="4706"/>
            </a:srgbClr>
          </a:solidFill>
          <a:ln xmlns:a="http://schemas.openxmlformats.org/drawingml/2006/main" w="9525">
            <a:solidFill>
              <a:srgbClr val="FFFFFF">
                <a:alpha val="14510"/>
              </a:srgbClr>
            </a:solidFill>
            <a:prstDash val="solid"/>
          </a:ln>
        </p:spPr>
      </p:sp>
      <p:sp>
        <p:nvSpPr>
          <p:cNvPr id="9" name="">
            <a:extLst xmlns:a="http://schemas.openxmlformats.org/drawingml/2006/main">
              <a:ext uri="{FF2B5EF4-FFF2-40B4-BE49-F238E27FC236}">
                <a16:creationId xmlns:a16="http://schemas.microsoft.com/office/drawing/2014/main" id="{B2BCA0A2-8C00-4232-96B0-E0851853890A}"/>
              </a:ext>
            </a:extLst>
          </p:cNvPr>
          <p:cNvSpPr>
            <a:spLocks xmlns:a="http://schemas.openxmlformats.org/drawingml/2006/main" noGrp="1"/>
          </p:cNvSpPr>
          <p:nvPr/>
        </p:nvSpPr>
        <p:spPr>
          <a:xfrm xmlns:a="http://schemas.openxmlformats.org/drawingml/2006/main">
            <a:off x="8124825" y="3257550"/>
            <a:ext cx="2333625" cy="1143000"/>
          </a:xfrm>
          <a:prstGeom xmlns:a="http://schemas.openxmlformats.org/drawingml/2006/main" prst="line">
            <a:avLst/>
          </a:prstGeom>
          <a:noFill xmlns:a="http://schemas.openxmlformats.org/drawingml/2006/main"/>
          <a:ln xmlns:a="http://schemas.openxmlformats.org/drawingml/2006/main" w="19050">
            <a:solidFill>
              <a:srgbClr val="FFFFFF">
                <a:alpha val="20784"/>
              </a:srgbClr>
            </a:solidFill>
            <a:prstDash val="solid"/>
          </a:ln>
        </p:spPr>
      </p:sp>
      <p:sp>
        <p:nvSpPr>
          <p:cNvPr id="10" name="">
            <a:extLst xmlns:a="http://schemas.openxmlformats.org/drawingml/2006/main">
              <a:ext uri="{FF2B5EF4-FFF2-40B4-BE49-F238E27FC236}">
                <a16:creationId xmlns:a16="http://schemas.microsoft.com/office/drawing/2014/main" id="{95269BEF-768F-49B0-AD52-043A0B4CD7BC}"/>
              </a:ext>
            </a:extLst>
          </p:cNvPr>
          <p:cNvSpPr>
            <a:spLocks xmlns:a="http://schemas.openxmlformats.org/drawingml/2006/main" noGrp="1"/>
          </p:cNvSpPr>
          <p:nvPr/>
        </p:nvSpPr>
        <p:spPr>
          <a:xfrm xmlns:a="http://schemas.openxmlformats.org/drawingml/2006/main">
            <a:off x="8905875" y="1581150"/>
            <a:ext cx="1362075" cy="2924175"/>
          </a:xfrm>
          <a:prstGeom xmlns:a="http://schemas.openxmlformats.org/drawingml/2006/main" prst="line">
            <a:avLst/>
          </a:prstGeom>
          <a:noFill xmlns:a="http://schemas.openxmlformats.org/drawingml/2006/main"/>
          <a:ln xmlns:a="http://schemas.openxmlformats.org/drawingml/2006/main" w="19050">
            <a:solidFill>
              <a:srgbClr val="FFFFFF">
                <a:alpha val="20784"/>
              </a:srgbClr>
            </a:solidFill>
            <a:prstDash val="solid"/>
          </a:ln>
        </p:spPr>
      </p:sp>
      <p:sp>
        <p:nvSpPr>
          <p:cNvPr id="11" name="">
            <a:extLst xmlns:a="http://schemas.openxmlformats.org/drawingml/2006/main">
              <a:ext uri="{FF2B5EF4-FFF2-40B4-BE49-F238E27FC236}">
                <a16:creationId xmlns:a16="http://schemas.microsoft.com/office/drawing/2014/main" id="{F1B2CF18-2C7C-489C-9C44-3146BCC1EBA3}"/>
              </a:ext>
            </a:extLst>
          </p:cNvPr>
          <p:cNvSpPr>
            <a:spLocks xmlns:a="http://schemas.openxmlformats.org/drawingml/2006/main" noGrp="1"/>
          </p:cNvSpPr>
          <p:nvPr/>
        </p:nvSpPr>
        <p:spPr>
          <a:xfrm xmlns:a="http://schemas.openxmlformats.org/drawingml/2006/main">
            <a:off x="7848600" y="2724150"/>
            <a:ext cx="952500" cy="952500"/>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CF3175E-8A73-47A8-AD45-E8EDD15CC7B8}"/>
              </a:ext>
            </a:extLst>
          </p:cNvPr>
          <p:cNvSpPr>
            <a:spLocks xmlns:a="http://schemas.openxmlformats.org/drawingml/2006/main" noGrp="1"/>
          </p:cNvSpPr>
          <p:nvPr/>
        </p:nvSpPr>
        <p:spPr>
          <a:xfrm xmlns:a="http://schemas.openxmlformats.org/drawingml/2006/main">
            <a:off x="7848600" y="30194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RFM</a:t>
            </a:r>
          </a:p>
        </p:txBody>
      </p:sp>
      <p:sp>
        <p:nvSpPr>
          <p:cNvPr id="13" name="">
            <a:extLst xmlns:a="http://schemas.openxmlformats.org/drawingml/2006/main">
              <a:ext uri="{FF2B5EF4-FFF2-40B4-BE49-F238E27FC236}">
                <a16:creationId xmlns:a16="http://schemas.microsoft.com/office/drawing/2014/main" id="{54673554-CA39-4067-A155-39C1B323F4ED}"/>
              </a:ext>
            </a:extLst>
          </p:cNvPr>
          <p:cNvSpPr>
            <a:spLocks xmlns:a="http://schemas.openxmlformats.org/drawingml/2006/main" noGrp="1"/>
          </p:cNvSpPr>
          <p:nvPr/>
        </p:nvSpPr>
        <p:spPr>
          <a:xfrm xmlns:a="http://schemas.openxmlformats.org/drawingml/2006/main">
            <a:off x="9953625" y="2209800"/>
            <a:ext cx="1066800" cy="1066800"/>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2B2964F-17F3-4552-A482-54C93C9C89C9}"/>
              </a:ext>
            </a:extLst>
          </p:cNvPr>
          <p:cNvSpPr>
            <a:spLocks xmlns:a="http://schemas.openxmlformats.org/drawingml/2006/main" noGrp="1"/>
          </p:cNvSpPr>
          <p:nvPr/>
        </p:nvSpPr>
        <p:spPr>
          <a:xfrm xmlns:a="http://schemas.openxmlformats.org/drawingml/2006/main">
            <a:off x="9953625" y="2581275"/>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SEPET</a:t>
            </a:r>
          </a:p>
        </p:txBody>
      </p:sp>
      <p:sp>
        <p:nvSpPr>
          <p:cNvPr id="15" name="">
            <a:extLst xmlns:a="http://schemas.openxmlformats.org/drawingml/2006/main">
              <a:ext uri="{FF2B5EF4-FFF2-40B4-BE49-F238E27FC236}">
                <a16:creationId xmlns:a16="http://schemas.microsoft.com/office/drawing/2014/main" id="{CF9B8F83-E397-4E96-9E50-52A502C89687}"/>
              </a:ext>
            </a:extLst>
          </p:cNvPr>
          <p:cNvSpPr>
            <a:spLocks xmlns:a="http://schemas.openxmlformats.org/drawingml/2006/main" noGrp="1"/>
          </p:cNvSpPr>
          <p:nvPr/>
        </p:nvSpPr>
        <p:spPr>
          <a:xfrm xmlns:a="http://schemas.openxmlformats.org/drawingml/2006/main">
            <a:off x="8953500" y="4257675"/>
            <a:ext cx="895350" cy="895350"/>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E47AAF1-E0D8-49AD-8601-164D1F896556}"/>
              </a:ext>
            </a:extLst>
          </p:cNvPr>
          <p:cNvSpPr>
            <a:spLocks xmlns:a="http://schemas.openxmlformats.org/drawingml/2006/main" noGrp="1"/>
          </p:cNvSpPr>
          <p:nvPr/>
        </p:nvSpPr>
        <p:spPr>
          <a:xfrm xmlns:a="http://schemas.openxmlformats.org/drawingml/2006/main">
            <a:off x="8953500" y="4533900"/>
            <a:ext cx="895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CX</a:t>
            </a:r>
          </a:p>
        </p:txBody>
      </p:sp>
    </p:spTree>
    <p:extLst>
      <p:ext uri="{BB962C8B-B14F-4D97-AF65-F5344CB8AC3E}">
        <p14:creationId xmlns:p14="http://schemas.microsoft.com/office/powerpoint/2010/main" val="1841341243"/>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DD7F2C9-B06D-45C3-92D5-BA76B052D16E}"/>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4647C1-D740-4CF9-B57D-A72CFC049F73}"/>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YÖNETICI ÖZETI</a:t>
            </a:r>
          </a:p>
        </p:txBody>
      </p:sp>
      <p:sp>
        <p:nvSpPr>
          <p:cNvPr id="3" name="">
            <a:extLst xmlns:a="http://schemas.openxmlformats.org/drawingml/2006/main">
              <a:ext uri="{FF2B5EF4-FFF2-40B4-BE49-F238E27FC236}">
                <a16:creationId xmlns:a16="http://schemas.microsoft.com/office/drawing/2014/main" id="{93622FE9-8816-45EC-9047-8BC66619E2F6}"/>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Büyüme için üç kaldıraç aynı noktada birleşiyor</a:t>
            </a:r>
          </a:p>
        </p:txBody>
      </p:sp>
      <p:sp>
        <p:nvSpPr>
          <p:cNvPr id="4" name="">
            <a:extLst xmlns:a="http://schemas.openxmlformats.org/drawingml/2006/main">
              <a:ext uri="{FF2B5EF4-FFF2-40B4-BE49-F238E27FC236}">
                <a16:creationId xmlns:a16="http://schemas.microsoft.com/office/drawing/2014/main" id="{9A872256-AEE3-4142-B114-AED2B1597D6B}"/>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Doğru müşteriyi geri kazan • doğru ürünü eşleştir • dijital sürtünmeyi azalt</a:t>
            </a:r>
          </a:p>
        </p:txBody>
      </p:sp>
      <p:sp>
        <p:nvSpPr>
          <p:cNvPr id="5" name="">
            <a:extLst xmlns:a="http://schemas.openxmlformats.org/drawingml/2006/main">
              <a:ext uri="{FF2B5EF4-FFF2-40B4-BE49-F238E27FC236}">
                <a16:creationId xmlns:a16="http://schemas.microsoft.com/office/drawing/2014/main" id="{5E07BF65-2C09-432F-AEE2-911ABADD11D8}"/>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76CB4B8E-DA60-4C07-B210-7111ACAB8127}"/>
              </a:ext>
            </a:extLst>
          </p:cNvPr>
          <p:cNvSpPr>
            <a:spLocks xmlns:a="http://schemas.openxmlformats.org/drawingml/2006/main" noGrp="1"/>
          </p:cNvSpPr>
          <p:nvPr/>
        </p:nvSpPr>
        <p:spPr>
          <a:xfrm xmlns:a="http://schemas.openxmlformats.org/drawingml/2006/main">
            <a:off x="685800" y="19812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2F6BFF"/>
                </a:solidFill>
                <a:latin typeface="Aptos Display"/>
                <a:ea typeface="Aptos Display"/>
                <a:cs typeface="Aptos Display"/>
              </a:defRPr>
            </a:pPr>
            <a:r>
              <a:rPr sz="3225" b="1">
                <a:solidFill>
                  <a:srgbClr val="2F6BFF"/>
                </a:solidFill>
                <a:latin typeface="Aptos Display"/>
                <a:ea typeface="Aptos Display"/>
                <a:cs typeface="Aptos Display"/>
              </a:rPr>
              <a:t>3.944</a:t>
            </a:r>
          </a:p>
        </p:txBody>
      </p:sp>
      <p:sp>
        <p:nvSpPr>
          <p:cNvPr id="7" name="">
            <a:extLst xmlns:a="http://schemas.openxmlformats.org/drawingml/2006/main">
              <a:ext uri="{FF2B5EF4-FFF2-40B4-BE49-F238E27FC236}">
                <a16:creationId xmlns:a16="http://schemas.microsoft.com/office/drawing/2014/main" id="{743EB76F-8209-4CF1-8212-F0B557A9B14D}"/>
              </a:ext>
            </a:extLst>
          </p:cNvPr>
          <p:cNvSpPr>
            <a:spLocks xmlns:a="http://schemas.openxmlformats.org/drawingml/2006/main" noGrp="1"/>
          </p:cNvSpPr>
          <p:nvPr/>
        </p:nvSpPr>
        <p:spPr>
          <a:xfrm xmlns:a="http://schemas.openxmlformats.org/drawingml/2006/main">
            <a:off x="685800" y="25146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0748A"/>
                </a:solidFill>
                <a:latin typeface="Aptos"/>
                <a:ea typeface="Aptos"/>
                <a:cs typeface="Aptos"/>
              </a:defRPr>
            </a:pPr>
            <a:r>
              <a:rPr sz="1200" b="0">
                <a:solidFill>
                  <a:srgbClr val="60748A"/>
                </a:solidFill>
                <a:latin typeface="Aptos"/>
                <a:ea typeface="Aptos"/>
                <a:cs typeface="Aptos"/>
              </a:rPr>
              <a:t>müşteri</a:t>
            </a:r>
          </a:p>
        </p:txBody>
      </p:sp>
      <p:sp>
        <p:nvSpPr>
          <p:cNvPr id="8" name="">
            <a:extLst xmlns:a="http://schemas.openxmlformats.org/drawingml/2006/main">
              <a:ext uri="{FF2B5EF4-FFF2-40B4-BE49-F238E27FC236}">
                <a16:creationId xmlns:a16="http://schemas.microsoft.com/office/drawing/2014/main" id="{6BE47056-D3D0-4FE9-80B0-E63DAFD53A60}"/>
              </a:ext>
            </a:extLst>
          </p:cNvPr>
          <p:cNvSpPr>
            <a:spLocks xmlns:a="http://schemas.openxmlformats.org/drawingml/2006/main" noGrp="1"/>
          </p:cNvSpPr>
          <p:nvPr/>
        </p:nvSpPr>
        <p:spPr>
          <a:xfrm xmlns:a="http://schemas.openxmlformats.org/drawingml/2006/main">
            <a:off x="2952750" y="2009775"/>
            <a:ext cx="0" cy="895350"/>
          </a:xfrm>
          <a:prstGeom xmlns:a="http://schemas.openxmlformats.org/drawingml/2006/main" prst="line">
            <a:avLst/>
          </a:prstGeom>
          <a:noFill xmlns:a="http://schemas.openxmlformats.org/drawingml/2006/main"/>
          <a:ln xmlns:a="http://schemas.openxmlformats.org/drawingml/2006/main" w="19050">
            <a:solidFill>
              <a:srgbClr val="DCE5EE"/>
            </a:solidFill>
            <a:prstDash val="solid"/>
          </a:ln>
        </p:spPr>
      </p:sp>
      <p:sp>
        <p:nvSpPr>
          <p:cNvPr id="9" name="">
            <a:extLst xmlns:a="http://schemas.openxmlformats.org/drawingml/2006/main">
              <a:ext uri="{FF2B5EF4-FFF2-40B4-BE49-F238E27FC236}">
                <a16:creationId xmlns:a16="http://schemas.microsoft.com/office/drawing/2014/main" id="{0A1ED858-D627-46F4-A59D-6A89D8AA9917}"/>
              </a:ext>
            </a:extLst>
          </p:cNvPr>
          <p:cNvSpPr>
            <a:spLocks xmlns:a="http://schemas.openxmlformats.org/drawingml/2006/main" noGrp="1"/>
          </p:cNvSpPr>
          <p:nvPr/>
        </p:nvSpPr>
        <p:spPr>
          <a:xfrm xmlns:a="http://schemas.openxmlformats.org/drawingml/2006/main">
            <a:off x="3286125" y="19812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00A88F"/>
                </a:solidFill>
                <a:latin typeface="Aptos Display"/>
                <a:ea typeface="Aptos Display"/>
                <a:cs typeface="Aptos Display"/>
              </a:defRPr>
            </a:pPr>
            <a:r>
              <a:rPr sz="3225" b="1">
                <a:solidFill>
                  <a:srgbClr val="00A88F"/>
                </a:solidFill>
                <a:latin typeface="Aptos Display"/>
                <a:ea typeface="Aptos Display"/>
                <a:cs typeface="Aptos Display"/>
              </a:rPr>
              <a:t>15.199</a:t>
            </a:r>
          </a:p>
        </p:txBody>
      </p:sp>
      <p:sp>
        <p:nvSpPr>
          <p:cNvPr id="10" name="">
            <a:extLst xmlns:a="http://schemas.openxmlformats.org/drawingml/2006/main">
              <a:ext uri="{FF2B5EF4-FFF2-40B4-BE49-F238E27FC236}">
                <a16:creationId xmlns:a16="http://schemas.microsoft.com/office/drawing/2014/main" id="{88632844-E291-4634-97A3-500B90EB70E8}"/>
              </a:ext>
            </a:extLst>
          </p:cNvPr>
          <p:cNvSpPr>
            <a:spLocks xmlns:a="http://schemas.openxmlformats.org/drawingml/2006/main" noGrp="1"/>
          </p:cNvSpPr>
          <p:nvPr/>
        </p:nvSpPr>
        <p:spPr>
          <a:xfrm xmlns:a="http://schemas.openxmlformats.org/drawingml/2006/main">
            <a:off x="3286125" y="25146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0748A"/>
                </a:solidFill>
                <a:latin typeface="Aptos"/>
                <a:ea typeface="Aptos"/>
                <a:cs typeface="Aptos"/>
              </a:defRPr>
            </a:pPr>
            <a:r>
              <a:rPr sz="1200" b="0">
                <a:solidFill>
                  <a:srgbClr val="60748A"/>
                </a:solidFill>
                <a:latin typeface="Aptos"/>
                <a:ea typeface="Aptos"/>
                <a:cs typeface="Aptos"/>
              </a:rPr>
              <a:t>sepet / fatura</a:t>
            </a:r>
          </a:p>
        </p:txBody>
      </p:sp>
      <p:sp>
        <p:nvSpPr>
          <p:cNvPr id="11" name="">
            <a:extLst xmlns:a="http://schemas.openxmlformats.org/drawingml/2006/main">
              <a:ext uri="{FF2B5EF4-FFF2-40B4-BE49-F238E27FC236}">
                <a16:creationId xmlns:a16="http://schemas.microsoft.com/office/drawing/2014/main" id="{197E72CC-FF10-4C24-ACD3-20AF04EF83C0}"/>
              </a:ext>
            </a:extLst>
          </p:cNvPr>
          <p:cNvSpPr>
            <a:spLocks xmlns:a="http://schemas.openxmlformats.org/drawingml/2006/main" noGrp="1"/>
          </p:cNvSpPr>
          <p:nvPr/>
        </p:nvSpPr>
        <p:spPr>
          <a:xfrm xmlns:a="http://schemas.openxmlformats.org/drawingml/2006/main">
            <a:off x="5572125" y="2009775"/>
            <a:ext cx="0" cy="895350"/>
          </a:xfrm>
          <a:prstGeom xmlns:a="http://schemas.openxmlformats.org/drawingml/2006/main" prst="line">
            <a:avLst/>
          </a:prstGeom>
          <a:noFill xmlns:a="http://schemas.openxmlformats.org/drawingml/2006/main"/>
          <a:ln xmlns:a="http://schemas.openxmlformats.org/drawingml/2006/main" w="19050">
            <a:solidFill>
              <a:srgbClr val="DCE5EE"/>
            </a:solidFill>
            <a:prstDash val="solid"/>
          </a:ln>
        </p:spPr>
      </p:sp>
      <p:sp>
        <p:nvSpPr>
          <p:cNvPr id="12" name="">
            <a:extLst xmlns:a="http://schemas.openxmlformats.org/drawingml/2006/main">
              <a:ext uri="{FF2B5EF4-FFF2-40B4-BE49-F238E27FC236}">
                <a16:creationId xmlns:a16="http://schemas.microsoft.com/office/drawing/2014/main" id="{F4304149-1DCC-4F2C-ACC4-12A634B75374}"/>
              </a:ext>
            </a:extLst>
          </p:cNvPr>
          <p:cNvSpPr>
            <a:spLocks xmlns:a="http://schemas.openxmlformats.org/drawingml/2006/main" noGrp="1"/>
          </p:cNvSpPr>
          <p:nvPr/>
        </p:nvSpPr>
        <p:spPr>
          <a:xfrm xmlns:a="http://schemas.openxmlformats.org/drawingml/2006/main">
            <a:off x="5905500" y="19812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EF6A5B"/>
                </a:solidFill>
                <a:latin typeface="Aptos Display"/>
                <a:ea typeface="Aptos Display"/>
                <a:cs typeface="Aptos Display"/>
              </a:defRPr>
            </a:pPr>
            <a:r>
              <a:rPr sz="3225" b="1">
                <a:solidFill>
                  <a:srgbClr val="EF6A5B"/>
                </a:solidFill>
                <a:latin typeface="Aptos Display"/>
                <a:ea typeface="Aptos Display"/>
                <a:cs typeface="Aptos Display"/>
              </a:rPr>
              <a:t>1,93 Mn</a:t>
            </a:r>
          </a:p>
        </p:txBody>
      </p:sp>
      <p:sp>
        <p:nvSpPr>
          <p:cNvPr id="13" name="">
            <a:extLst xmlns:a="http://schemas.openxmlformats.org/drawingml/2006/main">
              <a:ext uri="{FF2B5EF4-FFF2-40B4-BE49-F238E27FC236}">
                <a16:creationId xmlns:a16="http://schemas.microsoft.com/office/drawing/2014/main" id="{1F74FB4D-570D-4200-AA49-FC1E70DCE4DF}"/>
              </a:ext>
            </a:extLst>
          </p:cNvPr>
          <p:cNvSpPr>
            <a:spLocks xmlns:a="http://schemas.openxmlformats.org/drawingml/2006/main" noGrp="1"/>
          </p:cNvSpPr>
          <p:nvPr/>
        </p:nvSpPr>
        <p:spPr>
          <a:xfrm xmlns:a="http://schemas.openxmlformats.org/drawingml/2006/main">
            <a:off x="5905500" y="25146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0748A"/>
                </a:solidFill>
                <a:latin typeface="Aptos"/>
                <a:ea typeface="Aptos"/>
                <a:cs typeface="Aptos"/>
              </a:defRPr>
            </a:pPr>
            <a:r>
              <a:rPr sz="1200" b="0">
                <a:solidFill>
                  <a:srgbClr val="60748A"/>
                </a:solidFill>
                <a:latin typeface="Aptos"/>
                <a:ea typeface="Aptos"/>
                <a:cs typeface="Aptos"/>
              </a:rPr>
              <a:t>toplam gelir</a:t>
            </a:r>
          </a:p>
        </p:txBody>
      </p:sp>
      <p:sp>
        <p:nvSpPr>
          <p:cNvPr id="14" name="">
            <a:extLst xmlns:a="http://schemas.openxmlformats.org/drawingml/2006/main">
              <a:ext uri="{FF2B5EF4-FFF2-40B4-BE49-F238E27FC236}">
                <a16:creationId xmlns:a16="http://schemas.microsoft.com/office/drawing/2014/main" id="{2605378B-4C48-4571-972F-C61DEC832C7B}"/>
              </a:ext>
            </a:extLst>
          </p:cNvPr>
          <p:cNvSpPr>
            <a:spLocks xmlns:a="http://schemas.openxmlformats.org/drawingml/2006/main" noGrp="1"/>
          </p:cNvSpPr>
          <p:nvPr/>
        </p:nvSpPr>
        <p:spPr>
          <a:xfrm xmlns:a="http://schemas.openxmlformats.org/drawingml/2006/main">
            <a:off x="8191500" y="2009775"/>
            <a:ext cx="0" cy="895350"/>
          </a:xfrm>
          <a:prstGeom xmlns:a="http://schemas.openxmlformats.org/drawingml/2006/main" prst="line">
            <a:avLst/>
          </a:prstGeom>
          <a:noFill xmlns:a="http://schemas.openxmlformats.org/drawingml/2006/main"/>
          <a:ln xmlns:a="http://schemas.openxmlformats.org/drawingml/2006/main" w="19050">
            <a:solidFill>
              <a:srgbClr val="DCE5EE"/>
            </a:solidFill>
            <a:prstDash val="solid"/>
          </a:ln>
        </p:spPr>
      </p:sp>
      <p:sp>
        <p:nvSpPr>
          <p:cNvPr id="15" name="">
            <a:extLst xmlns:a="http://schemas.openxmlformats.org/drawingml/2006/main">
              <a:ext uri="{FF2B5EF4-FFF2-40B4-BE49-F238E27FC236}">
                <a16:creationId xmlns:a16="http://schemas.microsoft.com/office/drawing/2014/main" id="{A9CBF65C-7582-46AF-AA36-AD34FBB7684D}"/>
              </a:ext>
            </a:extLst>
          </p:cNvPr>
          <p:cNvSpPr>
            <a:spLocks xmlns:a="http://schemas.openxmlformats.org/drawingml/2006/main" noGrp="1"/>
          </p:cNvSpPr>
          <p:nvPr/>
        </p:nvSpPr>
        <p:spPr>
          <a:xfrm xmlns:a="http://schemas.openxmlformats.org/drawingml/2006/main">
            <a:off x="8524875" y="1981200"/>
            <a:ext cx="2714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F2B94B"/>
                </a:solidFill>
                <a:latin typeface="Aptos Display"/>
                <a:ea typeface="Aptos Display"/>
                <a:cs typeface="Aptos Display"/>
              </a:defRPr>
            </a:pPr>
            <a:r>
              <a:rPr sz="3225" b="1">
                <a:solidFill>
                  <a:srgbClr val="F2B94B"/>
                </a:solidFill>
                <a:latin typeface="Aptos Display"/>
                <a:ea typeface="Aptos Display"/>
                <a:cs typeface="Aptos Display"/>
              </a:rPr>
              <a:t>126,97</a:t>
            </a:r>
          </a:p>
        </p:txBody>
      </p:sp>
      <p:sp>
        <p:nvSpPr>
          <p:cNvPr id="16" name="">
            <a:extLst xmlns:a="http://schemas.openxmlformats.org/drawingml/2006/main">
              <a:ext uri="{FF2B5EF4-FFF2-40B4-BE49-F238E27FC236}">
                <a16:creationId xmlns:a16="http://schemas.microsoft.com/office/drawing/2014/main" id="{F039C33B-C6C4-4602-8F29-8FD7A1D5E5D7}"/>
              </a:ext>
            </a:extLst>
          </p:cNvPr>
          <p:cNvSpPr>
            <a:spLocks xmlns:a="http://schemas.openxmlformats.org/drawingml/2006/main" noGrp="1"/>
          </p:cNvSpPr>
          <p:nvPr/>
        </p:nvSpPr>
        <p:spPr>
          <a:xfrm xmlns:a="http://schemas.openxmlformats.org/drawingml/2006/main">
            <a:off x="8524875" y="251460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0748A"/>
                </a:solidFill>
                <a:latin typeface="Aptos"/>
                <a:ea typeface="Aptos"/>
                <a:cs typeface="Aptos"/>
              </a:defRPr>
            </a:pPr>
            <a:r>
              <a:rPr sz="1200" b="0">
                <a:solidFill>
                  <a:srgbClr val="60748A"/>
                </a:solidFill>
                <a:latin typeface="Aptos"/>
                <a:ea typeface="Aptos"/>
                <a:cs typeface="Aptos"/>
              </a:rPr>
              <a:t>ortalama sepet geliri</a:t>
            </a:r>
          </a:p>
        </p:txBody>
      </p:sp>
      <p:sp>
        <p:nvSpPr>
          <p:cNvPr id="17" name="">
            <a:extLst xmlns:a="http://schemas.openxmlformats.org/drawingml/2006/main">
              <a:ext uri="{FF2B5EF4-FFF2-40B4-BE49-F238E27FC236}">
                <a16:creationId xmlns:a16="http://schemas.microsoft.com/office/drawing/2014/main" id="{9A30BB13-4B74-4CC3-A585-8D347DBE56A1}"/>
              </a:ext>
            </a:extLst>
          </p:cNvPr>
          <p:cNvSpPr>
            <a:spLocks xmlns:a="http://schemas.openxmlformats.org/drawingml/2006/main" noGrp="1"/>
          </p:cNvSpPr>
          <p:nvPr/>
        </p:nvSpPr>
        <p:spPr>
          <a:xfrm xmlns:a="http://schemas.openxmlformats.org/drawingml/2006/main">
            <a:off x="685800" y="3305175"/>
            <a:ext cx="3943350" cy="2667000"/>
          </a:xfrm>
          <a:prstGeom xmlns:a="http://schemas.openxmlformats.org/drawingml/2006/main" prst="roundRect">
            <a:avLst>
              <a:gd name="adj" fmla="val 5714"/>
            </a:avLst>
          </a:prstGeom>
          <a:solidFill xmlns:a="http://schemas.openxmlformats.org/drawingml/2006/main">
            <a:srgbClr val="10263D"/>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B26F3A31-28DB-4127-B5E8-72CB2EE24A8C}"/>
              </a:ext>
            </a:extLst>
          </p:cNvPr>
          <p:cNvSpPr>
            <a:spLocks xmlns:a="http://schemas.openxmlformats.org/drawingml/2006/main" noGrp="1"/>
          </p:cNvSpPr>
          <p:nvPr/>
        </p:nvSpPr>
        <p:spPr>
          <a:xfrm xmlns:a="http://schemas.openxmlformats.org/drawingml/2006/main">
            <a:off x="952500" y="3581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CC3E1"/>
                </a:solidFill>
                <a:latin typeface="Aptos"/>
                <a:ea typeface="Aptos"/>
                <a:cs typeface="Aptos"/>
              </a:defRPr>
            </a:pPr>
            <a:r>
              <a:rPr sz="1200" b="1">
                <a:solidFill>
                  <a:srgbClr val="9CC3E1"/>
                </a:solidFill>
                <a:latin typeface="Aptos"/>
                <a:ea typeface="Aptos"/>
                <a:cs typeface="Aptos"/>
              </a:rPr>
              <a:t>Ana karar</a:t>
            </a:r>
          </a:p>
        </p:txBody>
      </p:sp>
      <p:sp>
        <p:nvSpPr>
          <p:cNvPr id="19" name="">
            <a:extLst xmlns:a="http://schemas.openxmlformats.org/drawingml/2006/main">
              <a:ext uri="{FF2B5EF4-FFF2-40B4-BE49-F238E27FC236}">
                <a16:creationId xmlns:a16="http://schemas.microsoft.com/office/drawing/2014/main" id="{B03088E0-BFC0-4104-93CD-1B1414A9E1C6}"/>
              </a:ext>
            </a:extLst>
          </p:cNvPr>
          <p:cNvSpPr>
            <a:spLocks xmlns:a="http://schemas.openxmlformats.org/drawingml/2006/main" noGrp="1"/>
          </p:cNvSpPr>
          <p:nvPr/>
        </p:nvSpPr>
        <p:spPr>
          <a:xfrm xmlns:a="http://schemas.openxmlformats.org/drawingml/2006/main">
            <a:off x="952500" y="3943350"/>
            <a:ext cx="3276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777"/>
          </a:bodyPr>
          <a:lstStyle xmlns:a="http://schemas.openxmlformats.org/drawingml/2006/main"/>
          <a:p xmlns:a="http://schemas.openxmlformats.org/drawingml/2006/main">
            <a:pPr algn="l">
              <a:lnSpc>
                <a:spcPct val="98000"/>
              </a:lnSpc>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Yeni müşteri arayışından önce mevcut değeri sistematik biçimde aktive etmek.</a:t>
            </a:r>
          </a:p>
        </p:txBody>
      </p:sp>
      <p:sp>
        <p:nvSpPr>
          <p:cNvPr id="20" name="">
            <a:extLst xmlns:a="http://schemas.openxmlformats.org/drawingml/2006/main">
              <a:ext uri="{FF2B5EF4-FFF2-40B4-BE49-F238E27FC236}">
                <a16:creationId xmlns:a16="http://schemas.microsoft.com/office/drawing/2014/main" id="{DBEF8ACD-D466-4AD1-ACDB-33BC1F0AFA51}"/>
              </a:ext>
            </a:extLst>
          </p:cNvPr>
          <p:cNvSpPr>
            <a:spLocks xmlns:a="http://schemas.openxmlformats.org/drawingml/2006/main" noGrp="1"/>
          </p:cNvSpPr>
          <p:nvPr/>
        </p:nvSpPr>
        <p:spPr>
          <a:xfrm xmlns:a="http://schemas.openxmlformats.org/drawingml/2006/main">
            <a:off x="952500" y="5381625"/>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C7D9E7"/>
                </a:solidFill>
                <a:latin typeface="Aptos"/>
                <a:ea typeface="Aptos"/>
                <a:cs typeface="Aptos"/>
              </a:defRPr>
            </a:pPr>
            <a:r>
              <a:rPr sz="1275" b="0">
                <a:solidFill>
                  <a:srgbClr val="C7D9E7"/>
                </a:solidFill>
                <a:latin typeface="Aptos"/>
                <a:ea typeface="Aptos"/>
                <a:cs typeface="Aptos"/>
              </a:rPr>
              <a:t>62,8% müşteri birden fazla alışveriş yapmış durumda.</a:t>
            </a:r>
          </a:p>
        </p:txBody>
      </p:sp>
      <p:sp>
        <p:nvSpPr>
          <p:cNvPr id="21" name="">
            <a:extLst xmlns:a="http://schemas.openxmlformats.org/drawingml/2006/main">
              <a:ext uri="{FF2B5EF4-FFF2-40B4-BE49-F238E27FC236}">
                <a16:creationId xmlns:a16="http://schemas.microsoft.com/office/drawing/2014/main" id="{4E0AD95C-831A-4EDA-A70B-C871653D8467}"/>
              </a:ext>
            </a:extLst>
          </p:cNvPr>
          <p:cNvSpPr>
            <a:spLocks xmlns:a="http://schemas.openxmlformats.org/drawingml/2006/main" noGrp="1"/>
          </p:cNvSpPr>
          <p:nvPr/>
        </p:nvSpPr>
        <p:spPr>
          <a:xfrm xmlns:a="http://schemas.openxmlformats.org/drawingml/2006/main">
            <a:off x="5105400" y="3362325"/>
            <a:ext cx="400050" cy="400050"/>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0C1C2D-6DCB-4724-A451-9EE05947875E}"/>
              </a:ext>
            </a:extLst>
          </p:cNvPr>
          <p:cNvSpPr>
            <a:spLocks xmlns:a="http://schemas.openxmlformats.org/drawingml/2006/main" noGrp="1"/>
          </p:cNvSpPr>
          <p:nvPr/>
        </p:nvSpPr>
        <p:spPr>
          <a:xfrm xmlns:a="http://schemas.openxmlformats.org/drawingml/2006/main">
            <a:off x="5105400" y="34575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01</a:t>
            </a:r>
          </a:p>
        </p:txBody>
      </p:sp>
      <p:sp>
        <p:nvSpPr>
          <p:cNvPr id="23" name="">
            <a:extLst xmlns:a="http://schemas.openxmlformats.org/drawingml/2006/main">
              <a:ext uri="{FF2B5EF4-FFF2-40B4-BE49-F238E27FC236}">
                <a16:creationId xmlns:a16="http://schemas.microsoft.com/office/drawing/2014/main" id="{1B451333-CBA1-4D3C-9E2F-7B5BDDF767FB}"/>
              </a:ext>
            </a:extLst>
          </p:cNvPr>
          <p:cNvSpPr>
            <a:spLocks xmlns:a="http://schemas.openxmlformats.org/drawingml/2006/main" noGrp="1"/>
          </p:cNvSpPr>
          <p:nvPr/>
        </p:nvSpPr>
        <p:spPr>
          <a:xfrm xmlns:a="http://schemas.openxmlformats.org/drawingml/2006/main">
            <a:off x="5695950" y="3352800"/>
            <a:ext cx="5476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D"/>
                </a:solidFill>
                <a:latin typeface="Aptos"/>
                <a:ea typeface="Aptos"/>
                <a:cs typeface="Aptos"/>
              </a:defRPr>
            </a:pPr>
            <a:r>
              <a:rPr sz="1650" b="1">
                <a:solidFill>
                  <a:srgbClr val="10263D"/>
                </a:solidFill>
                <a:latin typeface="Aptos"/>
                <a:ea typeface="Aptos"/>
                <a:cs typeface="Aptos"/>
              </a:rPr>
              <a:t>292 At Risk müşteriyi geri kazan</a:t>
            </a:r>
          </a:p>
        </p:txBody>
      </p:sp>
      <p:sp>
        <p:nvSpPr>
          <p:cNvPr id="24" name="">
            <a:extLst xmlns:a="http://schemas.openxmlformats.org/drawingml/2006/main">
              <a:ext uri="{FF2B5EF4-FFF2-40B4-BE49-F238E27FC236}">
                <a16:creationId xmlns:a16="http://schemas.microsoft.com/office/drawing/2014/main" id="{567452AC-5238-4468-B82F-CF00888716E2}"/>
              </a:ext>
            </a:extLst>
          </p:cNvPr>
          <p:cNvSpPr>
            <a:spLocks xmlns:a="http://schemas.openxmlformats.org/drawingml/2006/main" noGrp="1"/>
          </p:cNvSpPr>
          <p:nvPr/>
        </p:nvSpPr>
        <p:spPr>
          <a:xfrm xmlns:a="http://schemas.openxmlformats.org/drawingml/2006/main">
            <a:off x="5695950" y="3667125"/>
            <a:ext cx="547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60748A"/>
                </a:solidFill>
                <a:latin typeface="Aptos"/>
                <a:ea typeface="Aptos"/>
                <a:cs typeface="Aptos"/>
              </a:defRPr>
            </a:pPr>
            <a:r>
              <a:rPr sz="1275" b="0">
                <a:solidFill>
                  <a:srgbClr val="60748A"/>
                </a:solidFill>
                <a:latin typeface="Aptos"/>
                <a:ea typeface="Aptos"/>
                <a:cs typeface="Aptos"/>
              </a:rPr>
              <a:t>Ortalama 4 sipariş ve 406,5 parasal değer, bu grubu ölçeklenebilir bir win‑back hedefi yapıyor.</a:t>
            </a:r>
          </a:p>
        </p:txBody>
      </p:sp>
      <p:sp>
        <p:nvSpPr>
          <p:cNvPr id="25" name="">
            <a:extLst xmlns:a="http://schemas.openxmlformats.org/drawingml/2006/main">
              <a:ext uri="{FF2B5EF4-FFF2-40B4-BE49-F238E27FC236}">
                <a16:creationId xmlns:a16="http://schemas.microsoft.com/office/drawing/2014/main" id="{2823AE7C-2210-41DD-ADEC-B1514C7EE757}"/>
              </a:ext>
            </a:extLst>
          </p:cNvPr>
          <p:cNvSpPr>
            <a:spLocks xmlns:a="http://schemas.openxmlformats.org/drawingml/2006/main" noGrp="1"/>
          </p:cNvSpPr>
          <p:nvPr/>
        </p:nvSpPr>
        <p:spPr>
          <a:xfrm xmlns:a="http://schemas.openxmlformats.org/drawingml/2006/main">
            <a:off x="5105400" y="4238625"/>
            <a:ext cx="400050" cy="400050"/>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679DF8D-0164-46AA-BBC0-86F78F8FBDAC}"/>
              </a:ext>
            </a:extLst>
          </p:cNvPr>
          <p:cNvSpPr>
            <a:spLocks xmlns:a="http://schemas.openxmlformats.org/drawingml/2006/main" noGrp="1"/>
          </p:cNvSpPr>
          <p:nvPr/>
        </p:nvSpPr>
        <p:spPr>
          <a:xfrm xmlns:a="http://schemas.openxmlformats.org/drawingml/2006/main">
            <a:off x="5105400" y="43338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02</a:t>
            </a:r>
          </a:p>
        </p:txBody>
      </p:sp>
      <p:sp>
        <p:nvSpPr>
          <p:cNvPr id="27" name="">
            <a:extLst xmlns:a="http://schemas.openxmlformats.org/drawingml/2006/main">
              <a:ext uri="{FF2B5EF4-FFF2-40B4-BE49-F238E27FC236}">
                <a16:creationId xmlns:a16="http://schemas.microsoft.com/office/drawing/2014/main" id="{899208AA-4805-4ED7-811E-B4574ECD5E97}"/>
              </a:ext>
            </a:extLst>
          </p:cNvPr>
          <p:cNvSpPr>
            <a:spLocks xmlns:a="http://schemas.openxmlformats.org/drawingml/2006/main" noGrp="1"/>
          </p:cNvSpPr>
          <p:nvPr/>
        </p:nvSpPr>
        <p:spPr>
          <a:xfrm xmlns:a="http://schemas.openxmlformats.org/drawingml/2006/main">
            <a:off x="5695950" y="4229100"/>
            <a:ext cx="5476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D"/>
                </a:solidFill>
                <a:latin typeface="Aptos"/>
                <a:ea typeface="Aptos"/>
                <a:cs typeface="Aptos"/>
              </a:defRPr>
            </a:pPr>
            <a:r>
              <a:rPr sz="1650" b="1">
                <a:solidFill>
                  <a:srgbClr val="10263D"/>
                </a:solidFill>
                <a:latin typeface="Aptos"/>
                <a:ea typeface="Aptos"/>
                <a:cs typeface="Aptos"/>
              </a:rPr>
              <a:t>JAM sepetini tematik bundle ile büyüt</a:t>
            </a:r>
          </a:p>
        </p:txBody>
      </p:sp>
      <p:sp>
        <p:nvSpPr>
          <p:cNvPr id="28" name="">
            <a:extLst xmlns:a="http://schemas.openxmlformats.org/drawingml/2006/main">
              <a:ext uri="{FF2B5EF4-FFF2-40B4-BE49-F238E27FC236}">
                <a16:creationId xmlns:a16="http://schemas.microsoft.com/office/drawing/2014/main" id="{3988CC38-8811-431C-AD0D-A89ACD0E6C9E}"/>
              </a:ext>
            </a:extLst>
          </p:cNvPr>
          <p:cNvSpPr>
            <a:spLocks xmlns:a="http://schemas.openxmlformats.org/drawingml/2006/main" noGrp="1"/>
          </p:cNvSpPr>
          <p:nvPr/>
        </p:nvSpPr>
        <p:spPr>
          <a:xfrm xmlns:a="http://schemas.openxmlformats.org/drawingml/2006/main">
            <a:off x="5695950" y="4543425"/>
            <a:ext cx="547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60748A"/>
                </a:solidFill>
                <a:latin typeface="Aptos"/>
                <a:ea typeface="Aptos"/>
                <a:cs typeface="Aptos"/>
              </a:defRPr>
            </a:pPr>
            <a:r>
              <a:rPr sz="1275" b="0">
                <a:solidFill>
                  <a:srgbClr val="60748A"/>
                </a:solidFill>
                <a:latin typeface="Aptos"/>
                <a:ea typeface="Aptos"/>
                <a:cs typeface="Aptos"/>
              </a:rPr>
              <a:t>217 sepette görülen ürünün en güçlü eşleşmeleri 3,65–7,87 lift aralığında.</a:t>
            </a:r>
          </a:p>
        </p:txBody>
      </p:sp>
      <p:sp>
        <p:nvSpPr>
          <p:cNvPr id="29" name="">
            <a:extLst xmlns:a="http://schemas.openxmlformats.org/drawingml/2006/main">
              <a:ext uri="{FF2B5EF4-FFF2-40B4-BE49-F238E27FC236}">
                <a16:creationId xmlns:a16="http://schemas.microsoft.com/office/drawing/2014/main" id="{D60117B1-1F3B-4E86-91B3-C38FDB644AB1}"/>
              </a:ext>
            </a:extLst>
          </p:cNvPr>
          <p:cNvSpPr>
            <a:spLocks xmlns:a="http://schemas.openxmlformats.org/drawingml/2006/main" noGrp="1"/>
          </p:cNvSpPr>
          <p:nvPr/>
        </p:nvSpPr>
        <p:spPr>
          <a:xfrm xmlns:a="http://schemas.openxmlformats.org/drawingml/2006/main">
            <a:off x="5105400" y="5114925"/>
            <a:ext cx="400050" cy="400050"/>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2D72FCD-B4DE-48C2-AB6E-699E261155B8}"/>
              </a:ext>
            </a:extLst>
          </p:cNvPr>
          <p:cNvSpPr>
            <a:spLocks xmlns:a="http://schemas.openxmlformats.org/drawingml/2006/main" noGrp="1"/>
          </p:cNvSpPr>
          <p:nvPr/>
        </p:nvSpPr>
        <p:spPr>
          <a:xfrm xmlns:a="http://schemas.openxmlformats.org/drawingml/2006/main">
            <a:off x="5105400" y="52101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03</a:t>
            </a:r>
          </a:p>
        </p:txBody>
      </p:sp>
      <p:sp>
        <p:nvSpPr>
          <p:cNvPr id="31" name="">
            <a:extLst xmlns:a="http://schemas.openxmlformats.org/drawingml/2006/main">
              <a:ext uri="{FF2B5EF4-FFF2-40B4-BE49-F238E27FC236}">
                <a16:creationId xmlns:a16="http://schemas.microsoft.com/office/drawing/2014/main" id="{883B128E-A1CB-4D19-B9DC-A780C44FBC23}"/>
              </a:ext>
            </a:extLst>
          </p:cNvPr>
          <p:cNvSpPr>
            <a:spLocks xmlns:a="http://schemas.openxmlformats.org/drawingml/2006/main" noGrp="1"/>
          </p:cNvSpPr>
          <p:nvPr/>
        </p:nvSpPr>
        <p:spPr>
          <a:xfrm xmlns:a="http://schemas.openxmlformats.org/drawingml/2006/main">
            <a:off x="5695950" y="5105400"/>
            <a:ext cx="5476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D"/>
                </a:solidFill>
                <a:latin typeface="Aptos"/>
                <a:ea typeface="Aptos"/>
                <a:cs typeface="Aptos"/>
              </a:defRPr>
            </a:pPr>
            <a:r>
              <a:rPr sz="1650" b="1">
                <a:solidFill>
                  <a:srgbClr val="10263D"/>
                </a:solidFill>
                <a:latin typeface="Aptos"/>
                <a:ea typeface="Aptos"/>
                <a:cs typeface="Aptos"/>
              </a:rPr>
              <a:t>Web performansı sorununu ilk sıraya al</a:t>
            </a:r>
          </a:p>
        </p:txBody>
      </p:sp>
      <p:sp>
        <p:nvSpPr>
          <p:cNvPr id="32" name="">
            <a:extLst xmlns:a="http://schemas.openxmlformats.org/drawingml/2006/main">
              <a:ext uri="{FF2B5EF4-FFF2-40B4-BE49-F238E27FC236}">
                <a16:creationId xmlns:a16="http://schemas.microsoft.com/office/drawing/2014/main" id="{AEFC12FC-6AA5-4314-917D-AFCA49DC010F}"/>
              </a:ext>
            </a:extLst>
          </p:cNvPr>
          <p:cNvSpPr>
            <a:spLocks xmlns:a="http://schemas.openxmlformats.org/drawingml/2006/main" noGrp="1"/>
          </p:cNvSpPr>
          <p:nvPr/>
        </p:nvSpPr>
        <p:spPr>
          <a:xfrm xmlns:a="http://schemas.openxmlformats.org/drawingml/2006/main">
            <a:off x="5695950" y="5419725"/>
            <a:ext cx="547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60748A"/>
                </a:solidFill>
                <a:latin typeface="Aptos"/>
                <a:ea typeface="Aptos"/>
                <a:cs typeface="Aptos"/>
              </a:defRPr>
            </a:pPr>
            <a:r>
              <a:rPr sz="1275" b="0">
                <a:solidFill>
                  <a:srgbClr val="60748A"/>
                </a:solidFill>
                <a:latin typeface="Aptos"/>
                <a:ea typeface="Aptos"/>
                <a:cs typeface="Aptos"/>
              </a:rPr>
              <a:t>Önemi yüksek olmasına rağmen memnuniyet skoru yalnızca 41,69; NPS ise +5,05.</a:t>
            </a:r>
          </a:p>
        </p:txBody>
      </p:sp>
      <p:sp>
        <p:nvSpPr>
          <p:cNvPr id="33" name="">
            <a:extLst xmlns:a="http://schemas.openxmlformats.org/drawingml/2006/main">
              <a:ext uri="{FF2B5EF4-FFF2-40B4-BE49-F238E27FC236}">
                <a16:creationId xmlns:a16="http://schemas.microsoft.com/office/drawing/2014/main" id="{A874F9BA-1D1A-4D95-8257-BFCE0B2B569D}"/>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34" name="">
            <a:extLst xmlns:a="http://schemas.openxmlformats.org/drawingml/2006/main">
              <a:ext uri="{FF2B5EF4-FFF2-40B4-BE49-F238E27FC236}">
                <a16:creationId xmlns:a16="http://schemas.microsoft.com/office/drawing/2014/main" id="{CA50A36B-A56C-4467-9CE2-1D01C6705454}"/>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35" name="">
            <a:extLst xmlns:a="http://schemas.openxmlformats.org/drawingml/2006/main">
              <a:ext uri="{FF2B5EF4-FFF2-40B4-BE49-F238E27FC236}">
                <a16:creationId xmlns:a16="http://schemas.microsoft.com/office/drawing/2014/main" id="{8A2988BE-DC61-4EB8-8EFE-DE282FDD0AE3}"/>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422742106"/>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1F08D88-9ACF-420D-B35A-2FFBCBC03C7F}"/>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F64A52-FF9F-4B7F-B476-A7D4DF820FE5}"/>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1 • RFM ANALIZI</a:t>
            </a:r>
          </a:p>
        </p:txBody>
      </p:sp>
      <p:sp>
        <p:nvSpPr>
          <p:cNvPr id="3" name="">
            <a:extLst xmlns:a="http://schemas.openxmlformats.org/drawingml/2006/main">
              <a:ext uri="{FF2B5EF4-FFF2-40B4-BE49-F238E27FC236}">
                <a16:creationId xmlns:a16="http://schemas.microsoft.com/office/drawing/2014/main" id="{FFE2389F-34E7-4B82-B8B0-9C770FD0AEBB}"/>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Müşteri yoğunluğu ile müşteri değeri aynı şey değil</a:t>
            </a:r>
          </a:p>
        </p:txBody>
      </p:sp>
      <p:sp>
        <p:nvSpPr>
          <p:cNvPr id="4" name="">
            <a:extLst xmlns:a="http://schemas.openxmlformats.org/drawingml/2006/main">
              <a:ext uri="{FF2B5EF4-FFF2-40B4-BE49-F238E27FC236}">
                <a16:creationId xmlns:a16="http://schemas.microsoft.com/office/drawing/2014/main" id="{7E965C04-DD95-4A4F-96D6-4637052DE35D}"/>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Segment büyüklüğünü, davranış kalitesini ve parasal katkıyı birlikte değerlendirdim</a:t>
            </a:r>
          </a:p>
        </p:txBody>
      </p:sp>
      <p:sp>
        <p:nvSpPr>
          <p:cNvPr id="5" name="">
            <a:extLst xmlns:a="http://schemas.openxmlformats.org/drawingml/2006/main">
              <a:ext uri="{FF2B5EF4-FFF2-40B4-BE49-F238E27FC236}">
                <a16:creationId xmlns:a16="http://schemas.microsoft.com/office/drawing/2014/main" id="{F0281ABA-26A4-41E5-8819-ED2187A4FE45}"/>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03</a:t>
            </a:r>
          </a:p>
        </p:txBody>
      </p:sp>
      <p:graphicFrame>
        <p:nvGraphicFramePr>
          <p:cNvPr id="29" name="Chart"/>
          <p:cNvGraphicFramePr/>
          <p:nvPr/>
        </p:nvGraphicFramePr>
        <p:xfrm>
          <a:off xmlns:a="http://schemas.openxmlformats.org/drawingml/2006/main" x="476250" y="1924050"/>
          <a:ext xmlns:a="http://schemas.openxmlformats.org/drawingml/2006/main" cx="7029450" cy="3924300"/>
        </p:xfrm>
        <a:graphic xmlns:a="http://schemas.openxmlformats.org/drawingml/2006/main">
          <a:graphicData uri="http://schemas.openxmlformats.org/drawingml/2006/chart">
            <c:chart xmlns:r="http://schemas.openxmlformats.org/officeDocument/2006/relationships" xmlns:c="http://schemas.openxmlformats.org/drawingml/2006/chart" r:id="Rae3f0b4f4f3b4326"/>
          </a:graphicData>
        </a:graphic>
      </p:graphicFrame>
      <p:sp>
        <p:nvSpPr>
          <p:cNvPr id="7" name="">
            <a:extLst xmlns:a="http://schemas.openxmlformats.org/drawingml/2006/main">
              <a:ext uri="{FF2B5EF4-FFF2-40B4-BE49-F238E27FC236}">
                <a16:creationId xmlns:a16="http://schemas.microsoft.com/office/drawing/2014/main" id="{C3C83DE8-0191-46E3-9839-68F4FFABBA68}"/>
              </a:ext>
            </a:extLst>
          </p:cNvPr>
          <p:cNvSpPr>
            <a:spLocks xmlns:a="http://schemas.openxmlformats.org/drawingml/2006/main" noGrp="1"/>
          </p:cNvSpPr>
          <p:nvPr/>
        </p:nvSpPr>
        <p:spPr>
          <a:xfrm xmlns:a="http://schemas.openxmlformats.org/drawingml/2006/main">
            <a:off x="685800" y="1847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0748A"/>
                </a:solidFill>
                <a:latin typeface="Aptos"/>
                <a:ea typeface="Aptos"/>
                <a:cs typeface="Aptos"/>
              </a:defRPr>
            </a:pPr>
            <a:r>
              <a:rPr sz="1050" b="1">
                <a:solidFill>
                  <a:srgbClr val="60748A"/>
                </a:solidFill>
                <a:latin typeface="Aptos"/>
                <a:ea typeface="Aptos"/>
                <a:cs typeface="Aptos"/>
              </a:rPr>
              <a:t>Müşteri sayısı</a:t>
            </a:r>
          </a:p>
        </p:txBody>
      </p:sp>
      <p:sp>
        <p:nvSpPr>
          <p:cNvPr id="8" name="">
            <a:extLst xmlns:a="http://schemas.openxmlformats.org/drawingml/2006/main">
              <a:ext uri="{FF2B5EF4-FFF2-40B4-BE49-F238E27FC236}">
                <a16:creationId xmlns:a16="http://schemas.microsoft.com/office/drawing/2014/main" id="{0376B3EC-B783-4885-82A9-5B79EA843848}"/>
              </a:ext>
            </a:extLst>
          </p:cNvPr>
          <p:cNvSpPr>
            <a:spLocks xmlns:a="http://schemas.openxmlformats.org/drawingml/2006/main" noGrp="1"/>
          </p:cNvSpPr>
          <p:nvPr/>
        </p:nvSpPr>
        <p:spPr>
          <a:xfrm xmlns:a="http://schemas.openxmlformats.org/drawingml/2006/main">
            <a:off x="7839075" y="1971675"/>
            <a:ext cx="3705225" cy="3829050"/>
          </a:xfrm>
          <a:prstGeom xmlns:a="http://schemas.openxmlformats.org/drawingml/2006/main" prst="roundRect">
            <a:avLst>
              <a:gd name="adj" fmla="val 4113"/>
            </a:avLst>
          </a:prstGeom>
          <a:solidFill xmlns:a="http://schemas.openxmlformats.org/drawingml/2006/main">
            <a:srgbClr val="FFFFFF"/>
          </a:solidFill>
          <a:ln xmlns:a="http://schemas.openxmlformats.org/drawingml/2006/main" w="9525">
            <a:solidFill>
              <a:srgbClr val="DCE5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ED27863-E657-4A89-A14D-3A9CFDA3F49A}"/>
              </a:ext>
            </a:extLst>
          </p:cNvPr>
          <p:cNvSpPr>
            <a:spLocks xmlns:a="http://schemas.openxmlformats.org/drawingml/2006/main" noGrp="1"/>
          </p:cNvSpPr>
          <p:nvPr/>
        </p:nvSpPr>
        <p:spPr>
          <a:xfrm xmlns:a="http://schemas.openxmlformats.org/drawingml/2006/main">
            <a:off x="8115300" y="22288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263D"/>
                </a:solidFill>
                <a:latin typeface="Aptos"/>
                <a:ea typeface="Aptos"/>
                <a:cs typeface="Aptos"/>
              </a:defRPr>
            </a:pPr>
            <a:r>
              <a:rPr sz="1800" b="1">
                <a:solidFill>
                  <a:srgbClr val="10263D"/>
                </a:solidFill>
                <a:latin typeface="Aptos"/>
                <a:ea typeface="Aptos"/>
                <a:cs typeface="Aptos"/>
              </a:rPr>
              <a:t>Skorlama mantığı</a:t>
            </a:r>
          </a:p>
        </p:txBody>
      </p:sp>
      <p:sp>
        <p:nvSpPr>
          <p:cNvPr id="10" name="">
            <a:extLst xmlns:a="http://schemas.openxmlformats.org/drawingml/2006/main">
              <a:ext uri="{FF2B5EF4-FFF2-40B4-BE49-F238E27FC236}">
                <a16:creationId xmlns:a16="http://schemas.microsoft.com/office/drawing/2014/main" id="{DF336555-3486-4B71-8528-68B255643FD8}"/>
              </a:ext>
            </a:extLst>
          </p:cNvPr>
          <p:cNvSpPr>
            <a:spLocks xmlns:a="http://schemas.openxmlformats.org/drawingml/2006/main" noGrp="1"/>
          </p:cNvSpPr>
          <p:nvPr/>
        </p:nvSpPr>
        <p:spPr>
          <a:xfrm xmlns:a="http://schemas.openxmlformats.org/drawingml/2006/main">
            <a:off x="8115300" y="2686050"/>
            <a:ext cx="1257300" cy="285750"/>
          </a:xfrm>
          <a:prstGeom xmlns:a="http://schemas.openxmlformats.org/drawingml/2006/main" prst="roundRect">
            <a:avLst>
              <a:gd name="adj" fmla="val 50000"/>
            </a:avLst>
          </a:prstGeom>
          <a:solidFill xmlns:a="http://schemas.openxmlformats.org/drawingml/2006/main">
            <a:srgbClr val="E7E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C16CDC-9D33-439E-9C98-D93D3BFBDFCA}"/>
              </a:ext>
            </a:extLst>
          </p:cNvPr>
          <p:cNvSpPr>
            <a:spLocks xmlns:a="http://schemas.openxmlformats.org/drawingml/2006/main" noGrp="1"/>
          </p:cNvSpPr>
          <p:nvPr/>
        </p:nvSpPr>
        <p:spPr>
          <a:xfrm xmlns:a="http://schemas.openxmlformats.org/drawingml/2006/main">
            <a:off x="8210550" y="2733675"/>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2F6BFF"/>
                </a:solidFill>
                <a:latin typeface="Aptos"/>
                <a:ea typeface="Aptos"/>
                <a:cs typeface="Aptos"/>
              </a:defRPr>
            </a:pPr>
            <a:r>
              <a:rPr sz="1050" b="1">
                <a:solidFill>
                  <a:srgbClr val="2F6BFF"/>
                </a:solidFill>
                <a:latin typeface="Aptos"/>
                <a:ea typeface="Aptos"/>
                <a:cs typeface="Aptos"/>
              </a:rPr>
              <a:t>R • Güncellik</a:t>
            </a:r>
          </a:p>
        </p:txBody>
      </p:sp>
      <p:sp>
        <p:nvSpPr>
          <p:cNvPr id="12" name="">
            <a:extLst xmlns:a="http://schemas.openxmlformats.org/drawingml/2006/main">
              <a:ext uri="{FF2B5EF4-FFF2-40B4-BE49-F238E27FC236}">
                <a16:creationId xmlns:a16="http://schemas.microsoft.com/office/drawing/2014/main" id="{6E4650DF-A4A3-4281-A9C2-DEAE193E851E}"/>
              </a:ext>
            </a:extLst>
          </p:cNvPr>
          <p:cNvSpPr>
            <a:spLocks xmlns:a="http://schemas.openxmlformats.org/drawingml/2006/main" noGrp="1"/>
          </p:cNvSpPr>
          <p:nvPr/>
        </p:nvSpPr>
        <p:spPr>
          <a:xfrm xmlns:a="http://schemas.openxmlformats.org/drawingml/2006/main">
            <a:off x="8115300" y="3038475"/>
            <a:ext cx="308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60748A"/>
                </a:solidFill>
                <a:latin typeface="Aptos"/>
                <a:ea typeface="Aptos"/>
                <a:cs typeface="Aptos"/>
              </a:defRPr>
            </a:pPr>
            <a:r>
              <a:rPr sz="1275" b="0">
                <a:solidFill>
                  <a:srgbClr val="60748A"/>
                </a:solidFill>
                <a:latin typeface="Aptos"/>
                <a:ea typeface="Aptos"/>
                <a:cs typeface="Aptos"/>
              </a:rPr>
              <a:t>5: 0–15 gün  |  4: 16–36  |  3: 37–73</a:t>
            </a:r>
          </a:p>
          <a:p xmlns:a="http://schemas.openxmlformats.org/drawingml/2006/main">
            <a:pPr algn="l">
              <a:lnSpc>
                <a:spcPct val="110000"/>
              </a:lnSpc>
              <a:buNone/>
              <a:defRPr sz="1275" b="0">
                <a:solidFill>
                  <a:srgbClr val="60748A"/>
                </a:solidFill>
                <a:latin typeface="Aptos"/>
                <a:ea typeface="Aptos"/>
                <a:cs typeface="Aptos"/>
              </a:defRPr>
            </a:pPr>
            <a:r>
              <a:rPr sz="1275" b="0">
                <a:solidFill>
                  <a:srgbClr val="60748A"/>
                </a:solidFill>
                <a:latin typeface="Aptos"/>
                <a:ea typeface="Aptos"/>
                <a:cs typeface="Aptos"/>
              </a:rPr>
              <a:t>2: 74–184  |  1: 185+ gün</a:t>
            </a:r>
          </a:p>
        </p:txBody>
      </p:sp>
      <p:sp>
        <p:nvSpPr>
          <p:cNvPr id="13" name="">
            <a:extLst xmlns:a="http://schemas.openxmlformats.org/drawingml/2006/main">
              <a:ext uri="{FF2B5EF4-FFF2-40B4-BE49-F238E27FC236}">
                <a16:creationId xmlns:a16="http://schemas.microsoft.com/office/drawing/2014/main" id="{D9727953-EE7A-42C3-B2B9-BE3075B38274}"/>
              </a:ext>
            </a:extLst>
          </p:cNvPr>
          <p:cNvSpPr>
            <a:spLocks xmlns:a="http://schemas.openxmlformats.org/drawingml/2006/main" noGrp="1"/>
          </p:cNvSpPr>
          <p:nvPr/>
        </p:nvSpPr>
        <p:spPr>
          <a:xfrm xmlns:a="http://schemas.openxmlformats.org/drawingml/2006/main">
            <a:off x="8115300" y="3752850"/>
            <a:ext cx="1143000" cy="285750"/>
          </a:xfrm>
          <a:prstGeom xmlns:a="http://schemas.openxmlformats.org/drawingml/2006/main" prst="roundRect">
            <a:avLst>
              <a:gd name="adj" fmla="val 50000"/>
            </a:avLst>
          </a:prstGeom>
          <a:solidFill xmlns:a="http://schemas.openxmlformats.org/drawingml/2006/main">
            <a:srgbClr val="DDF7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EAA4F53-7397-4638-917A-823F31474BCE}"/>
              </a:ext>
            </a:extLst>
          </p:cNvPr>
          <p:cNvSpPr>
            <a:spLocks xmlns:a="http://schemas.openxmlformats.org/drawingml/2006/main" noGrp="1"/>
          </p:cNvSpPr>
          <p:nvPr/>
        </p:nvSpPr>
        <p:spPr>
          <a:xfrm xmlns:a="http://schemas.openxmlformats.org/drawingml/2006/main">
            <a:off x="8210550" y="38004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0A88F"/>
                </a:solidFill>
                <a:latin typeface="Aptos"/>
                <a:ea typeface="Aptos"/>
                <a:cs typeface="Aptos"/>
              </a:defRPr>
            </a:pPr>
            <a:r>
              <a:rPr sz="1050" b="1">
                <a:solidFill>
                  <a:srgbClr val="00A88F"/>
                </a:solidFill>
                <a:latin typeface="Aptos"/>
                <a:ea typeface="Aptos"/>
                <a:cs typeface="Aptos"/>
              </a:rPr>
              <a:t>F • Sıklık</a:t>
            </a:r>
          </a:p>
        </p:txBody>
      </p:sp>
      <p:sp>
        <p:nvSpPr>
          <p:cNvPr id="15" name="">
            <a:extLst xmlns:a="http://schemas.openxmlformats.org/drawingml/2006/main">
              <a:ext uri="{FF2B5EF4-FFF2-40B4-BE49-F238E27FC236}">
                <a16:creationId xmlns:a16="http://schemas.microsoft.com/office/drawing/2014/main" id="{2F989221-4CDD-4473-8CA6-F1207DB5CF71}"/>
              </a:ext>
            </a:extLst>
          </p:cNvPr>
          <p:cNvSpPr>
            <a:spLocks xmlns:a="http://schemas.openxmlformats.org/drawingml/2006/main" noGrp="1"/>
          </p:cNvSpPr>
          <p:nvPr/>
        </p:nvSpPr>
        <p:spPr>
          <a:xfrm xmlns:a="http://schemas.openxmlformats.org/drawingml/2006/main">
            <a:off x="8115300" y="4105275"/>
            <a:ext cx="308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60748A"/>
                </a:solidFill>
                <a:latin typeface="Aptos"/>
                <a:ea typeface="Aptos"/>
                <a:cs typeface="Aptos"/>
              </a:defRPr>
            </a:pPr>
            <a:r>
              <a:rPr sz="1275" b="0">
                <a:solidFill>
                  <a:srgbClr val="60748A"/>
                </a:solidFill>
                <a:latin typeface="Aptos"/>
                <a:ea typeface="Aptos"/>
                <a:cs typeface="Aptos"/>
              </a:rPr>
              <a:t>1: 1 sipariş  |  2: 2  |  3: 3–6</a:t>
            </a:r>
          </a:p>
          <a:p xmlns:a="http://schemas.openxmlformats.org/drawingml/2006/main">
            <a:pPr algn="l">
              <a:lnSpc>
                <a:spcPct val="110000"/>
              </a:lnSpc>
              <a:buNone/>
              <a:defRPr sz="1275" b="0">
                <a:solidFill>
                  <a:srgbClr val="60748A"/>
                </a:solidFill>
                <a:latin typeface="Aptos"/>
                <a:ea typeface="Aptos"/>
                <a:cs typeface="Aptos"/>
              </a:defRPr>
            </a:pPr>
            <a:r>
              <a:rPr sz="1275" b="0">
                <a:solidFill>
                  <a:srgbClr val="60748A"/>
                </a:solidFill>
                <a:latin typeface="Aptos"/>
                <a:ea typeface="Aptos"/>
                <a:cs typeface="Aptos"/>
              </a:rPr>
              <a:t>4: 7–11  |  5: 12+ sipariş</a:t>
            </a:r>
          </a:p>
        </p:txBody>
      </p:sp>
      <p:sp>
        <p:nvSpPr>
          <p:cNvPr id="16" name="">
            <a:extLst xmlns:a="http://schemas.openxmlformats.org/drawingml/2006/main">
              <a:ext uri="{FF2B5EF4-FFF2-40B4-BE49-F238E27FC236}">
                <a16:creationId xmlns:a16="http://schemas.microsoft.com/office/drawing/2014/main" id="{383E8814-A9A3-4B91-A13F-EA6647F78645}"/>
              </a:ext>
            </a:extLst>
          </p:cNvPr>
          <p:cNvSpPr>
            <a:spLocks xmlns:a="http://schemas.openxmlformats.org/drawingml/2006/main" noGrp="1"/>
          </p:cNvSpPr>
          <p:nvPr/>
        </p:nvSpPr>
        <p:spPr>
          <a:xfrm xmlns:a="http://schemas.openxmlformats.org/drawingml/2006/main">
            <a:off x="8115300" y="4819650"/>
            <a:ext cx="1552575" cy="285750"/>
          </a:xfrm>
          <a:prstGeom xmlns:a="http://schemas.openxmlformats.org/drawingml/2006/main" prst="roundRect">
            <a:avLst>
              <a:gd name="adj" fmla="val 50000"/>
            </a:avLst>
          </a:prstGeom>
          <a:solidFill xmlns:a="http://schemas.openxmlformats.org/drawingml/2006/main">
            <a:srgbClr val="FDE9E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CA4B591-A511-4D8F-98A4-4BD4F2EBDEF9}"/>
              </a:ext>
            </a:extLst>
          </p:cNvPr>
          <p:cNvSpPr>
            <a:spLocks xmlns:a="http://schemas.openxmlformats.org/drawingml/2006/main" noGrp="1"/>
          </p:cNvSpPr>
          <p:nvPr/>
        </p:nvSpPr>
        <p:spPr>
          <a:xfrm xmlns:a="http://schemas.openxmlformats.org/drawingml/2006/main">
            <a:off x="8210550" y="4867275"/>
            <a:ext cx="1362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EF6A5B"/>
                </a:solidFill>
                <a:latin typeface="Aptos"/>
                <a:ea typeface="Aptos"/>
                <a:cs typeface="Aptos"/>
              </a:defRPr>
            </a:pPr>
            <a:r>
              <a:rPr sz="1050" b="1">
                <a:solidFill>
                  <a:srgbClr val="EF6A5B"/>
                </a:solidFill>
                <a:latin typeface="Aptos"/>
                <a:ea typeface="Aptos"/>
                <a:cs typeface="Aptos"/>
              </a:rPr>
              <a:t>M • Parasal değer</a:t>
            </a:r>
          </a:p>
        </p:txBody>
      </p:sp>
      <p:sp>
        <p:nvSpPr>
          <p:cNvPr id="18" name="">
            <a:extLst xmlns:a="http://schemas.openxmlformats.org/drawingml/2006/main">
              <a:ext uri="{FF2B5EF4-FFF2-40B4-BE49-F238E27FC236}">
                <a16:creationId xmlns:a16="http://schemas.microsoft.com/office/drawing/2014/main" id="{BB8B61CC-7EFA-4B32-9665-A65518F4E2E8}"/>
              </a:ext>
            </a:extLst>
          </p:cNvPr>
          <p:cNvSpPr>
            <a:spLocks xmlns:a="http://schemas.openxmlformats.org/drawingml/2006/main" noGrp="1"/>
          </p:cNvSpPr>
          <p:nvPr/>
        </p:nvSpPr>
        <p:spPr>
          <a:xfrm xmlns:a="http://schemas.openxmlformats.org/drawingml/2006/main">
            <a:off x="8115300" y="518160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0748A"/>
                </a:solidFill>
                <a:latin typeface="Aptos"/>
                <a:ea typeface="Aptos"/>
                <a:cs typeface="Aptos"/>
              </a:defRPr>
            </a:pPr>
            <a:r>
              <a:rPr sz="1275" b="0">
                <a:solidFill>
                  <a:srgbClr val="60748A"/>
                </a:solidFill>
                <a:latin typeface="Aptos"/>
                <a:ea typeface="Aptos"/>
                <a:cs typeface="Aptos"/>
              </a:rPr>
              <a:t>Segment değerini ve önceliğini ölçmek için kullanıldı.</a:t>
            </a:r>
          </a:p>
        </p:txBody>
      </p:sp>
      <p:sp>
        <p:nvSpPr>
          <p:cNvPr id="19" name="">
            <a:extLst xmlns:a="http://schemas.openxmlformats.org/drawingml/2006/main">
              <a:ext uri="{FF2B5EF4-FFF2-40B4-BE49-F238E27FC236}">
                <a16:creationId xmlns:a16="http://schemas.microsoft.com/office/drawing/2014/main" id="{0BBF9946-BCA3-47D8-BA33-A77D8385C394}"/>
              </a:ext>
            </a:extLst>
          </p:cNvPr>
          <p:cNvSpPr>
            <a:spLocks xmlns:a="http://schemas.openxmlformats.org/drawingml/2006/main" noGrp="1"/>
          </p:cNvSpPr>
          <p:nvPr/>
        </p:nvSpPr>
        <p:spPr>
          <a:xfrm xmlns:a="http://schemas.openxmlformats.org/drawingml/2006/main">
            <a:off x="666750" y="5953125"/>
            <a:ext cx="10877550" cy="409575"/>
          </a:xfrm>
          <a:prstGeom xmlns:a="http://schemas.openxmlformats.org/drawingml/2006/main" prst="roundRect">
            <a:avLst>
              <a:gd name="adj" fmla="val 27907"/>
            </a:avLst>
          </a:prstGeom>
          <a:solidFill xmlns:a="http://schemas.openxmlformats.org/drawingml/2006/main">
            <a:srgbClr val="10263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27CC28-FA31-4F45-9D0E-04501981CFFE}"/>
              </a:ext>
            </a:extLst>
          </p:cNvPr>
          <p:cNvSpPr>
            <a:spLocks xmlns:a="http://schemas.openxmlformats.org/drawingml/2006/main" noGrp="1"/>
          </p:cNvSpPr>
          <p:nvPr/>
        </p:nvSpPr>
        <p:spPr>
          <a:xfrm xmlns:a="http://schemas.openxmlformats.org/drawingml/2006/main">
            <a:off x="876300" y="6057900"/>
            <a:ext cx="10458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Champions müşteri tabanının 7,9%’i; toplam parasal değerin 41,6%’sını oluşturuyor.</a:t>
            </a:r>
          </a:p>
        </p:txBody>
      </p:sp>
      <p:sp>
        <p:nvSpPr>
          <p:cNvPr id="21" name="">
            <a:extLst xmlns:a="http://schemas.openxmlformats.org/drawingml/2006/main">
              <a:ext uri="{FF2B5EF4-FFF2-40B4-BE49-F238E27FC236}">
                <a16:creationId xmlns:a16="http://schemas.microsoft.com/office/drawing/2014/main" id="{09D53516-B961-43C1-B178-75F466B894B1}"/>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22" name="">
            <a:extLst xmlns:a="http://schemas.openxmlformats.org/drawingml/2006/main">
              <a:ext uri="{FF2B5EF4-FFF2-40B4-BE49-F238E27FC236}">
                <a16:creationId xmlns:a16="http://schemas.microsoft.com/office/drawing/2014/main" id="{254A90D0-F62E-4035-83E4-BFA3136ACDD5}"/>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23" name="">
            <a:extLst xmlns:a="http://schemas.openxmlformats.org/drawingml/2006/main">
              <a:ext uri="{FF2B5EF4-FFF2-40B4-BE49-F238E27FC236}">
                <a16:creationId xmlns:a16="http://schemas.microsoft.com/office/drawing/2014/main" id="{436F0A5D-E0CA-40B1-8923-923F71D5C07F}"/>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676835768"/>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65496FE-A3FD-4970-AE3E-03F79CCCCCC8}"/>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231E8B-FA61-4C10-A653-8A1D92131356}"/>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1 • RFM ANALIZI</a:t>
            </a:r>
          </a:p>
        </p:txBody>
      </p:sp>
      <p:sp>
        <p:nvSpPr>
          <p:cNvPr id="3" name="">
            <a:extLst xmlns:a="http://schemas.openxmlformats.org/drawingml/2006/main">
              <a:ext uri="{FF2B5EF4-FFF2-40B4-BE49-F238E27FC236}">
                <a16:creationId xmlns:a16="http://schemas.microsoft.com/office/drawing/2014/main" id="{E8DB9EA4-E89F-479B-BEFA-4267002F76A3}"/>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Geri kazanım için en dengeli hedef: “At Risk”</a:t>
            </a:r>
          </a:p>
        </p:txBody>
      </p:sp>
      <p:sp>
        <p:nvSpPr>
          <p:cNvPr id="4" name="">
            <a:extLst xmlns:a="http://schemas.openxmlformats.org/drawingml/2006/main">
              <a:ext uri="{FF2B5EF4-FFF2-40B4-BE49-F238E27FC236}">
                <a16:creationId xmlns:a16="http://schemas.microsoft.com/office/drawing/2014/main" id="{F34E02BB-CE40-4116-AE83-3C824AC16306}"/>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Yeterli ölçek + kanıtlanmış alışveriş davranışı + düşen ilişki gücü</a:t>
            </a:r>
          </a:p>
        </p:txBody>
      </p:sp>
      <p:sp>
        <p:nvSpPr>
          <p:cNvPr id="5" name="">
            <a:extLst xmlns:a="http://schemas.openxmlformats.org/drawingml/2006/main">
              <a:ext uri="{FF2B5EF4-FFF2-40B4-BE49-F238E27FC236}">
                <a16:creationId xmlns:a16="http://schemas.microsoft.com/office/drawing/2014/main" id="{B1AA00D9-C985-48A8-A299-A09864C636B4}"/>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D833B779-9B3C-4B3A-9B32-918607892247}"/>
              </a:ext>
            </a:extLst>
          </p:cNvPr>
          <p:cNvSpPr>
            <a:spLocks xmlns:a="http://schemas.openxmlformats.org/drawingml/2006/main" noGrp="1"/>
          </p:cNvSpPr>
          <p:nvPr/>
        </p:nvSpPr>
        <p:spPr>
          <a:xfrm xmlns:a="http://schemas.openxmlformats.org/drawingml/2006/main">
            <a:off x="638175" y="2009775"/>
            <a:ext cx="3743325" cy="3857625"/>
          </a:xfrm>
          <a:prstGeom xmlns:a="http://schemas.openxmlformats.org/drawingml/2006/main" prst="roundRect">
            <a:avLst>
              <a:gd name="adj" fmla="val 4071"/>
            </a:avLst>
          </a:prstGeom>
          <a:solidFill xmlns:a="http://schemas.openxmlformats.org/drawingml/2006/main">
            <a:srgbClr val="EF6A5B"/>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2AD93AA-F737-4E2B-B271-15F03724AF82}"/>
              </a:ext>
            </a:extLst>
          </p:cNvPr>
          <p:cNvSpPr>
            <a:spLocks xmlns:a="http://schemas.openxmlformats.org/drawingml/2006/main" noGrp="1"/>
          </p:cNvSpPr>
          <p:nvPr/>
        </p:nvSpPr>
        <p:spPr>
          <a:xfrm xmlns:a="http://schemas.openxmlformats.org/drawingml/2006/main">
            <a:off x="923925" y="2276475"/>
            <a:ext cx="1552575" cy="285750"/>
          </a:xfrm>
          <a:prstGeom xmlns:a="http://schemas.openxmlformats.org/drawingml/2006/main" prst="roundRect">
            <a:avLst>
              <a:gd name="adj" fmla="val 50000"/>
            </a:avLst>
          </a:prstGeom>
          <a:solidFill xmlns:a="http://schemas.openxmlformats.org/drawingml/2006/main">
            <a:srgbClr val="FFFFFF">
              <a:alpha val="14118"/>
            </a:srgbClr>
          </a:solidFill>
          <a:ln xmlns:a="http://schemas.openxmlformats.org/drawingml/2006/main" w="9525">
            <a:solidFill>
              <a:srgbClr val="FFFFFF">
                <a:alpha val="33333"/>
              </a:srgbClr>
            </a:solidFill>
            <a:prstDash val="solid"/>
          </a:ln>
        </p:spPr>
      </p:sp>
      <p:sp>
        <p:nvSpPr>
          <p:cNvPr id="8" name="">
            <a:extLst xmlns:a="http://schemas.openxmlformats.org/drawingml/2006/main">
              <a:ext uri="{FF2B5EF4-FFF2-40B4-BE49-F238E27FC236}">
                <a16:creationId xmlns:a16="http://schemas.microsoft.com/office/drawing/2014/main" id="{0389F70C-3289-4ECE-BC64-4F85D7D18E81}"/>
              </a:ext>
            </a:extLst>
          </p:cNvPr>
          <p:cNvSpPr>
            <a:spLocks xmlns:a="http://schemas.openxmlformats.org/drawingml/2006/main" noGrp="1"/>
          </p:cNvSpPr>
          <p:nvPr/>
        </p:nvSpPr>
        <p:spPr>
          <a:xfrm xmlns:a="http://schemas.openxmlformats.org/drawingml/2006/main">
            <a:off x="1019175" y="2324100"/>
            <a:ext cx="1362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SEÇİLEN SEGMENT</a:t>
            </a:r>
          </a:p>
        </p:txBody>
      </p:sp>
      <p:sp>
        <p:nvSpPr>
          <p:cNvPr id="9" name="">
            <a:extLst xmlns:a="http://schemas.openxmlformats.org/drawingml/2006/main">
              <a:ext uri="{FF2B5EF4-FFF2-40B4-BE49-F238E27FC236}">
                <a16:creationId xmlns:a16="http://schemas.microsoft.com/office/drawing/2014/main" id="{991EE24F-F8A0-4029-81DB-A562F44EDFD4}"/>
              </a:ext>
            </a:extLst>
          </p:cNvPr>
          <p:cNvSpPr>
            <a:spLocks xmlns:a="http://schemas.openxmlformats.org/drawingml/2006/main" noGrp="1"/>
          </p:cNvSpPr>
          <p:nvPr/>
        </p:nvSpPr>
        <p:spPr>
          <a:xfrm xmlns:a="http://schemas.openxmlformats.org/drawingml/2006/main">
            <a:off x="923925" y="27813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38"/>
          </a:bodyPr>
          <a:lstStyle xmlns:a="http://schemas.openxmlformats.org/drawingml/2006/main"/>
          <a:p xmlns:a="http://schemas.openxmlformats.org/drawingml/2006/main">
            <a:pPr algn="l">
              <a:defRPr sz="3450" b="1">
                <a:solidFill>
                  <a:srgbClr val="FFFFFF"/>
                </a:solidFill>
                <a:latin typeface="Aptos Display"/>
                <a:ea typeface="Aptos Display"/>
                <a:cs typeface="Aptos Display"/>
              </a:defRPr>
            </a:pPr>
            <a:r>
              <a:rPr sz="3450" b="1">
                <a:solidFill>
                  <a:srgbClr val="FFFFFF"/>
                </a:solidFill>
                <a:latin typeface="Aptos Display"/>
                <a:ea typeface="Aptos Display"/>
                <a:cs typeface="Aptos Display"/>
              </a:rPr>
              <a:t>At Risk</a:t>
            </a:r>
          </a:p>
        </p:txBody>
      </p:sp>
      <p:sp>
        <p:nvSpPr>
          <p:cNvPr id="10" name="">
            <a:extLst xmlns:a="http://schemas.openxmlformats.org/drawingml/2006/main">
              <a:ext uri="{FF2B5EF4-FFF2-40B4-BE49-F238E27FC236}">
                <a16:creationId xmlns:a16="http://schemas.microsoft.com/office/drawing/2014/main" id="{E35DE65A-A6B7-4410-ADC4-824C1457BADA}"/>
              </a:ext>
            </a:extLst>
          </p:cNvPr>
          <p:cNvSpPr>
            <a:spLocks xmlns:a="http://schemas.openxmlformats.org/drawingml/2006/main" noGrp="1"/>
          </p:cNvSpPr>
          <p:nvPr/>
        </p:nvSpPr>
        <p:spPr>
          <a:xfrm xmlns:a="http://schemas.openxmlformats.org/drawingml/2006/main">
            <a:off x="923925" y="3429000"/>
            <a:ext cx="1428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646"/>
          </a:bodyPr>
          <a:lstStyle xmlns:a="http://schemas.openxmlformats.org/drawingml/2006/main"/>
          <a:p xmlns:a="http://schemas.openxmlformats.org/drawingml/2006/main">
            <a:pPr algn="l">
              <a:defRPr sz="4950" b="1">
                <a:solidFill>
                  <a:srgbClr val="FFFFFF"/>
                </a:solidFill>
                <a:latin typeface="Aptos Display"/>
                <a:ea typeface="Aptos Display"/>
                <a:cs typeface="Aptos Display"/>
              </a:defRPr>
            </a:pPr>
            <a:r>
              <a:rPr sz="4950" b="1">
                <a:solidFill>
                  <a:srgbClr val="FFFFFF"/>
                </a:solidFill>
                <a:latin typeface="Aptos Display"/>
                <a:ea typeface="Aptos Display"/>
                <a:cs typeface="Aptos Display"/>
              </a:rPr>
              <a:t>292</a:t>
            </a:r>
          </a:p>
        </p:txBody>
      </p:sp>
      <p:sp>
        <p:nvSpPr>
          <p:cNvPr id="11" name="">
            <a:extLst xmlns:a="http://schemas.openxmlformats.org/drawingml/2006/main">
              <a:ext uri="{FF2B5EF4-FFF2-40B4-BE49-F238E27FC236}">
                <a16:creationId xmlns:a16="http://schemas.microsoft.com/office/drawing/2014/main" id="{6CA0D1D8-2227-4B37-AD38-551ED83A128A}"/>
              </a:ext>
            </a:extLst>
          </p:cNvPr>
          <p:cNvSpPr>
            <a:spLocks xmlns:a="http://schemas.openxmlformats.org/drawingml/2006/main" noGrp="1"/>
          </p:cNvSpPr>
          <p:nvPr/>
        </p:nvSpPr>
        <p:spPr>
          <a:xfrm xmlns:a="http://schemas.openxmlformats.org/drawingml/2006/main">
            <a:off x="952500" y="4095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E5E1"/>
                </a:solidFill>
                <a:latin typeface="Aptos"/>
                <a:ea typeface="Aptos"/>
                <a:cs typeface="Aptos"/>
              </a:defRPr>
            </a:pPr>
            <a:r>
              <a:rPr sz="1350" b="0">
                <a:solidFill>
                  <a:srgbClr val="FFE5E1"/>
                </a:solidFill>
                <a:latin typeface="Aptos"/>
                <a:ea typeface="Aptos"/>
                <a:cs typeface="Aptos"/>
              </a:rPr>
              <a:t>müşteri • tabanın 7,4%’ü</a:t>
            </a:r>
          </a:p>
        </p:txBody>
      </p:sp>
      <p:sp>
        <p:nvSpPr>
          <p:cNvPr id="12" name="">
            <a:extLst xmlns:a="http://schemas.openxmlformats.org/drawingml/2006/main">
              <a:ext uri="{FF2B5EF4-FFF2-40B4-BE49-F238E27FC236}">
                <a16:creationId xmlns:a16="http://schemas.microsoft.com/office/drawing/2014/main" id="{E03AC65D-5B6C-45EF-9F92-96C7F21CAC09}"/>
              </a:ext>
            </a:extLst>
          </p:cNvPr>
          <p:cNvSpPr>
            <a:spLocks xmlns:a="http://schemas.openxmlformats.org/drawingml/2006/main" noGrp="1"/>
          </p:cNvSpPr>
          <p:nvPr/>
        </p:nvSpPr>
        <p:spPr>
          <a:xfrm xmlns:a="http://schemas.openxmlformats.org/drawingml/2006/main">
            <a:off x="933450" y="4572000"/>
            <a:ext cx="3086100" cy="0"/>
          </a:xfrm>
          <a:prstGeom xmlns:a="http://schemas.openxmlformats.org/drawingml/2006/main" prst="line">
            <a:avLst/>
          </a:prstGeom>
          <a:noFill xmlns:a="http://schemas.openxmlformats.org/drawingml/2006/main"/>
          <a:ln xmlns:a="http://schemas.openxmlformats.org/drawingml/2006/main" w="9525">
            <a:solidFill>
              <a:srgbClr val="FFFFFF">
                <a:alpha val="27059"/>
              </a:srgbClr>
            </a:solidFill>
            <a:prstDash val="solid"/>
          </a:ln>
        </p:spPr>
      </p:sp>
      <p:sp>
        <p:nvSpPr>
          <p:cNvPr id="13" name="">
            <a:extLst xmlns:a="http://schemas.openxmlformats.org/drawingml/2006/main">
              <a:ext uri="{FF2B5EF4-FFF2-40B4-BE49-F238E27FC236}">
                <a16:creationId xmlns:a16="http://schemas.microsoft.com/office/drawing/2014/main" id="{6CF2A5C4-EC90-406A-B349-493BA5B93ACF}"/>
              </a:ext>
            </a:extLst>
          </p:cNvPr>
          <p:cNvSpPr>
            <a:spLocks xmlns:a="http://schemas.openxmlformats.org/drawingml/2006/main" noGrp="1"/>
          </p:cNvSpPr>
          <p:nvPr/>
        </p:nvSpPr>
        <p:spPr>
          <a:xfrm xmlns:a="http://schemas.openxmlformats.org/drawingml/2006/main">
            <a:off x="933450" y="47625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137 gün</a:t>
            </a:r>
          </a:p>
        </p:txBody>
      </p:sp>
      <p:sp>
        <p:nvSpPr>
          <p:cNvPr id="14" name="">
            <a:extLst xmlns:a="http://schemas.openxmlformats.org/drawingml/2006/main">
              <a:ext uri="{FF2B5EF4-FFF2-40B4-BE49-F238E27FC236}">
                <a16:creationId xmlns:a16="http://schemas.microsoft.com/office/drawing/2014/main" id="{A5FFAA52-C188-45C1-A50F-3C08B64499C3}"/>
              </a:ext>
            </a:extLst>
          </p:cNvPr>
          <p:cNvSpPr>
            <a:spLocks xmlns:a="http://schemas.openxmlformats.org/drawingml/2006/main" noGrp="1"/>
          </p:cNvSpPr>
          <p:nvPr/>
        </p:nvSpPr>
        <p:spPr>
          <a:xfrm xmlns:a="http://schemas.openxmlformats.org/drawingml/2006/main">
            <a:off x="933450" y="51149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FE5E1"/>
                </a:solidFill>
                <a:latin typeface="Aptos"/>
                <a:ea typeface="Aptos"/>
                <a:cs typeface="Aptos"/>
              </a:defRPr>
            </a:pPr>
            <a:r>
              <a:rPr sz="1125" b="0">
                <a:solidFill>
                  <a:srgbClr val="FFE5E1"/>
                </a:solidFill>
                <a:latin typeface="Aptos"/>
                <a:ea typeface="Aptos"/>
                <a:cs typeface="Aptos"/>
              </a:rPr>
              <a:t>ortalama recency</a:t>
            </a:r>
          </a:p>
        </p:txBody>
      </p:sp>
      <p:sp>
        <p:nvSpPr>
          <p:cNvPr id="15" name="">
            <a:extLst xmlns:a="http://schemas.openxmlformats.org/drawingml/2006/main">
              <a:ext uri="{FF2B5EF4-FFF2-40B4-BE49-F238E27FC236}">
                <a16:creationId xmlns:a16="http://schemas.microsoft.com/office/drawing/2014/main" id="{EA3892ED-054D-4DE7-8956-4F1195EA0ABB}"/>
              </a:ext>
            </a:extLst>
          </p:cNvPr>
          <p:cNvSpPr>
            <a:spLocks xmlns:a="http://schemas.openxmlformats.org/drawingml/2006/main" noGrp="1"/>
          </p:cNvSpPr>
          <p:nvPr/>
        </p:nvSpPr>
        <p:spPr>
          <a:xfrm xmlns:a="http://schemas.openxmlformats.org/drawingml/2006/main">
            <a:off x="2609850" y="476250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4,0</a:t>
            </a:r>
          </a:p>
        </p:txBody>
      </p:sp>
      <p:sp>
        <p:nvSpPr>
          <p:cNvPr id="16" name="">
            <a:extLst xmlns:a="http://schemas.openxmlformats.org/drawingml/2006/main">
              <a:ext uri="{FF2B5EF4-FFF2-40B4-BE49-F238E27FC236}">
                <a16:creationId xmlns:a16="http://schemas.microsoft.com/office/drawing/2014/main" id="{7EDE5973-79EF-421D-AC64-F4429AAE96B6}"/>
              </a:ext>
            </a:extLst>
          </p:cNvPr>
          <p:cNvSpPr>
            <a:spLocks xmlns:a="http://schemas.openxmlformats.org/drawingml/2006/main" noGrp="1"/>
          </p:cNvSpPr>
          <p:nvPr/>
        </p:nvSpPr>
        <p:spPr>
          <a:xfrm xmlns:a="http://schemas.openxmlformats.org/drawingml/2006/main">
            <a:off x="2609850" y="51149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FE5E1"/>
                </a:solidFill>
                <a:latin typeface="Aptos"/>
                <a:ea typeface="Aptos"/>
                <a:cs typeface="Aptos"/>
              </a:defRPr>
            </a:pPr>
            <a:r>
              <a:rPr sz="1125" b="0">
                <a:solidFill>
                  <a:srgbClr val="FFE5E1"/>
                </a:solidFill>
                <a:latin typeface="Aptos"/>
                <a:ea typeface="Aptos"/>
                <a:cs typeface="Aptos"/>
              </a:rPr>
              <a:t>ortalama sipariş</a:t>
            </a:r>
          </a:p>
        </p:txBody>
      </p:sp>
      <p:sp>
        <p:nvSpPr>
          <p:cNvPr id="17" name="">
            <a:extLst xmlns:a="http://schemas.openxmlformats.org/drawingml/2006/main">
              <a:ext uri="{FF2B5EF4-FFF2-40B4-BE49-F238E27FC236}">
                <a16:creationId xmlns:a16="http://schemas.microsoft.com/office/drawing/2014/main" id="{FE731338-7469-47D2-B194-A6DB0522AAB7}"/>
              </a:ext>
            </a:extLst>
          </p:cNvPr>
          <p:cNvSpPr>
            <a:spLocks xmlns:a="http://schemas.openxmlformats.org/drawingml/2006/main" noGrp="1"/>
          </p:cNvSpPr>
          <p:nvPr/>
        </p:nvSpPr>
        <p:spPr>
          <a:xfrm xmlns:a="http://schemas.openxmlformats.org/drawingml/2006/main">
            <a:off x="933450" y="5467350"/>
            <a:ext cx="180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118,7 bin</a:t>
            </a:r>
          </a:p>
        </p:txBody>
      </p:sp>
      <p:sp>
        <p:nvSpPr>
          <p:cNvPr id="18" name="">
            <a:extLst xmlns:a="http://schemas.openxmlformats.org/drawingml/2006/main">
              <a:ext uri="{FF2B5EF4-FFF2-40B4-BE49-F238E27FC236}">
                <a16:creationId xmlns:a16="http://schemas.microsoft.com/office/drawing/2014/main" id="{ABCC6495-52BB-4811-A033-D9A212938DC8}"/>
              </a:ext>
            </a:extLst>
          </p:cNvPr>
          <p:cNvSpPr>
            <a:spLocks xmlns:a="http://schemas.openxmlformats.org/drawingml/2006/main" noGrp="1"/>
          </p:cNvSpPr>
          <p:nvPr/>
        </p:nvSpPr>
        <p:spPr>
          <a:xfrm xmlns:a="http://schemas.openxmlformats.org/drawingml/2006/main">
            <a:off x="2609850" y="5514975"/>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FE5E1"/>
                </a:solidFill>
                <a:latin typeface="Aptos"/>
                <a:ea typeface="Aptos"/>
                <a:cs typeface="Aptos"/>
              </a:defRPr>
            </a:pPr>
            <a:r>
              <a:rPr sz="1125" b="0">
                <a:solidFill>
                  <a:srgbClr val="FFE5E1"/>
                </a:solidFill>
                <a:latin typeface="Aptos"/>
                <a:ea typeface="Aptos"/>
                <a:cs typeface="Aptos"/>
              </a:rPr>
              <a:t>tarihsel parasal değer</a:t>
            </a:r>
          </a:p>
        </p:txBody>
      </p:sp>
      <p:sp>
        <p:nvSpPr>
          <p:cNvPr id="19" name="">
            <a:extLst xmlns:a="http://schemas.openxmlformats.org/drawingml/2006/main">
              <a:ext uri="{FF2B5EF4-FFF2-40B4-BE49-F238E27FC236}">
                <a16:creationId xmlns:a16="http://schemas.microsoft.com/office/drawing/2014/main" id="{6457156A-009E-42F1-B304-722A813C16DB}"/>
              </a:ext>
            </a:extLst>
          </p:cNvPr>
          <p:cNvSpPr>
            <a:spLocks xmlns:a="http://schemas.openxmlformats.org/drawingml/2006/main" noGrp="1"/>
          </p:cNvSpPr>
          <p:nvPr/>
        </p:nvSpPr>
        <p:spPr>
          <a:xfrm xmlns:a="http://schemas.openxmlformats.org/drawingml/2006/main">
            <a:off x="4857750" y="2095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263D"/>
                </a:solidFill>
                <a:latin typeface="Aptos"/>
                <a:ea typeface="Aptos"/>
                <a:cs typeface="Aptos"/>
              </a:defRPr>
            </a:pPr>
            <a:r>
              <a:rPr sz="2025" b="1">
                <a:solidFill>
                  <a:srgbClr val="10263D"/>
                </a:solidFill>
                <a:latin typeface="Aptos"/>
                <a:ea typeface="Aptos"/>
                <a:cs typeface="Aptos"/>
              </a:rPr>
              <a:t>Neden bu segment?</a:t>
            </a:r>
          </a:p>
        </p:txBody>
      </p:sp>
      <p:sp>
        <p:nvSpPr>
          <p:cNvPr id="20" name="">
            <a:extLst xmlns:a="http://schemas.openxmlformats.org/drawingml/2006/main">
              <a:ext uri="{FF2B5EF4-FFF2-40B4-BE49-F238E27FC236}">
                <a16:creationId xmlns:a16="http://schemas.microsoft.com/office/drawing/2014/main" id="{0A02F2CC-11EB-407E-AA7F-245A231FFB36}"/>
              </a:ext>
            </a:extLst>
          </p:cNvPr>
          <p:cNvSpPr>
            <a:spLocks xmlns:a="http://schemas.openxmlformats.org/drawingml/2006/main" noGrp="1"/>
          </p:cNvSpPr>
          <p:nvPr/>
        </p:nvSpPr>
        <p:spPr>
          <a:xfrm xmlns:a="http://schemas.openxmlformats.org/drawingml/2006/main">
            <a:off x="4876800" y="2657475"/>
            <a:ext cx="76200" cy="76200"/>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3A384B-1A6F-4842-A84D-F6DAA8A99336}"/>
              </a:ext>
            </a:extLst>
          </p:cNvPr>
          <p:cNvSpPr>
            <a:spLocks xmlns:a="http://schemas.openxmlformats.org/drawingml/2006/main" noGrp="1"/>
          </p:cNvSpPr>
          <p:nvPr/>
        </p:nvSpPr>
        <p:spPr>
          <a:xfrm xmlns:a="http://schemas.openxmlformats.org/drawingml/2006/main">
            <a:off x="5067300" y="25812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10263D"/>
                </a:solidFill>
                <a:latin typeface="Aptos"/>
                <a:ea typeface="Aptos"/>
                <a:cs typeface="Aptos"/>
              </a:defRPr>
            </a:pPr>
            <a:r>
              <a:rPr sz="1425" b="0">
                <a:solidFill>
                  <a:srgbClr val="10263D"/>
                </a:solidFill>
                <a:latin typeface="Aptos"/>
                <a:ea typeface="Aptos"/>
                <a:cs typeface="Aptos"/>
              </a:rPr>
              <a:t>Ortalama Monetary 406,5; Hibernating grubunun 3,3 katı.</a:t>
            </a:r>
          </a:p>
        </p:txBody>
      </p:sp>
      <p:sp>
        <p:nvSpPr>
          <p:cNvPr id="22" name="">
            <a:extLst xmlns:a="http://schemas.openxmlformats.org/drawingml/2006/main">
              <a:ext uri="{FF2B5EF4-FFF2-40B4-BE49-F238E27FC236}">
                <a16:creationId xmlns:a16="http://schemas.microsoft.com/office/drawing/2014/main" id="{B18EAEA0-E3B0-42B8-89EC-9F11EA98647D}"/>
              </a:ext>
            </a:extLst>
          </p:cNvPr>
          <p:cNvSpPr>
            <a:spLocks xmlns:a="http://schemas.openxmlformats.org/drawingml/2006/main" noGrp="1"/>
          </p:cNvSpPr>
          <p:nvPr/>
        </p:nvSpPr>
        <p:spPr>
          <a:xfrm xmlns:a="http://schemas.openxmlformats.org/drawingml/2006/main">
            <a:off x="4876800" y="3181350"/>
            <a:ext cx="76200" cy="76200"/>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FE7739C-A49A-478E-A936-78A9AF0507DC}"/>
              </a:ext>
            </a:extLst>
          </p:cNvPr>
          <p:cNvSpPr>
            <a:spLocks xmlns:a="http://schemas.openxmlformats.org/drawingml/2006/main" noGrp="1"/>
          </p:cNvSpPr>
          <p:nvPr/>
        </p:nvSpPr>
        <p:spPr>
          <a:xfrm xmlns:a="http://schemas.openxmlformats.org/drawingml/2006/main">
            <a:off x="5067300" y="3105150"/>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10263D"/>
                </a:solidFill>
                <a:latin typeface="Aptos"/>
                <a:ea typeface="Aptos"/>
                <a:cs typeface="Aptos"/>
              </a:defRPr>
            </a:pPr>
            <a:r>
              <a:rPr sz="1425" b="0">
                <a:solidFill>
                  <a:srgbClr val="10263D"/>
                </a:solidFill>
                <a:latin typeface="Aptos"/>
                <a:ea typeface="Aptos"/>
                <a:cs typeface="Aptos"/>
              </a:rPr>
              <a:t>Ortalama 4,0 sipariş, geçmişte gerçek bir alışkanlık oluştuğunu gösteriyor.</a:t>
            </a:r>
          </a:p>
        </p:txBody>
      </p:sp>
      <p:sp>
        <p:nvSpPr>
          <p:cNvPr id="24" name="">
            <a:extLst xmlns:a="http://schemas.openxmlformats.org/drawingml/2006/main">
              <a:ext uri="{FF2B5EF4-FFF2-40B4-BE49-F238E27FC236}">
                <a16:creationId xmlns:a16="http://schemas.microsoft.com/office/drawing/2014/main" id="{058FC989-BF0D-45D8-8149-D3EBC8AFFF88}"/>
              </a:ext>
            </a:extLst>
          </p:cNvPr>
          <p:cNvSpPr>
            <a:spLocks xmlns:a="http://schemas.openxmlformats.org/drawingml/2006/main" noGrp="1"/>
          </p:cNvSpPr>
          <p:nvPr/>
        </p:nvSpPr>
        <p:spPr>
          <a:xfrm xmlns:a="http://schemas.openxmlformats.org/drawingml/2006/main">
            <a:off x="4876800" y="3705225"/>
            <a:ext cx="76200" cy="76200"/>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133185B-305F-400D-AA01-1E2AF51EEEA6}"/>
              </a:ext>
            </a:extLst>
          </p:cNvPr>
          <p:cNvSpPr>
            <a:spLocks xmlns:a="http://schemas.openxmlformats.org/drawingml/2006/main" noGrp="1"/>
          </p:cNvSpPr>
          <p:nvPr/>
        </p:nvSpPr>
        <p:spPr>
          <a:xfrm xmlns:a="http://schemas.openxmlformats.org/drawingml/2006/main">
            <a:off x="5067300" y="3629025"/>
            <a:ext cx="609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10263D"/>
                </a:solidFill>
                <a:latin typeface="Aptos"/>
                <a:ea typeface="Aptos"/>
                <a:cs typeface="Aptos"/>
              </a:defRPr>
            </a:pPr>
            <a:r>
              <a:rPr sz="1425" b="0">
                <a:solidFill>
                  <a:srgbClr val="10263D"/>
                </a:solidFill>
                <a:latin typeface="Aptos"/>
                <a:ea typeface="Aptos"/>
                <a:cs typeface="Aptos"/>
              </a:rPr>
              <a:t>Memnuniyet 55,5 ve segment NPS -3,1; kitlenin 78,4%’ü pasif.</a:t>
            </a:r>
          </a:p>
        </p:txBody>
      </p:sp>
      <p:sp>
        <p:nvSpPr>
          <p:cNvPr id="26" name="">
            <a:extLst xmlns:a="http://schemas.openxmlformats.org/drawingml/2006/main">
              <a:ext uri="{FF2B5EF4-FFF2-40B4-BE49-F238E27FC236}">
                <a16:creationId xmlns:a16="http://schemas.microsoft.com/office/drawing/2014/main" id="{692E1DA9-A1BF-4098-84A7-876F0E9B70E3}"/>
              </a:ext>
            </a:extLst>
          </p:cNvPr>
          <p:cNvSpPr>
            <a:spLocks xmlns:a="http://schemas.openxmlformats.org/drawingml/2006/main" noGrp="1"/>
          </p:cNvSpPr>
          <p:nvPr/>
        </p:nvSpPr>
        <p:spPr>
          <a:xfrm xmlns:a="http://schemas.openxmlformats.org/drawingml/2006/main">
            <a:off x="4857750" y="4391025"/>
            <a:ext cx="657225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CE5EE"/>
            </a:solidFill>
            <a:prstDash val="solid"/>
          </a:ln>
        </p:spPr>
      </p:sp>
      <p:sp>
        <p:nvSpPr>
          <p:cNvPr id="27" name="">
            <a:extLst xmlns:a="http://schemas.openxmlformats.org/drawingml/2006/main">
              <a:ext uri="{FF2B5EF4-FFF2-40B4-BE49-F238E27FC236}">
                <a16:creationId xmlns:a16="http://schemas.microsoft.com/office/drawing/2014/main" id="{F94448A0-8288-4494-B708-7A04E91FD0DC}"/>
              </a:ext>
            </a:extLst>
          </p:cNvPr>
          <p:cNvSpPr>
            <a:spLocks xmlns:a="http://schemas.openxmlformats.org/drawingml/2006/main" noGrp="1"/>
          </p:cNvSpPr>
          <p:nvPr/>
        </p:nvSpPr>
        <p:spPr>
          <a:xfrm xmlns:a="http://schemas.openxmlformats.org/drawingml/2006/main">
            <a:off x="5048250" y="4562475"/>
            <a:ext cx="1714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0748A"/>
                </a:solidFill>
                <a:latin typeface="Aptos"/>
                <a:ea typeface="Aptos"/>
                <a:cs typeface="Aptos"/>
              </a:defRPr>
            </a:pPr>
            <a:r>
              <a:rPr sz="975" b="1">
                <a:solidFill>
                  <a:srgbClr val="60748A"/>
                </a:solidFill>
                <a:latin typeface="Aptos"/>
                <a:ea typeface="Aptos"/>
                <a:cs typeface="Aptos"/>
              </a:rPr>
              <a:t>SEGMENT</a:t>
            </a:r>
          </a:p>
        </p:txBody>
      </p:sp>
      <p:sp>
        <p:nvSpPr>
          <p:cNvPr id="28" name="">
            <a:extLst xmlns:a="http://schemas.openxmlformats.org/drawingml/2006/main">
              <a:ext uri="{FF2B5EF4-FFF2-40B4-BE49-F238E27FC236}">
                <a16:creationId xmlns:a16="http://schemas.microsoft.com/office/drawing/2014/main" id="{FBDEB296-FB23-4922-ABD0-0FD173A26AD5}"/>
              </a:ext>
            </a:extLst>
          </p:cNvPr>
          <p:cNvSpPr>
            <a:spLocks xmlns:a="http://schemas.openxmlformats.org/drawingml/2006/main" noGrp="1"/>
          </p:cNvSpPr>
          <p:nvPr/>
        </p:nvSpPr>
        <p:spPr>
          <a:xfrm xmlns:a="http://schemas.openxmlformats.org/drawingml/2006/main">
            <a:off x="7067550" y="4562475"/>
            <a:ext cx="857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0748A"/>
                </a:solidFill>
                <a:latin typeface="Aptos"/>
                <a:ea typeface="Aptos"/>
                <a:cs typeface="Aptos"/>
              </a:defRPr>
            </a:pPr>
            <a:r>
              <a:rPr sz="975" b="1">
                <a:solidFill>
                  <a:srgbClr val="60748A"/>
                </a:solidFill>
                <a:latin typeface="Aptos"/>
                <a:ea typeface="Aptos"/>
                <a:cs typeface="Aptos"/>
              </a:rPr>
              <a:t>MÜŞTERİ</a:t>
            </a:r>
          </a:p>
        </p:txBody>
      </p:sp>
      <p:sp>
        <p:nvSpPr>
          <p:cNvPr id="29" name="">
            <a:extLst xmlns:a="http://schemas.openxmlformats.org/drawingml/2006/main">
              <a:ext uri="{FF2B5EF4-FFF2-40B4-BE49-F238E27FC236}">
                <a16:creationId xmlns:a16="http://schemas.microsoft.com/office/drawing/2014/main" id="{6D45202A-309E-4A91-A74B-3717D23572FC}"/>
              </a:ext>
            </a:extLst>
          </p:cNvPr>
          <p:cNvSpPr>
            <a:spLocks xmlns:a="http://schemas.openxmlformats.org/drawingml/2006/main" noGrp="1"/>
          </p:cNvSpPr>
          <p:nvPr/>
        </p:nvSpPr>
        <p:spPr>
          <a:xfrm xmlns:a="http://schemas.openxmlformats.org/drawingml/2006/main">
            <a:off x="8229600" y="4562475"/>
            <a:ext cx="742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0748A"/>
                </a:solidFill>
                <a:latin typeface="Aptos"/>
                <a:ea typeface="Aptos"/>
                <a:cs typeface="Aptos"/>
              </a:defRPr>
            </a:pPr>
            <a:r>
              <a:rPr sz="975" b="1">
                <a:solidFill>
                  <a:srgbClr val="60748A"/>
                </a:solidFill>
                <a:latin typeface="Aptos"/>
                <a:ea typeface="Aptos"/>
                <a:cs typeface="Aptos"/>
              </a:rPr>
              <a:t>ORT. F</a:t>
            </a:r>
          </a:p>
        </p:txBody>
      </p:sp>
      <p:sp>
        <p:nvSpPr>
          <p:cNvPr id="30" name="">
            <a:extLst xmlns:a="http://schemas.openxmlformats.org/drawingml/2006/main">
              <a:ext uri="{FF2B5EF4-FFF2-40B4-BE49-F238E27FC236}">
                <a16:creationId xmlns:a16="http://schemas.microsoft.com/office/drawing/2014/main" id="{B2B17914-0172-4056-A5F9-4A3C81AD4EDE}"/>
              </a:ext>
            </a:extLst>
          </p:cNvPr>
          <p:cNvSpPr>
            <a:spLocks xmlns:a="http://schemas.openxmlformats.org/drawingml/2006/main" noGrp="1"/>
          </p:cNvSpPr>
          <p:nvPr/>
        </p:nvSpPr>
        <p:spPr>
          <a:xfrm xmlns:a="http://schemas.openxmlformats.org/drawingml/2006/main">
            <a:off x="9734550" y="4562475"/>
            <a:ext cx="1047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0748A"/>
                </a:solidFill>
                <a:latin typeface="Aptos"/>
                <a:ea typeface="Aptos"/>
                <a:cs typeface="Aptos"/>
              </a:defRPr>
            </a:pPr>
            <a:r>
              <a:rPr sz="975" b="1">
                <a:solidFill>
                  <a:srgbClr val="60748A"/>
                </a:solidFill>
                <a:latin typeface="Aptos"/>
                <a:ea typeface="Aptos"/>
                <a:cs typeface="Aptos"/>
              </a:rPr>
              <a:t>ORT. M</a:t>
            </a:r>
          </a:p>
        </p:txBody>
      </p:sp>
      <p:sp>
        <p:nvSpPr>
          <p:cNvPr id="31" name="">
            <a:extLst xmlns:a="http://schemas.openxmlformats.org/drawingml/2006/main">
              <a:ext uri="{FF2B5EF4-FFF2-40B4-BE49-F238E27FC236}">
                <a16:creationId xmlns:a16="http://schemas.microsoft.com/office/drawing/2014/main" id="{BC801B1E-6FE3-4A4A-99A7-32DA8CA87953}"/>
              </a:ext>
            </a:extLst>
          </p:cNvPr>
          <p:cNvSpPr>
            <a:spLocks xmlns:a="http://schemas.openxmlformats.org/drawingml/2006/main" noGrp="1"/>
          </p:cNvSpPr>
          <p:nvPr/>
        </p:nvSpPr>
        <p:spPr>
          <a:xfrm xmlns:a="http://schemas.openxmlformats.org/drawingml/2006/main">
            <a:off x="4953000" y="4800600"/>
            <a:ext cx="6267450" cy="228600"/>
          </a:xfrm>
          <a:prstGeom xmlns:a="http://schemas.openxmlformats.org/drawingml/2006/main" prst="roundRect">
            <a:avLst>
              <a:gd name="adj" fmla="val 25000"/>
            </a:avLst>
          </a:prstGeom>
          <a:solidFill xmlns:a="http://schemas.openxmlformats.org/drawingml/2006/main">
            <a:srgbClr val="FDE9E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45DE0F9-2F38-4AE3-B7B3-CA1BEA6CA914}"/>
              </a:ext>
            </a:extLst>
          </p:cNvPr>
          <p:cNvSpPr>
            <a:spLocks xmlns:a="http://schemas.openxmlformats.org/drawingml/2006/main" noGrp="1"/>
          </p:cNvSpPr>
          <p:nvPr/>
        </p:nvSpPr>
        <p:spPr>
          <a:xfrm xmlns:a="http://schemas.openxmlformats.org/drawingml/2006/main">
            <a:off x="5048250" y="482917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F6A5B"/>
                </a:solidFill>
                <a:latin typeface="Aptos"/>
                <a:ea typeface="Aptos"/>
                <a:cs typeface="Aptos"/>
              </a:defRPr>
            </a:pPr>
            <a:r>
              <a:rPr sz="1125" b="1">
                <a:solidFill>
                  <a:srgbClr val="EF6A5B"/>
                </a:solidFill>
                <a:latin typeface="Aptos"/>
                <a:ea typeface="Aptos"/>
                <a:cs typeface="Aptos"/>
              </a:rPr>
              <a:t>At Risk</a:t>
            </a:r>
          </a:p>
        </p:txBody>
      </p:sp>
      <p:sp>
        <p:nvSpPr>
          <p:cNvPr id="33" name="">
            <a:extLst xmlns:a="http://schemas.openxmlformats.org/drawingml/2006/main">
              <a:ext uri="{FF2B5EF4-FFF2-40B4-BE49-F238E27FC236}">
                <a16:creationId xmlns:a16="http://schemas.microsoft.com/office/drawing/2014/main" id="{3D31D89E-F8A4-4377-B041-0248CFDE34DD}"/>
              </a:ext>
            </a:extLst>
          </p:cNvPr>
          <p:cNvSpPr>
            <a:spLocks xmlns:a="http://schemas.openxmlformats.org/drawingml/2006/main" noGrp="1"/>
          </p:cNvSpPr>
          <p:nvPr/>
        </p:nvSpPr>
        <p:spPr>
          <a:xfrm xmlns:a="http://schemas.openxmlformats.org/drawingml/2006/main">
            <a:off x="7067550" y="48291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0263D"/>
                </a:solidFill>
                <a:latin typeface="Aptos"/>
                <a:ea typeface="Aptos"/>
                <a:cs typeface="Aptos"/>
              </a:defRPr>
            </a:pPr>
            <a:r>
              <a:rPr sz="1125" b="1">
                <a:solidFill>
                  <a:srgbClr val="10263D"/>
                </a:solidFill>
                <a:latin typeface="Aptos"/>
                <a:ea typeface="Aptos"/>
                <a:cs typeface="Aptos"/>
              </a:rPr>
              <a:t>292</a:t>
            </a:r>
          </a:p>
        </p:txBody>
      </p:sp>
      <p:sp>
        <p:nvSpPr>
          <p:cNvPr id="34" name="">
            <a:extLst xmlns:a="http://schemas.openxmlformats.org/drawingml/2006/main">
              <a:ext uri="{FF2B5EF4-FFF2-40B4-BE49-F238E27FC236}">
                <a16:creationId xmlns:a16="http://schemas.microsoft.com/office/drawing/2014/main" id="{9FB8697D-F26D-410D-A9C1-CC349EBABD08}"/>
              </a:ext>
            </a:extLst>
          </p:cNvPr>
          <p:cNvSpPr>
            <a:spLocks xmlns:a="http://schemas.openxmlformats.org/drawingml/2006/main" noGrp="1"/>
          </p:cNvSpPr>
          <p:nvPr/>
        </p:nvSpPr>
        <p:spPr>
          <a:xfrm xmlns:a="http://schemas.openxmlformats.org/drawingml/2006/main">
            <a:off x="8229600" y="48291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0263D"/>
                </a:solidFill>
                <a:latin typeface="Aptos"/>
                <a:ea typeface="Aptos"/>
                <a:cs typeface="Aptos"/>
              </a:defRPr>
            </a:pPr>
            <a:r>
              <a:rPr sz="1125" b="1">
                <a:solidFill>
                  <a:srgbClr val="10263D"/>
                </a:solidFill>
                <a:latin typeface="Aptos"/>
                <a:ea typeface="Aptos"/>
                <a:cs typeface="Aptos"/>
              </a:rPr>
              <a:t>4,0</a:t>
            </a:r>
          </a:p>
        </p:txBody>
      </p:sp>
      <p:sp>
        <p:nvSpPr>
          <p:cNvPr id="35" name="">
            <a:extLst xmlns:a="http://schemas.openxmlformats.org/drawingml/2006/main">
              <a:ext uri="{FF2B5EF4-FFF2-40B4-BE49-F238E27FC236}">
                <a16:creationId xmlns:a16="http://schemas.microsoft.com/office/drawing/2014/main" id="{EA456395-26F4-4F0A-BF5C-4F4C114D268B}"/>
              </a:ext>
            </a:extLst>
          </p:cNvPr>
          <p:cNvSpPr>
            <a:spLocks xmlns:a="http://schemas.openxmlformats.org/drawingml/2006/main" noGrp="1"/>
          </p:cNvSpPr>
          <p:nvPr/>
        </p:nvSpPr>
        <p:spPr>
          <a:xfrm xmlns:a="http://schemas.openxmlformats.org/drawingml/2006/main">
            <a:off x="9734550" y="48291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0263D"/>
                </a:solidFill>
                <a:latin typeface="Aptos"/>
                <a:ea typeface="Aptos"/>
                <a:cs typeface="Aptos"/>
              </a:defRPr>
            </a:pPr>
            <a:r>
              <a:rPr sz="1125" b="1">
                <a:solidFill>
                  <a:srgbClr val="10263D"/>
                </a:solidFill>
                <a:latin typeface="Aptos"/>
                <a:ea typeface="Aptos"/>
                <a:cs typeface="Aptos"/>
              </a:rPr>
              <a:t>406,5</a:t>
            </a:r>
          </a:p>
        </p:txBody>
      </p:sp>
      <p:sp>
        <p:nvSpPr>
          <p:cNvPr id="36" name="">
            <a:extLst xmlns:a="http://schemas.openxmlformats.org/drawingml/2006/main">
              <a:ext uri="{FF2B5EF4-FFF2-40B4-BE49-F238E27FC236}">
                <a16:creationId xmlns:a16="http://schemas.microsoft.com/office/drawing/2014/main" id="{84AE9187-DBA0-4B9B-9F2B-0D0DC46E0F15}"/>
              </a:ext>
            </a:extLst>
          </p:cNvPr>
          <p:cNvSpPr>
            <a:spLocks xmlns:a="http://schemas.openxmlformats.org/drawingml/2006/main" noGrp="1"/>
          </p:cNvSpPr>
          <p:nvPr/>
        </p:nvSpPr>
        <p:spPr>
          <a:xfrm xmlns:a="http://schemas.openxmlformats.org/drawingml/2006/main">
            <a:off x="5048250" y="5067300"/>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10263D"/>
                </a:solidFill>
                <a:latin typeface="Aptos"/>
                <a:ea typeface="Aptos"/>
                <a:cs typeface="Aptos"/>
              </a:defRPr>
            </a:pPr>
            <a:r>
              <a:rPr sz="1125" b="0">
                <a:solidFill>
                  <a:srgbClr val="10263D"/>
                </a:solidFill>
                <a:latin typeface="Aptos"/>
                <a:ea typeface="Aptos"/>
                <a:cs typeface="Aptos"/>
              </a:rPr>
              <a:t>Hibernating</a:t>
            </a:r>
          </a:p>
        </p:txBody>
      </p:sp>
      <p:sp>
        <p:nvSpPr>
          <p:cNvPr id="37" name="">
            <a:extLst xmlns:a="http://schemas.openxmlformats.org/drawingml/2006/main">
              <a:ext uri="{FF2B5EF4-FFF2-40B4-BE49-F238E27FC236}">
                <a16:creationId xmlns:a16="http://schemas.microsoft.com/office/drawing/2014/main" id="{50A3B17E-6208-4E45-8585-11ADBEF7059D}"/>
              </a:ext>
            </a:extLst>
          </p:cNvPr>
          <p:cNvSpPr>
            <a:spLocks xmlns:a="http://schemas.openxmlformats.org/drawingml/2006/main" noGrp="1"/>
          </p:cNvSpPr>
          <p:nvPr/>
        </p:nvSpPr>
        <p:spPr>
          <a:xfrm xmlns:a="http://schemas.openxmlformats.org/drawingml/2006/main">
            <a:off x="7067550" y="50673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0263D"/>
                </a:solidFill>
                <a:latin typeface="Aptos"/>
                <a:ea typeface="Aptos"/>
                <a:cs typeface="Aptos"/>
              </a:defRPr>
            </a:pPr>
            <a:r>
              <a:rPr sz="1125" b="0">
                <a:solidFill>
                  <a:srgbClr val="10263D"/>
                </a:solidFill>
                <a:latin typeface="Aptos"/>
                <a:ea typeface="Aptos"/>
                <a:cs typeface="Aptos"/>
              </a:rPr>
              <a:t>1.271</a:t>
            </a:r>
          </a:p>
        </p:txBody>
      </p:sp>
      <p:sp>
        <p:nvSpPr>
          <p:cNvPr id="38" name="">
            <a:extLst xmlns:a="http://schemas.openxmlformats.org/drawingml/2006/main">
              <a:ext uri="{FF2B5EF4-FFF2-40B4-BE49-F238E27FC236}">
                <a16:creationId xmlns:a16="http://schemas.microsoft.com/office/drawing/2014/main" id="{CEF233B1-CBF5-4287-88A6-0E517B09528F}"/>
              </a:ext>
            </a:extLst>
          </p:cNvPr>
          <p:cNvSpPr>
            <a:spLocks xmlns:a="http://schemas.openxmlformats.org/drawingml/2006/main" noGrp="1"/>
          </p:cNvSpPr>
          <p:nvPr/>
        </p:nvSpPr>
        <p:spPr>
          <a:xfrm xmlns:a="http://schemas.openxmlformats.org/drawingml/2006/main">
            <a:off x="8229600" y="50673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0263D"/>
                </a:solidFill>
                <a:latin typeface="Aptos"/>
                <a:ea typeface="Aptos"/>
                <a:cs typeface="Aptos"/>
              </a:defRPr>
            </a:pPr>
            <a:r>
              <a:rPr sz="1125" b="0">
                <a:solidFill>
                  <a:srgbClr val="10263D"/>
                </a:solidFill>
                <a:latin typeface="Aptos"/>
                <a:ea typeface="Aptos"/>
                <a:cs typeface="Aptos"/>
              </a:rPr>
              <a:t>1,3</a:t>
            </a:r>
          </a:p>
        </p:txBody>
      </p:sp>
      <p:sp>
        <p:nvSpPr>
          <p:cNvPr id="39" name="">
            <a:extLst xmlns:a="http://schemas.openxmlformats.org/drawingml/2006/main">
              <a:ext uri="{FF2B5EF4-FFF2-40B4-BE49-F238E27FC236}">
                <a16:creationId xmlns:a16="http://schemas.microsoft.com/office/drawing/2014/main" id="{DAAED413-5E8C-4C8C-9E35-175719C86C92}"/>
              </a:ext>
            </a:extLst>
          </p:cNvPr>
          <p:cNvSpPr>
            <a:spLocks xmlns:a="http://schemas.openxmlformats.org/drawingml/2006/main" noGrp="1"/>
          </p:cNvSpPr>
          <p:nvPr/>
        </p:nvSpPr>
        <p:spPr>
          <a:xfrm xmlns:a="http://schemas.openxmlformats.org/drawingml/2006/main">
            <a:off x="9734550" y="50673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0263D"/>
                </a:solidFill>
                <a:latin typeface="Aptos"/>
                <a:ea typeface="Aptos"/>
                <a:cs typeface="Aptos"/>
              </a:defRPr>
            </a:pPr>
            <a:r>
              <a:rPr sz="1125" b="0">
                <a:solidFill>
                  <a:srgbClr val="10263D"/>
                </a:solidFill>
                <a:latin typeface="Aptos"/>
                <a:ea typeface="Aptos"/>
                <a:cs typeface="Aptos"/>
              </a:rPr>
              <a:t>123,1</a:t>
            </a:r>
          </a:p>
        </p:txBody>
      </p:sp>
      <p:sp>
        <p:nvSpPr>
          <p:cNvPr id="40" name="">
            <a:extLst xmlns:a="http://schemas.openxmlformats.org/drawingml/2006/main">
              <a:ext uri="{FF2B5EF4-FFF2-40B4-BE49-F238E27FC236}">
                <a16:creationId xmlns:a16="http://schemas.microsoft.com/office/drawing/2014/main" id="{20DC3001-0504-4A45-A0C9-10247C0FF5CA}"/>
              </a:ext>
            </a:extLst>
          </p:cNvPr>
          <p:cNvSpPr>
            <a:spLocks xmlns:a="http://schemas.openxmlformats.org/drawingml/2006/main" noGrp="1"/>
          </p:cNvSpPr>
          <p:nvPr/>
        </p:nvSpPr>
        <p:spPr>
          <a:xfrm xmlns:a="http://schemas.openxmlformats.org/drawingml/2006/main">
            <a:off x="5048250" y="53054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10263D"/>
                </a:solidFill>
                <a:latin typeface="Aptos"/>
                <a:ea typeface="Aptos"/>
                <a:cs typeface="Aptos"/>
              </a:defRPr>
            </a:pPr>
            <a:r>
              <a:rPr sz="1125" b="0">
                <a:solidFill>
                  <a:srgbClr val="10263D"/>
                </a:solidFill>
                <a:latin typeface="Aptos"/>
                <a:ea typeface="Aptos"/>
                <a:cs typeface="Aptos"/>
              </a:rPr>
              <a:t>Need Attention</a:t>
            </a:r>
          </a:p>
        </p:txBody>
      </p:sp>
      <p:sp>
        <p:nvSpPr>
          <p:cNvPr id="41" name="">
            <a:extLst xmlns:a="http://schemas.openxmlformats.org/drawingml/2006/main">
              <a:ext uri="{FF2B5EF4-FFF2-40B4-BE49-F238E27FC236}">
                <a16:creationId xmlns:a16="http://schemas.microsoft.com/office/drawing/2014/main" id="{D67BA227-FCB2-4F49-916C-8F57D8B197E3}"/>
              </a:ext>
            </a:extLst>
          </p:cNvPr>
          <p:cNvSpPr>
            <a:spLocks xmlns:a="http://schemas.openxmlformats.org/drawingml/2006/main" noGrp="1"/>
          </p:cNvSpPr>
          <p:nvPr/>
        </p:nvSpPr>
        <p:spPr>
          <a:xfrm xmlns:a="http://schemas.openxmlformats.org/drawingml/2006/main">
            <a:off x="7067550" y="5305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0263D"/>
                </a:solidFill>
                <a:latin typeface="Aptos"/>
                <a:ea typeface="Aptos"/>
                <a:cs typeface="Aptos"/>
              </a:defRPr>
            </a:pPr>
            <a:r>
              <a:rPr sz="1125" b="0">
                <a:solidFill>
                  <a:srgbClr val="10263D"/>
                </a:solidFill>
                <a:latin typeface="Aptos"/>
                <a:ea typeface="Aptos"/>
                <a:cs typeface="Aptos"/>
              </a:rPr>
              <a:t>251</a:t>
            </a:r>
          </a:p>
        </p:txBody>
      </p:sp>
      <p:sp>
        <p:nvSpPr>
          <p:cNvPr id="42" name="">
            <a:extLst xmlns:a="http://schemas.openxmlformats.org/drawingml/2006/main">
              <a:ext uri="{FF2B5EF4-FFF2-40B4-BE49-F238E27FC236}">
                <a16:creationId xmlns:a16="http://schemas.microsoft.com/office/drawing/2014/main" id="{883CB132-A905-4054-94FF-2E5EBCBCAB19}"/>
              </a:ext>
            </a:extLst>
          </p:cNvPr>
          <p:cNvSpPr>
            <a:spLocks xmlns:a="http://schemas.openxmlformats.org/drawingml/2006/main" noGrp="1"/>
          </p:cNvSpPr>
          <p:nvPr/>
        </p:nvSpPr>
        <p:spPr>
          <a:xfrm xmlns:a="http://schemas.openxmlformats.org/drawingml/2006/main">
            <a:off x="8229600" y="53054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0263D"/>
                </a:solidFill>
                <a:latin typeface="Aptos"/>
                <a:ea typeface="Aptos"/>
                <a:cs typeface="Aptos"/>
              </a:defRPr>
            </a:pPr>
            <a:r>
              <a:rPr sz="1125" b="0">
                <a:solidFill>
                  <a:srgbClr val="10263D"/>
                </a:solidFill>
                <a:latin typeface="Aptos"/>
                <a:ea typeface="Aptos"/>
                <a:cs typeface="Aptos"/>
              </a:rPr>
              <a:t>4,0</a:t>
            </a:r>
          </a:p>
        </p:txBody>
      </p:sp>
      <p:sp>
        <p:nvSpPr>
          <p:cNvPr id="43" name="">
            <a:extLst xmlns:a="http://schemas.openxmlformats.org/drawingml/2006/main">
              <a:ext uri="{FF2B5EF4-FFF2-40B4-BE49-F238E27FC236}">
                <a16:creationId xmlns:a16="http://schemas.microsoft.com/office/drawing/2014/main" id="{56DC5C62-64E2-4D65-BFB0-93AF4D872E81}"/>
              </a:ext>
            </a:extLst>
          </p:cNvPr>
          <p:cNvSpPr>
            <a:spLocks xmlns:a="http://schemas.openxmlformats.org/drawingml/2006/main" noGrp="1"/>
          </p:cNvSpPr>
          <p:nvPr/>
        </p:nvSpPr>
        <p:spPr>
          <a:xfrm xmlns:a="http://schemas.openxmlformats.org/drawingml/2006/main">
            <a:off x="9734550" y="53054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10263D"/>
                </a:solidFill>
                <a:latin typeface="Aptos"/>
                <a:ea typeface="Aptos"/>
                <a:cs typeface="Aptos"/>
              </a:defRPr>
            </a:pPr>
            <a:r>
              <a:rPr sz="1125" b="0">
                <a:solidFill>
                  <a:srgbClr val="10263D"/>
                </a:solidFill>
                <a:latin typeface="Aptos"/>
                <a:ea typeface="Aptos"/>
                <a:cs typeface="Aptos"/>
              </a:rPr>
              <a:t>437,2</a:t>
            </a:r>
          </a:p>
        </p:txBody>
      </p:sp>
      <p:sp>
        <p:nvSpPr>
          <p:cNvPr id="44" name="">
            <a:extLst xmlns:a="http://schemas.openxmlformats.org/drawingml/2006/main">
              <a:ext uri="{FF2B5EF4-FFF2-40B4-BE49-F238E27FC236}">
                <a16:creationId xmlns:a16="http://schemas.microsoft.com/office/drawing/2014/main" id="{E81BD2D5-5449-479B-ABAD-0A63CBB1B64D}"/>
              </a:ext>
            </a:extLst>
          </p:cNvPr>
          <p:cNvSpPr>
            <a:spLocks xmlns:a="http://schemas.openxmlformats.org/drawingml/2006/main" noGrp="1"/>
          </p:cNvSpPr>
          <p:nvPr/>
        </p:nvSpPr>
        <p:spPr>
          <a:xfrm xmlns:a="http://schemas.openxmlformats.org/drawingml/2006/main">
            <a:off x="4857750" y="5743575"/>
            <a:ext cx="3848100" cy="304800"/>
          </a:xfrm>
          <a:prstGeom xmlns:a="http://schemas.openxmlformats.org/drawingml/2006/main" prst="roundRect">
            <a:avLst>
              <a:gd name="adj" fmla="val 50000"/>
            </a:avLst>
          </a:prstGeom>
          <a:solidFill xmlns:a="http://schemas.openxmlformats.org/drawingml/2006/main">
            <a:srgbClr val="FBE5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7A0FEB5-2CF7-4423-BD59-A265F0CB49BB}"/>
              </a:ext>
            </a:extLst>
          </p:cNvPr>
          <p:cNvSpPr>
            <a:spLocks xmlns:a="http://schemas.openxmlformats.org/drawingml/2006/main" noGrp="1"/>
          </p:cNvSpPr>
          <p:nvPr/>
        </p:nvSpPr>
        <p:spPr>
          <a:xfrm xmlns:a="http://schemas.openxmlformats.org/drawingml/2006/main">
            <a:off x="4953000" y="5791200"/>
            <a:ext cx="365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D84F55"/>
                </a:solidFill>
                <a:latin typeface="Aptos"/>
                <a:ea typeface="Aptos"/>
                <a:cs typeface="Aptos"/>
              </a:defRPr>
            </a:pPr>
            <a:r>
              <a:rPr sz="1050" b="1">
                <a:solidFill>
                  <a:srgbClr val="D84F55"/>
                </a:solidFill>
                <a:latin typeface="Aptos"/>
                <a:ea typeface="Aptos"/>
                <a:cs typeface="Aptos"/>
              </a:rPr>
              <a:t>4 “Can’t Lose Them” müşterisi için birebir temas</a:t>
            </a:r>
          </a:p>
        </p:txBody>
      </p:sp>
      <p:sp>
        <p:nvSpPr>
          <p:cNvPr id="46" name="">
            <a:extLst xmlns:a="http://schemas.openxmlformats.org/drawingml/2006/main">
              <a:ext uri="{FF2B5EF4-FFF2-40B4-BE49-F238E27FC236}">
                <a16:creationId xmlns:a16="http://schemas.microsoft.com/office/drawing/2014/main" id="{E57BB22C-C6AC-4A32-89D7-A15A6450320C}"/>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47" name="">
            <a:extLst xmlns:a="http://schemas.openxmlformats.org/drawingml/2006/main">
              <a:ext uri="{FF2B5EF4-FFF2-40B4-BE49-F238E27FC236}">
                <a16:creationId xmlns:a16="http://schemas.microsoft.com/office/drawing/2014/main" id="{ECE97A09-17C7-4DE2-B708-BF659925FECC}"/>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48" name="">
            <a:extLst xmlns:a="http://schemas.openxmlformats.org/drawingml/2006/main">
              <a:ext uri="{FF2B5EF4-FFF2-40B4-BE49-F238E27FC236}">
                <a16:creationId xmlns:a16="http://schemas.microsoft.com/office/drawing/2014/main" id="{403D46F8-44E2-412C-8EF2-DB59B2022A0A}"/>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174825590"/>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703B2BD-EB32-4C09-AD3E-C2C41A15F50E}"/>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4FB15A-9DED-4A80-BB7E-CF4A757E44FB}"/>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1 • KAMPANYA TASARIMI</a:t>
            </a:r>
          </a:p>
        </p:txBody>
      </p:sp>
      <p:sp>
        <p:nvSpPr>
          <p:cNvPr id="3" name="">
            <a:extLst xmlns:a="http://schemas.openxmlformats.org/drawingml/2006/main">
              <a:ext uri="{FF2B5EF4-FFF2-40B4-BE49-F238E27FC236}">
                <a16:creationId xmlns:a16="http://schemas.microsoft.com/office/drawing/2014/main" id="{49B2DD44-2309-45AA-AF4E-20CE5B60EC54}"/>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319"/>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“Seni Özledik” win‑back kampanyası: 90 günde öğren, sonra ölçekle</a:t>
            </a:r>
          </a:p>
        </p:txBody>
      </p:sp>
      <p:sp>
        <p:nvSpPr>
          <p:cNvPr id="4" name="">
            <a:extLst xmlns:a="http://schemas.openxmlformats.org/drawingml/2006/main">
              <a:ext uri="{FF2B5EF4-FFF2-40B4-BE49-F238E27FC236}">
                <a16:creationId xmlns:a16="http://schemas.microsoft.com/office/drawing/2014/main" id="{D9DE9303-490D-4DE0-AC16-3E8456AAB2B3}"/>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Tekliften önce hedefleme; indirimden önce artımlılık testi</a:t>
            </a:r>
          </a:p>
        </p:txBody>
      </p:sp>
      <p:sp>
        <p:nvSpPr>
          <p:cNvPr id="5" name="">
            <a:extLst xmlns:a="http://schemas.openxmlformats.org/drawingml/2006/main">
              <a:ext uri="{FF2B5EF4-FFF2-40B4-BE49-F238E27FC236}">
                <a16:creationId xmlns:a16="http://schemas.microsoft.com/office/drawing/2014/main" id="{F76B7987-D52E-4D82-B715-8089A4EB0094}"/>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7A943CE4-3352-4101-90B5-11875DC4C4D4}"/>
              </a:ext>
            </a:extLst>
          </p:cNvPr>
          <p:cNvSpPr>
            <a:spLocks xmlns:a="http://schemas.openxmlformats.org/drawingml/2006/main" noGrp="1"/>
          </p:cNvSpPr>
          <p:nvPr/>
        </p:nvSpPr>
        <p:spPr>
          <a:xfrm xmlns:a="http://schemas.openxmlformats.org/drawingml/2006/main">
            <a:off x="666750" y="1981200"/>
            <a:ext cx="2352675" cy="323850"/>
          </a:xfrm>
          <a:prstGeom xmlns:a="http://schemas.openxmlformats.org/drawingml/2006/main" prst="roundRect">
            <a:avLst>
              <a:gd name="adj" fmla="val 50000"/>
            </a:avLst>
          </a:prstGeom>
          <a:solidFill xmlns:a="http://schemas.openxmlformats.org/drawingml/2006/main">
            <a:srgbClr val="FDE9E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D105980-D55E-4261-9CF4-7A10E991E648}"/>
              </a:ext>
            </a:extLst>
          </p:cNvPr>
          <p:cNvSpPr>
            <a:spLocks xmlns:a="http://schemas.openxmlformats.org/drawingml/2006/main" noGrp="1"/>
          </p:cNvSpPr>
          <p:nvPr/>
        </p:nvSpPr>
        <p:spPr>
          <a:xfrm xmlns:a="http://schemas.openxmlformats.org/drawingml/2006/main">
            <a:off x="762000" y="2028825"/>
            <a:ext cx="2162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EF6A5B"/>
                </a:solidFill>
                <a:latin typeface="Aptos"/>
                <a:ea typeface="Aptos"/>
                <a:cs typeface="Aptos"/>
              </a:defRPr>
            </a:pPr>
            <a:r>
              <a:rPr sz="1050" b="1">
                <a:solidFill>
                  <a:srgbClr val="EF6A5B"/>
                </a:solidFill>
                <a:latin typeface="Aptos"/>
                <a:ea typeface="Aptos"/>
                <a:cs typeface="Aptos"/>
              </a:rPr>
              <a:t>HEDEF KİTLE: 292 AT RISK</a:t>
            </a:r>
          </a:p>
        </p:txBody>
      </p:sp>
      <p:sp>
        <p:nvSpPr>
          <p:cNvPr id="8" name="">
            <a:extLst xmlns:a="http://schemas.openxmlformats.org/drawingml/2006/main">
              <a:ext uri="{FF2B5EF4-FFF2-40B4-BE49-F238E27FC236}">
                <a16:creationId xmlns:a16="http://schemas.microsoft.com/office/drawing/2014/main" id="{33D125EE-F0B9-42E5-961B-C4E7804232A3}"/>
              </a:ext>
            </a:extLst>
          </p:cNvPr>
          <p:cNvSpPr>
            <a:spLocks xmlns:a="http://schemas.openxmlformats.org/drawingml/2006/main" noGrp="1"/>
          </p:cNvSpPr>
          <p:nvPr/>
        </p:nvSpPr>
        <p:spPr>
          <a:xfrm xmlns:a="http://schemas.openxmlformats.org/drawingml/2006/main">
            <a:off x="3219450" y="20097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Amaç: 30 gün içinde yeniden alışverişi tetiklemek ve kalıcı ilişkiyi yeniden başlatmak.</a:t>
            </a:r>
          </a:p>
        </p:txBody>
      </p:sp>
      <p:sp>
        <p:nvSpPr>
          <p:cNvPr id="9" name="">
            <a:extLst xmlns:a="http://schemas.openxmlformats.org/drawingml/2006/main">
              <a:ext uri="{FF2B5EF4-FFF2-40B4-BE49-F238E27FC236}">
                <a16:creationId xmlns:a16="http://schemas.microsoft.com/office/drawing/2014/main" id="{0F6A566D-12BF-4CC2-A673-DEC345E0699A}"/>
              </a:ext>
            </a:extLst>
          </p:cNvPr>
          <p:cNvSpPr>
            <a:spLocks xmlns:a="http://schemas.openxmlformats.org/drawingml/2006/main" noGrp="1"/>
          </p:cNvSpPr>
          <p:nvPr/>
        </p:nvSpPr>
        <p:spPr>
          <a:xfrm xmlns:a="http://schemas.openxmlformats.org/drawingml/2006/main">
            <a:off x="676275" y="2638425"/>
            <a:ext cx="3162300" cy="2447925"/>
          </a:xfrm>
          <a:prstGeom xmlns:a="http://schemas.openxmlformats.org/drawingml/2006/main" prst="roundRect">
            <a:avLst>
              <a:gd name="adj" fmla="val 6226"/>
            </a:avLst>
          </a:prstGeom>
          <a:solidFill xmlns:a="http://schemas.openxmlformats.org/drawingml/2006/main">
            <a:srgbClr val="FFFFFF"/>
          </a:solidFill>
          <a:ln xmlns:a="http://schemas.openxmlformats.org/drawingml/2006/main" w="9525">
            <a:solidFill>
              <a:srgbClr val="DCE5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26D66B9-68EC-4116-96BA-023325F12566}"/>
              </a:ext>
            </a:extLst>
          </p:cNvPr>
          <p:cNvSpPr>
            <a:spLocks xmlns:a="http://schemas.openxmlformats.org/drawingml/2006/main" noGrp="1"/>
          </p:cNvSpPr>
          <p:nvPr/>
        </p:nvSpPr>
        <p:spPr>
          <a:xfrm xmlns:a="http://schemas.openxmlformats.org/drawingml/2006/main">
            <a:off x="904875" y="2867025"/>
            <a:ext cx="457200" cy="457200"/>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F4CE158-901E-4695-B5E7-92F9F15EB918}"/>
              </a:ext>
            </a:extLst>
          </p:cNvPr>
          <p:cNvSpPr>
            <a:spLocks xmlns:a="http://schemas.openxmlformats.org/drawingml/2006/main" noGrp="1"/>
          </p:cNvSpPr>
          <p:nvPr/>
        </p:nvSpPr>
        <p:spPr>
          <a:xfrm xmlns:a="http://schemas.openxmlformats.org/drawingml/2006/main">
            <a:off x="904875" y="29908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2AEC0E59-9EB0-463F-86DA-7DD66DE8E570}"/>
              </a:ext>
            </a:extLst>
          </p:cNvPr>
          <p:cNvSpPr>
            <a:spLocks xmlns:a="http://schemas.openxmlformats.org/drawingml/2006/main" noGrp="1"/>
          </p:cNvSpPr>
          <p:nvPr/>
        </p:nvSpPr>
        <p:spPr>
          <a:xfrm xmlns:a="http://schemas.openxmlformats.org/drawingml/2006/main">
            <a:off x="1495425" y="2924175"/>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263D"/>
                </a:solidFill>
                <a:latin typeface="Aptos"/>
                <a:ea typeface="Aptos"/>
                <a:cs typeface="Aptos"/>
              </a:defRPr>
            </a:pPr>
            <a:r>
              <a:rPr sz="1800" b="1">
                <a:solidFill>
                  <a:srgbClr val="10263D"/>
                </a:solidFill>
                <a:latin typeface="Aptos"/>
                <a:ea typeface="Aptos"/>
                <a:cs typeface="Aptos"/>
              </a:rPr>
              <a:t>Kitleyi katmanla</a:t>
            </a:r>
          </a:p>
        </p:txBody>
      </p:sp>
      <p:sp>
        <p:nvSpPr>
          <p:cNvPr id="13" name="">
            <a:extLst xmlns:a="http://schemas.openxmlformats.org/drawingml/2006/main">
              <a:ext uri="{FF2B5EF4-FFF2-40B4-BE49-F238E27FC236}">
                <a16:creationId xmlns:a16="http://schemas.microsoft.com/office/drawing/2014/main" id="{2A7C0F2F-F898-4007-9B85-2669E62C76EC}"/>
              </a:ext>
            </a:extLst>
          </p:cNvPr>
          <p:cNvSpPr>
            <a:spLocks xmlns:a="http://schemas.openxmlformats.org/drawingml/2006/main" noGrp="1"/>
          </p:cNvSpPr>
          <p:nvPr/>
        </p:nvSpPr>
        <p:spPr>
          <a:xfrm xmlns:a="http://schemas.openxmlformats.org/drawingml/2006/main">
            <a:off x="933450" y="3581400"/>
            <a:ext cx="66675" cy="66675"/>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6F82E88-ECB7-4245-8626-F1BC171A509E}"/>
              </a:ext>
            </a:extLst>
          </p:cNvPr>
          <p:cNvSpPr>
            <a:spLocks xmlns:a="http://schemas.openxmlformats.org/drawingml/2006/main" noGrp="1"/>
          </p:cNvSpPr>
          <p:nvPr/>
        </p:nvSpPr>
        <p:spPr>
          <a:xfrm xmlns:a="http://schemas.openxmlformats.org/drawingml/2006/main">
            <a:off x="1114425" y="35052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%10 kontrol grubu ayır</a:t>
            </a:r>
          </a:p>
        </p:txBody>
      </p:sp>
      <p:sp>
        <p:nvSpPr>
          <p:cNvPr id="15" name="">
            <a:extLst xmlns:a="http://schemas.openxmlformats.org/drawingml/2006/main">
              <a:ext uri="{FF2B5EF4-FFF2-40B4-BE49-F238E27FC236}">
                <a16:creationId xmlns:a16="http://schemas.microsoft.com/office/drawing/2014/main" id="{7D14951E-6FC5-4118-98CF-A7C7883B49A5}"/>
              </a:ext>
            </a:extLst>
          </p:cNvPr>
          <p:cNvSpPr>
            <a:spLocks xmlns:a="http://schemas.openxmlformats.org/drawingml/2006/main" noGrp="1"/>
          </p:cNvSpPr>
          <p:nvPr/>
        </p:nvSpPr>
        <p:spPr>
          <a:xfrm xmlns:a="http://schemas.openxmlformats.org/drawingml/2006/main">
            <a:off x="933450" y="4076700"/>
            <a:ext cx="66675" cy="66675"/>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8F183DE-9B64-48E8-9D04-89E72BB78434}"/>
              </a:ext>
            </a:extLst>
          </p:cNvPr>
          <p:cNvSpPr>
            <a:spLocks xmlns:a="http://schemas.openxmlformats.org/drawingml/2006/main" noGrp="1"/>
          </p:cNvSpPr>
          <p:nvPr/>
        </p:nvSpPr>
        <p:spPr>
          <a:xfrm xmlns:a="http://schemas.openxmlformats.org/drawingml/2006/main">
            <a:off x="1114425" y="40005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Monetary ve ürün ilgisine göre kişiselleştir</a:t>
            </a:r>
          </a:p>
        </p:txBody>
      </p:sp>
      <p:sp>
        <p:nvSpPr>
          <p:cNvPr id="17" name="">
            <a:extLst xmlns:a="http://schemas.openxmlformats.org/drawingml/2006/main">
              <a:ext uri="{FF2B5EF4-FFF2-40B4-BE49-F238E27FC236}">
                <a16:creationId xmlns:a16="http://schemas.microsoft.com/office/drawing/2014/main" id="{09B7FA4C-326A-4F12-925E-8B46B9A0A59F}"/>
              </a:ext>
            </a:extLst>
          </p:cNvPr>
          <p:cNvSpPr>
            <a:spLocks xmlns:a="http://schemas.openxmlformats.org/drawingml/2006/main" noGrp="1"/>
          </p:cNvSpPr>
          <p:nvPr/>
        </p:nvSpPr>
        <p:spPr>
          <a:xfrm xmlns:a="http://schemas.openxmlformats.org/drawingml/2006/main">
            <a:off x="933450" y="4572000"/>
            <a:ext cx="66675" cy="66675"/>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2AA526B-3891-4530-8F1D-649705D30766}"/>
              </a:ext>
            </a:extLst>
          </p:cNvPr>
          <p:cNvSpPr>
            <a:spLocks xmlns:a="http://schemas.openxmlformats.org/drawingml/2006/main" noGrp="1"/>
          </p:cNvSpPr>
          <p:nvPr/>
        </p:nvSpPr>
        <p:spPr>
          <a:xfrm xmlns:a="http://schemas.openxmlformats.org/drawingml/2006/main">
            <a:off x="1114425" y="44958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Can’t Lose Them’i birebir kanala çıkar</a:t>
            </a:r>
          </a:p>
        </p:txBody>
      </p:sp>
      <p:sp>
        <p:nvSpPr>
          <p:cNvPr id="19" name="">
            <a:extLst xmlns:a="http://schemas.openxmlformats.org/drawingml/2006/main">
              <a:ext uri="{FF2B5EF4-FFF2-40B4-BE49-F238E27FC236}">
                <a16:creationId xmlns:a16="http://schemas.microsoft.com/office/drawing/2014/main" id="{4998BE62-F816-4C06-99AE-51A59FEBECF1}"/>
              </a:ext>
            </a:extLst>
          </p:cNvPr>
          <p:cNvSpPr>
            <a:spLocks xmlns:a="http://schemas.openxmlformats.org/drawingml/2006/main" noGrp="1"/>
          </p:cNvSpPr>
          <p:nvPr/>
        </p:nvSpPr>
        <p:spPr>
          <a:xfrm xmlns:a="http://schemas.openxmlformats.org/drawingml/2006/main">
            <a:off x="3848100" y="3867150"/>
            <a:ext cx="295275" cy="0"/>
          </a:xfrm>
          <a:prstGeom xmlns:a="http://schemas.openxmlformats.org/drawingml/2006/main" prst="line">
            <a:avLst/>
          </a:prstGeom>
          <a:noFill xmlns:a="http://schemas.openxmlformats.org/drawingml/2006/main"/>
          <a:ln xmlns:a="http://schemas.openxmlformats.org/drawingml/2006/main" w="28575">
            <a:solidFill>
              <a:srgbClr val="DCE5EE"/>
            </a:solidFill>
            <a:prstDash val="solid"/>
          </a:ln>
        </p:spPr>
      </p:sp>
      <p:sp>
        <p:nvSpPr>
          <p:cNvPr id="20" name="">
            <a:extLst xmlns:a="http://schemas.openxmlformats.org/drawingml/2006/main">
              <a:ext uri="{FF2B5EF4-FFF2-40B4-BE49-F238E27FC236}">
                <a16:creationId xmlns:a16="http://schemas.microsoft.com/office/drawing/2014/main" id="{82750D6D-146B-4018-8FF2-974262BA6751}"/>
              </a:ext>
            </a:extLst>
          </p:cNvPr>
          <p:cNvSpPr>
            <a:spLocks xmlns:a="http://schemas.openxmlformats.org/drawingml/2006/main" noGrp="1"/>
          </p:cNvSpPr>
          <p:nvPr/>
        </p:nvSpPr>
        <p:spPr>
          <a:xfrm xmlns:a="http://schemas.openxmlformats.org/drawingml/2006/main">
            <a:off x="4143375" y="2638425"/>
            <a:ext cx="3162300" cy="2447925"/>
          </a:xfrm>
          <a:prstGeom xmlns:a="http://schemas.openxmlformats.org/drawingml/2006/main" prst="roundRect">
            <a:avLst>
              <a:gd name="adj" fmla="val 6226"/>
            </a:avLst>
          </a:prstGeom>
          <a:solidFill xmlns:a="http://schemas.openxmlformats.org/drawingml/2006/main">
            <a:srgbClr val="FFFFFF"/>
          </a:solidFill>
          <a:ln xmlns:a="http://schemas.openxmlformats.org/drawingml/2006/main" w="9525">
            <a:solidFill>
              <a:srgbClr val="DCE5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65F42855-7C52-436C-9EB3-3F924D16C668}"/>
              </a:ext>
            </a:extLst>
          </p:cNvPr>
          <p:cNvSpPr>
            <a:spLocks xmlns:a="http://schemas.openxmlformats.org/drawingml/2006/main" noGrp="1"/>
          </p:cNvSpPr>
          <p:nvPr/>
        </p:nvSpPr>
        <p:spPr>
          <a:xfrm xmlns:a="http://schemas.openxmlformats.org/drawingml/2006/main">
            <a:off x="4371975" y="2867025"/>
            <a:ext cx="457200" cy="457200"/>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A091E8D-1A4B-4E06-81D6-BDA6D6ACCC8F}"/>
              </a:ext>
            </a:extLst>
          </p:cNvPr>
          <p:cNvSpPr>
            <a:spLocks xmlns:a="http://schemas.openxmlformats.org/drawingml/2006/main" noGrp="1"/>
          </p:cNvSpPr>
          <p:nvPr/>
        </p:nvSpPr>
        <p:spPr>
          <a:xfrm xmlns:a="http://schemas.openxmlformats.org/drawingml/2006/main">
            <a:off x="4371975" y="29908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02</a:t>
            </a:r>
          </a:p>
        </p:txBody>
      </p:sp>
      <p:sp>
        <p:nvSpPr>
          <p:cNvPr id="23" name="">
            <a:extLst xmlns:a="http://schemas.openxmlformats.org/drawingml/2006/main">
              <a:ext uri="{FF2B5EF4-FFF2-40B4-BE49-F238E27FC236}">
                <a16:creationId xmlns:a16="http://schemas.microsoft.com/office/drawing/2014/main" id="{C5A5DB74-3E36-469A-9AF2-B069389D50F5}"/>
              </a:ext>
            </a:extLst>
          </p:cNvPr>
          <p:cNvSpPr>
            <a:spLocks xmlns:a="http://schemas.openxmlformats.org/drawingml/2006/main" noGrp="1"/>
          </p:cNvSpPr>
          <p:nvPr/>
        </p:nvSpPr>
        <p:spPr>
          <a:xfrm xmlns:a="http://schemas.openxmlformats.org/drawingml/2006/main">
            <a:off x="4962525" y="2924175"/>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263D"/>
                </a:solidFill>
                <a:latin typeface="Aptos"/>
                <a:ea typeface="Aptos"/>
                <a:cs typeface="Aptos"/>
              </a:defRPr>
            </a:pPr>
            <a:r>
              <a:rPr sz="1800" b="1">
                <a:solidFill>
                  <a:srgbClr val="10263D"/>
                </a:solidFill>
                <a:latin typeface="Aptos"/>
                <a:ea typeface="Aptos"/>
                <a:cs typeface="Aptos"/>
              </a:rPr>
              <a:t>3 temaslı akış</a:t>
            </a:r>
          </a:p>
        </p:txBody>
      </p:sp>
      <p:sp>
        <p:nvSpPr>
          <p:cNvPr id="24" name="">
            <a:extLst xmlns:a="http://schemas.openxmlformats.org/drawingml/2006/main">
              <a:ext uri="{FF2B5EF4-FFF2-40B4-BE49-F238E27FC236}">
                <a16:creationId xmlns:a16="http://schemas.microsoft.com/office/drawing/2014/main" id="{D938C1F3-817D-4E1C-BFCD-8866830E2080}"/>
              </a:ext>
            </a:extLst>
          </p:cNvPr>
          <p:cNvSpPr>
            <a:spLocks xmlns:a="http://schemas.openxmlformats.org/drawingml/2006/main" noGrp="1"/>
          </p:cNvSpPr>
          <p:nvPr/>
        </p:nvSpPr>
        <p:spPr>
          <a:xfrm xmlns:a="http://schemas.openxmlformats.org/drawingml/2006/main">
            <a:off x="4400550" y="3581400"/>
            <a:ext cx="66675" cy="66675"/>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198088B-A978-493E-B251-A5C7F0BE59B7}"/>
              </a:ext>
            </a:extLst>
          </p:cNvPr>
          <p:cNvSpPr>
            <a:spLocks xmlns:a="http://schemas.openxmlformats.org/drawingml/2006/main" noGrp="1"/>
          </p:cNvSpPr>
          <p:nvPr/>
        </p:nvSpPr>
        <p:spPr>
          <a:xfrm xmlns:a="http://schemas.openxmlformats.org/drawingml/2006/main">
            <a:off x="4581525" y="35052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Gün 0: “Sizi özledik” + ilgili ürünler</a:t>
            </a:r>
          </a:p>
        </p:txBody>
      </p:sp>
      <p:sp>
        <p:nvSpPr>
          <p:cNvPr id="26" name="">
            <a:extLst xmlns:a="http://schemas.openxmlformats.org/drawingml/2006/main">
              <a:ext uri="{FF2B5EF4-FFF2-40B4-BE49-F238E27FC236}">
                <a16:creationId xmlns:a16="http://schemas.microsoft.com/office/drawing/2014/main" id="{30FF642B-09E3-4DAB-A4B6-73C73B5E67C1}"/>
              </a:ext>
            </a:extLst>
          </p:cNvPr>
          <p:cNvSpPr>
            <a:spLocks xmlns:a="http://schemas.openxmlformats.org/drawingml/2006/main" noGrp="1"/>
          </p:cNvSpPr>
          <p:nvPr/>
        </p:nvSpPr>
        <p:spPr>
          <a:xfrm xmlns:a="http://schemas.openxmlformats.org/drawingml/2006/main">
            <a:off x="4400550" y="4076700"/>
            <a:ext cx="66675" cy="66675"/>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915C13-0788-46A7-9391-3C43BEE147BB}"/>
              </a:ext>
            </a:extLst>
          </p:cNvPr>
          <p:cNvSpPr>
            <a:spLocks xmlns:a="http://schemas.openxmlformats.org/drawingml/2006/main" noGrp="1"/>
          </p:cNvSpPr>
          <p:nvPr/>
        </p:nvSpPr>
        <p:spPr>
          <a:xfrm xmlns:a="http://schemas.openxmlformats.org/drawingml/2006/main">
            <a:off x="4581525" y="40005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Gün 3: sosyal kanıt / yeni ürün seçkisi</a:t>
            </a:r>
          </a:p>
        </p:txBody>
      </p:sp>
      <p:sp>
        <p:nvSpPr>
          <p:cNvPr id="28" name="">
            <a:extLst xmlns:a="http://schemas.openxmlformats.org/drawingml/2006/main">
              <a:ext uri="{FF2B5EF4-FFF2-40B4-BE49-F238E27FC236}">
                <a16:creationId xmlns:a16="http://schemas.microsoft.com/office/drawing/2014/main" id="{9AA145E2-9DA2-4325-8C93-447C18FFAABE}"/>
              </a:ext>
            </a:extLst>
          </p:cNvPr>
          <p:cNvSpPr>
            <a:spLocks xmlns:a="http://schemas.openxmlformats.org/drawingml/2006/main" noGrp="1"/>
          </p:cNvSpPr>
          <p:nvPr/>
        </p:nvSpPr>
        <p:spPr>
          <a:xfrm xmlns:a="http://schemas.openxmlformats.org/drawingml/2006/main">
            <a:off x="4400550" y="4572000"/>
            <a:ext cx="66675" cy="66675"/>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DE16CDE-EA8B-4043-B1AD-E3A792AECC84}"/>
              </a:ext>
            </a:extLst>
          </p:cNvPr>
          <p:cNvSpPr>
            <a:spLocks xmlns:a="http://schemas.openxmlformats.org/drawingml/2006/main" noGrp="1"/>
          </p:cNvSpPr>
          <p:nvPr/>
        </p:nvSpPr>
        <p:spPr>
          <a:xfrm xmlns:a="http://schemas.openxmlformats.org/drawingml/2006/main">
            <a:off x="4581525" y="44958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Gün 7: süreli ücretsiz kargo veya %10</a:t>
            </a:r>
          </a:p>
        </p:txBody>
      </p:sp>
      <p:sp>
        <p:nvSpPr>
          <p:cNvPr id="30" name="">
            <a:extLst xmlns:a="http://schemas.openxmlformats.org/drawingml/2006/main">
              <a:ext uri="{FF2B5EF4-FFF2-40B4-BE49-F238E27FC236}">
                <a16:creationId xmlns:a16="http://schemas.microsoft.com/office/drawing/2014/main" id="{8C1E27FA-9E5F-45B6-9C2B-4D141492D965}"/>
              </a:ext>
            </a:extLst>
          </p:cNvPr>
          <p:cNvSpPr>
            <a:spLocks xmlns:a="http://schemas.openxmlformats.org/drawingml/2006/main" noGrp="1"/>
          </p:cNvSpPr>
          <p:nvPr/>
        </p:nvSpPr>
        <p:spPr>
          <a:xfrm xmlns:a="http://schemas.openxmlformats.org/drawingml/2006/main">
            <a:off x="7315200" y="3867150"/>
            <a:ext cx="295275" cy="0"/>
          </a:xfrm>
          <a:prstGeom xmlns:a="http://schemas.openxmlformats.org/drawingml/2006/main" prst="line">
            <a:avLst/>
          </a:prstGeom>
          <a:noFill xmlns:a="http://schemas.openxmlformats.org/drawingml/2006/main"/>
          <a:ln xmlns:a="http://schemas.openxmlformats.org/drawingml/2006/main" w="28575">
            <a:solidFill>
              <a:srgbClr val="DCE5EE"/>
            </a:solidFill>
            <a:prstDash val="solid"/>
          </a:ln>
        </p:spPr>
      </p:sp>
      <p:sp>
        <p:nvSpPr>
          <p:cNvPr id="31" name="">
            <a:extLst xmlns:a="http://schemas.openxmlformats.org/drawingml/2006/main">
              <a:ext uri="{FF2B5EF4-FFF2-40B4-BE49-F238E27FC236}">
                <a16:creationId xmlns:a16="http://schemas.microsoft.com/office/drawing/2014/main" id="{D3A94129-8F72-430F-AAF8-F7CF7E293759}"/>
              </a:ext>
            </a:extLst>
          </p:cNvPr>
          <p:cNvSpPr>
            <a:spLocks xmlns:a="http://schemas.openxmlformats.org/drawingml/2006/main" noGrp="1"/>
          </p:cNvSpPr>
          <p:nvPr/>
        </p:nvSpPr>
        <p:spPr>
          <a:xfrm xmlns:a="http://schemas.openxmlformats.org/drawingml/2006/main">
            <a:off x="7610475" y="2638425"/>
            <a:ext cx="3162300" cy="2447925"/>
          </a:xfrm>
          <a:prstGeom xmlns:a="http://schemas.openxmlformats.org/drawingml/2006/main" prst="roundRect">
            <a:avLst>
              <a:gd name="adj" fmla="val 6226"/>
            </a:avLst>
          </a:prstGeom>
          <a:solidFill xmlns:a="http://schemas.openxmlformats.org/drawingml/2006/main">
            <a:srgbClr val="FFFFFF"/>
          </a:solidFill>
          <a:ln xmlns:a="http://schemas.openxmlformats.org/drawingml/2006/main" w="9525">
            <a:solidFill>
              <a:srgbClr val="DCE5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95DFEEB8-3339-46E7-BE86-1DE094484B0E}"/>
              </a:ext>
            </a:extLst>
          </p:cNvPr>
          <p:cNvSpPr>
            <a:spLocks xmlns:a="http://schemas.openxmlformats.org/drawingml/2006/main" noGrp="1"/>
          </p:cNvSpPr>
          <p:nvPr/>
        </p:nvSpPr>
        <p:spPr>
          <a:xfrm xmlns:a="http://schemas.openxmlformats.org/drawingml/2006/main">
            <a:off x="7839075" y="2867025"/>
            <a:ext cx="457200" cy="457200"/>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E72CEEE-4145-46C1-947E-1C587B88445F}"/>
              </a:ext>
            </a:extLst>
          </p:cNvPr>
          <p:cNvSpPr>
            <a:spLocks xmlns:a="http://schemas.openxmlformats.org/drawingml/2006/main" noGrp="1"/>
          </p:cNvSpPr>
          <p:nvPr/>
        </p:nvSpPr>
        <p:spPr>
          <a:xfrm xmlns:a="http://schemas.openxmlformats.org/drawingml/2006/main">
            <a:off x="7839075" y="29908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03</a:t>
            </a:r>
          </a:p>
        </p:txBody>
      </p:sp>
      <p:sp>
        <p:nvSpPr>
          <p:cNvPr id="34" name="">
            <a:extLst xmlns:a="http://schemas.openxmlformats.org/drawingml/2006/main">
              <a:ext uri="{FF2B5EF4-FFF2-40B4-BE49-F238E27FC236}">
                <a16:creationId xmlns:a16="http://schemas.microsoft.com/office/drawing/2014/main" id="{01FCA3E5-AE85-4E88-AFAC-2EDB5F681A07}"/>
              </a:ext>
            </a:extLst>
          </p:cNvPr>
          <p:cNvSpPr>
            <a:spLocks xmlns:a="http://schemas.openxmlformats.org/drawingml/2006/main" noGrp="1"/>
          </p:cNvSpPr>
          <p:nvPr/>
        </p:nvSpPr>
        <p:spPr>
          <a:xfrm xmlns:a="http://schemas.openxmlformats.org/drawingml/2006/main">
            <a:off x="8429625" y="2924175"/>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263D"/>
                </a:solidFill>
                <a:latin typeface="Aptos"/>
                <a:ea typeface="Aptos"/>
                <a:cs typeface="Aptos"/>
              </a:defRPr>
            </a:pPr>
            <a:r>
              <a:rPr sz="1800" b="1">
                <a:solidFill>
                  <a:srgbClr val="10263D"/>
                </a:solidFill>
                <a:latin typeface="Aptos"/>
                <a:ea typeface="Aptos"/>
                <a:cs typeface="Aptos"/>
              </a:rPr>
              <a:t>Artımlılığı ölç</a:t>
            </a:r>
          </a:p>
        </p:txBody>
      </p:sp>
      <p:sp>
        <p:nvSpPr>
          <p:cNvPr id="35" name="">
            <a:extLst xmlns:a="http://schemas.openxmlformats.org/drawingml/2006/main">
              <a:ext uri="{FF2B5EF4-FFF2-40B4-BE49-F238E27FC236}">
                <a16:creationId xmlns:a16="http://schemas.microsoft.com/office/drawing/2014/main" id="{BC34A606-F58A-42EE-87E9-B568AFE22A63}"/>
              </a:ext>
            </a:extLst>
          </p:cNvPr>
          <p:cNvSpPr>
            <a:spLocks xmlns:a="http://schemas.openxmlformats.org/drawingml/2006/main" noGrp="1"/>
          </p:cNvSpPr>
          <p:nvPr/>
        </p:nvSpPr>
        <p:spPr>
          <a:xfrm xmlns:a="http://schemas.openxmlformats.org/drawingml/2006/main">
            <a:off x="7867650" y="3581400"/>
            <a:ext cx="66675" cy="66675"/>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3CE1B11-26A7-40F3-9641-5116F95334B8}"/>
              </a:ext>
            </a:extLst>
          </p:cNvPr>
          <p:cNvSpPr>
            <a:spLocks xmlns:a="http://schemas.openxmlformats.org/drawingml/2006/main" noGrp="1"/>
          </p:cNvSpPr>
          <p:nvPr/>
        </p:nvSpPr>
        <p:spPr>
          <a:xfrm xmlns:a="http://schemas.openxmlformats.org/drawingml/2006/main">
            <a:off x="8048625" y="35052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30 günlük reaktivasyon</a:t>
            </a:r>
          </a:p>
        </p:txBody>
      </p:sp>
      <p:sp>
        <p:nvSpPr>
          <p:cNvPr id="37" name="">
            <a:extLst xmlns:a="http://schemas.openxmlformats.org/drawingml/2006/main">
              <a:ext uri="{FF2B5EF4-FFF2-40B4-BE49-F238E27FC236}">
                <a16:creationId xmlns:a16="http://schemas.microsoft.com/office/drawing/2014/main" id="{618792EB-88BF-46F6-8AC7-680A0C8BCE05}"/>
              </a:ext>
            </a:extLst>
          </p:cNvPr>
          <p:cNvSpPr>
            <a:spLocks xmlns:a="http://schemas.openxmlformats.org/drawingml/2006/main" noGrp="1"/>
          </p:cNvSpPr>
          <p:nvPr/>
        </p:nvSpPr>
        <p:spPr>
          <a:xfrm xmlns:a="http://schemas.openxmlformats.org/drawingml/2006/main">
            <a:off x="7867650" y="4076700"/>
            <a:ext cx="66675" cy="66675"/>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31F11B2-65D1-49CB-97D4-F779C4C390D6}"/>
              </a:ext>
            </a:extLst>
          </p:cNvPr>
          <p:cNvSpPr>
            <a:spLocks xmlns:a="http://schemas.openxmlformats.org/drawingml/2006/main" noGrp="1"/>
          </p:cNvSpPr>
          <p:nvPr/>
        </p:nvSpPr>
        <p:spPr>
          <a:xfrm xmlns:a="http://schemas.openxmlformats.org/drawingml/2006/main">
            <a:off x="8048625" y="40005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Kontrole karşı artımlı gelir</a:t>
            </a:r>
          </a:p>
        </p:txBody>
      </p:sp>
      <p:sp>
        <p:nvSpPr>
          <p:cNvPr id="39" name="">
            <a:extLst xmlns:a="http://schemas.openxmlformats.org/drawingml/2006/main">
              <a:ext uri="{FF2B5EF4-FFF2-40B4-BE49-F238E27FC236}">
                <a16:creationId xmlns:a16="http://schemas.microsoft.com/office/drawing/2014/main" id="{D8FD8671-E325-4BA1-8009-967B61C3DF2F}"/>
              </a:ext>
            </a:extLst>
          </p:cNvPr>
          <p:cNvSpPr>
            <a:spLocks xmlns:a="http://schemas.openxmlformats.org/drawingml/2006/main" noGrp="1"/>
          </p:cNvSpPr>
          <p:nvPr/>
        </p:nvSpPr>
        <p:spPr>
          <a:xfrm xmlns:a="http://schemas.openxmlformats.org/drawingml/2006/main">
            <a:off x="7867650" y="4572000"/>
            <a:ext cx="66675" cy="66675"/>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0B9458F-F6CB-4510-8794-39D686F7BFFC}"/>
              </a:ext>
            </a:extLst>
          </p:cNvPr>
          <p:cNvSpPr>
            <a:spLocks xmlns:a="http://schemas.openxmlformats.org/drawingml/2006/main" noGrp="1"/>
          </p:cNvSpPr>
          <p:nvPr/>
        </p:nvSpPr>
        <p:spPr>
          <a:xfrm xmlns:a="http://schemas.openxmlformats.org/drawingml/2006/main">
            <a:off x="8048625" y="4495800"/>
            <a:ext cx="2447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10263D"/>
                </a:solidFill>
                <a:latin typeface="Aptos"/>
                <a:ea typeface="Aptos"/>
                <a:cs typeface="Aptos"/>
              </a:defRPr>
            </a:pPr>
            <a:r>
              <a:rPr sz="1275" b="0">
                <a:solidFill>
                  <a:srgbClr val="10263D"/>
                </a:solidFill>
                <a:latin typeface="Aptos"/>
                <a:ea typeface="Aptos"/>
                <a:cs typeface="Aptos"/>
              </a:rPr>
              <a:t>Teklif maliyeti ve iletişim şikâyeti</a:t>
            </a:r>
          </a:p>
        </p:txBody>
      </p:sp>
      <p:sp>
        <p:nvSpPr>
          <p:cNvPr id="41" name="">
            <a:extLst xmlns:a="http://schemas.openxmlformats.org/drawingml/2006/main">
              <a:ext uri="{FF2B5EF4-FFF2-40B4-BE49-F238E27FC236}">
                <a16:creationId xmlns:a16="http://schemas.microsoft.com/office/drawing/2014/main" id="{5F056BF8-B3F2-42B6-BF86-57B2F96A60AD}"/>
              </a:ext>
            </a:extLst>
          </p:cNvPr>
          <p:cNvSpPr>
            <a:spLocks xmlns:a="http://schemas.openxmlformats.org/drawingml/2006/main" noGrp="1"/>
          </p:cNvSpPr>
          <p:nvPr/>
        </p:nvSpPr>
        <p:spPr>
          <a:xfrm xmlns:a="http://schemas.openxmlformats.org/drawingml/2006/main">
            <a:off x="666750" y="5324475"/>
            <a:ext cx="10115550" cy="790575"/>
          </a:xfrm>
          <a:prstGeom xmlns:a="http://schemas.openxmlformats.org/drawingml/2006/main" prst="roundRect">
            <a:avLst>
              <a:gd name="adj" fmla="val 14458"/>
            </a:avLst>
          </a:prstGeom>
          <a:solidFill xmlns:a="http://schemas.openxmlformats.org/drawingml/2006/main">
            <a:srgbClr val="10263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33C9B70-B4E4-4281-AFF2-4813E54CBA54}"/>
              </a:ext>
            </a:extLst>
          </p:cNvPr>
          <p:cNvSpPr>
            <a:spLocks xmlns:a="http://schemas.openxmlformats.org/drawingml/2006/main" noGrp="1"/>
          </p:cNvSpPr>
          <p:nvPr/>
        </p:nvSpPr>
        <p:spPr>
          <a:xfrm xmlns:a="http://schemas.openxmlformats.org/drawingml/2006/main">
            <a:off x="876300" y="5514975"/>
            <a:ext cx="2428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CC3E1"/>
                </a:solidFill>
                <a:latin typeface="Aptos"/>
                <a:ea typeface="Aptos"/>
                <a:cs typeface="Aptos"/>
              </a:defRPr>
            </a:pPr>
            <a:r>
              <a:rPr sz="975" b="1">
                <a:solidFill>
                  <a:srgbClr val="9CC3E1"/>
                </a:solidFill>
                <a:latin typeface="Aptos"/>
                <a:ea typeface="Aptos"/>
                <a:cs typeface="Aptos"/>
              </a:rPr>
              <a:t>ÖNERİLEN PİLOT BAŞARI EŞİĞİ</a:t>
            </a:r>
          </a:p>
        </p:txBody>
      </p:sp>
      <p:sp>
        <p:nvSpPr>
          <p:cNvPr id="43" name="">
            <a:extLst xmlns:a="http://schemas.openxmlformats.org/drawingml/2006/main">
              <a:ext uri="{FF2B5EF4-FFF2-40B4-BE49-F238E27FC236}">
                <a16:creationId xmlns:a16="http://schemas.microsoft.com/office/drawing/2014/main" id="{64B7430C-F03C-40D4-B526-503124A4BECF}"/>
              </a:ext>
            </a:extLst>
          </p:cNvPr>
          <p:cNvSpPr>
            <a:spLocks xmlns:a="http://schemas.openxmlformats.org/drawingml/2006/main" noGrp="1"/>
          </p:cNvSpPr>
          <p:nvPr/>
        </p:nvSpPr>
        <p:spPr>
          <a:xfrm xmlns:a="http://schemas.openxmlformats.org/drawingml/2006/main">
            <a:off x="3724275" y="5438775"/>
            <a:ext cx="1047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Aptos"/>
                <a:ea typeface="Aptos"/>
                <a:cs typeface="Aptos"/>
              </a:defRPr>
            </a:pPr>
            <a:r>
              <a:rPr sz="2250" b="1">
                <a:solidFill>
                  <a:srgbClr val="FFFFFF"/>
                </a:solidFill>
                <a:latin typeface="Aptos"/>
                <a:ea typeface="Aptos"/>
                <a:cs typeface="Aptos"/>
              </a:rPr>
              <a:t>≥ %12</a:t>
            </a:r>
          </a:p>
        </p:txBody>
      </p:sp>
      <p:sp>
        <p:nvSpPr>
          <p:cNvPr id="44" name="">
            <a:extLst xmlns:a="http://schemas.openxmlformats.org/drawingml/2006/main">
              <a:ext uri="{FF2B5EF4-FFF2-40B4-BE49-F238E27FC236}">
                <a16:creationId xmlns:a16="http://schemas.microsoft.com/office/drawing/2014/main" id="{45EA7FD0-CFD1-4740-ABB5-555C28768CB1}"/>
              </a:ext>
            </a:extLst>
          </p:cNvPr>
          <p:cNvSpPr>
            <a:spLocks xmlns:a="http://schemas.openxmlformats.org/drawingml/2006/main" noGrp="1"/>
          </p:cNvSpPr>
          <p:nvPr/>
        </p:nvSpPr>
        <p:spPr>
          <a:xfrm xmlns:a="http://schemas.openxmlformats.org/drawingml/2006/main">
            <a:off x="3724275" y="58007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7D9E7"/>
                </a:solidFill>
                <a:latin typeface="Aptos"/>
                <a:ea typeface="Aptos"/>
                <a:cs typeface="Aptos"/>
              </a:defRPr>
            </a:pPr>
            <a:r>
              <a:rPr sz="1050" b="0">
                <a:solidFill>
                  <a:srgbClr val="C7D9E7"/>
                </a:solidFill>
                <a:latin typeface="Aptos"/>
                <a:ea typeface="Aptos"/>
                <a:cs typeface="Aptos"/>
              </a:rPr>
              <a:t>30 günlük reaktivasyon</a:t>
            </a:r>
          </a:p>
        </p:txBody>
      </p:sp>
      <p:sp>
        <p:nvSpPr>
          <p:cNvPr id="45" name="">
            <a:extLst xmlns:a="http://schemas.openxmlformats.org/drawingml/2006/main">
              <a:ext uri="{FF2B5EF4-FFF2-40B4-BE49-F238E27FC236}">
                <a16:creationId xmlns:a16="http://schemas.microsoft.com/office/drawing/2014/main" id="{C48C17FC-E50B-4796-9446-4EC72ECE03CD}"/>
              </a:ext>
            </a:extLst>
          </p:cNvPr>
          <p:cNvSpPr>
            <a:spLocks xmlns:a="http://schemas.openxmlformats.org/drawingml/2006/main" noGrp="1"/>
          </p:cNvSpPr>
          <p:nvPr/>
        </p:nvSpPr>
        <p:spPr>
          <a:xfrm xmlns:a="http://schemas.openxmlformats.org/drawingml/2006/main">
            <a:off x="6153150" y="54387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Aptos"/>
                <a:ea typeface="Aptos"/>
                <a:cs typeface="Aptos"/>
              </a:defRPr>
            </a:pPr>
            <a:r>
              <a:rPr sz="2250" b="1">
                <a:solidFill>
                  <a:srgbClr val="FFFFFF"/>
                </a:solidFill>
                <a:latin typeface="Aptos"/>
                <a:ea typeface="Aptos"/>
                <a:cs typeface="Aptos"/>
              </a:rPr>
              <a:t>&gt; 0</a:t>
            </a:r>
          </a:p>
        </p:txBody>
      </p:sp>
      <p:sp>
        <p:nvSpPr>
          <p:cNvPr id="46" name="">
            <a:extLst xmlns:a="http://schemas.openxmlformats.org/drawingml/2006/main">
              <a:ext uri="{FF2B5EF4-FFF2-40B4-BE49-F238E27FC236}">
                <a16:creationId xmlns:a16="http://schemas.microsoft.com/office/drawing/2014/main" id="{79CCD4D2-8051-4882-8CC9-B8B69F0E402C}"/>
              </a:ext>
            </a:extLst>
          </p:cNvPr>
          <p:cNvSpPr>
            <a:spLocks xmlns:a="http://schemas.openxmlformats.org/drawingml/2006/main" noGrp="1"/>
          </p:cNvSpPr>
          <p:nvPr/>
        </p:nvSpPr>
        <p:spPr>
          <a:xfrm xmlns:a="http://schemas.openxmlformats.org/drawingml/2006/main">
            <a:off x="6153150" y="58007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7D9E7"/>
                </a:solidFill>
                <a:latin typeface="Aptos"/>
                <a:ea typeface="Aptos"/>
                <a:cs typeface="Aptos"/>
              </a:defRPr>
            </a:pPr>
            <a:r>
              <a:rPr sz="1050" b="0">
                <a:solidFill>
                  <a:srgbClr val="C7D9E7"/>
                </a:solidFill>
                <a:latin typeface="Aptos"/>
                <a:ea typeface="Aptos"/>
                <a:cs typeface="Aptos"/>
              </a:rPr>
              <a:t>artımlı katkı</a:t>
            </a:r>
          </a:p>
        </p:txBody>
      </p:sp>
      <p:sp>
        <p:nvSpPr>
          <p:cNvPr id="47" name="">
            <a:extLst xmlns:a="http://schemas.openxmlformats.org/drawingml/2006/main">
              <a:ext uri="{FF2B5EF4-FFF2-40B4-BE49-F238E27FC236}">
                <a16:creationId xmlns:a16="http://schemas.microsoft.com/office/drawing/2014/main" id="{1674885C-C145-4C50-9291-A10AB504170C}"/>
              </a:ext>
            </a:extLst>
          </p:cNvPr>
          <p:cNvSpPr>
            <a:spLocks xmlns:a="http://schemas.openxmlformats.org/drawingml/2006/main" noGrp="1"/>
          </p:cNvSpPr>
          <p:nvPr/>
        </p:nvSpPr>
        <p:spPr>
          <a:xfrm xmlns:a="http://schemas.openxmlformats.org/drawingml/2006/main">
            <a:off x="8315325" y="5438775"/>
            <a:ext cx="1428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Aptos"/>
                <a:ea typeface="Aptos"/>
                <a:cs typeface="Aptos"/>
              </a:defRPr>
            </a:pPr>
            <a:r>
              <a:rPr sz="2250" b="1">
                <a:solidFill>
                  <a:srgbClr val="FFFFFF"/>
                </a:solidFill>
                <a:latin typeface="Aptos"/>
                <a:ea typeface="Aptos"/>
                <a:cs typeface="Aptos"/>
              </a:rPr>
              <a:t>≤ kontrol</a:t>
            </a:r>
          </a:p>
        </p:txBody>
      </p:sp>
      <p:sp>
        <p:nvSpPr>
          <p:cNvPr id="48" name="">
            <a:extLst xmlns:a="http://schemas.openxmlformats.org/drawingml/2006/main">
              <a:ext uri="{FF2B5EF4-FFF2-40B4-BE49-F238E27FC236}">
                <a16:creationId xmlns:a16="http://schemas.microsoft.com/office/drawing/2014/main" id="{68A3F882-2D10-4BBC-899D-92FF11DAABCC}"/>
              </a:ext>
            </a:extLst>
          </p:cNvPr>
          <p:cNvSpPr>
            <a:spLocks xmlns:a="http://schemas.openxmlformats.org/drawingml/2006/main" noGrp="1"/>
          </p:cNvSpPr>
          <p:nvPr/>
        </p:nvSpPr>
        <p:spPr>
          <a:xfrm xmlns:a="http://schemas.openxmlformats.org/drawingml/2006/main">
            <a:off x="8315325" y="58007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7D9E7"/>
                </a:solidFill>
                <a:latin typeface="Aptos"/>
                <a:ea typeface="Aptos"/>
                <a:cs typeface="Aptos"/>
              </a:defRPr>
            </a:pPr>
            <a:r>
              <a:rPr sz="1050" b="0">
                <a:solidFill>
                  <a:srgbClr val="C7D9E7"/>
                </a:solidFill>
                <a:latin typeface="Aptos"/>
                <a:ea typeface="Aptos"/>
                <a:cs typeface="Aptos"/>
              </a:rPr>
              <a:t>şikâyet / abonelikten çıkış</a:t>
            </a:r>
          </a:p>
        </p:txBody>
      </p:sp>
      <p:sp>
        <p:nvSpPr>
          <p:cNvPr id="49" name="">
            <a:extLst xmlns:a="http://schemas.openxmlformats.org/drawingml/2006/main">
              <a:ext uri="{FF2B5EF4-FFF2-40B4-BE49-F238E27FC236}">
                <a16:creationId xmlns:a16="http://schemas.microsoft.com/office/drawing/2014/main" id="{F26D1E32-A444-4858-9345-E6AB9EF8C3C3}"/>
              </a:ext>
            </a:extLst>
          </p:cNvPr>
          <p:cNvSpPr>
            <a:spLocks xmlns:a="http://schemas.openxmlformats.org/drawingml/2006/main" noGrp="1"/>
          </p:cNvSpPr>
          <p:nvPr/>
        </p:nvSpPr>
        <p:spPr>
          <a:xfrm xmlns:a="http://schemas.openxmlformats.org/drawingml/2006/main">
            <a:off x="10344150" y="5514975"/>
            <a:ext cx="1295400" cy="409575"/>
          </a:xfrm>
          <a:prstGeom xmlns:a="http://schemas.openxmlformats.org/drawingml/2006/main" prst="roundRect">
            <a:avLst>
              <a:gd name="adj" fmla="val 50000"/>
            </a:avLst>
          </a:prstGeom>
          <a:solidFill xmlns:a="http://schemas.openxmlformats.org/drawingml/2006/main">
            <a:srgbClr val="F2B94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2BDF905-3BF3-4BA6-BA5F-AEAC8BC9F271}"/>
              </a:ext>
            </a:extLst>
          </p:cNvPr>
          <p:cNvSpPr>
            <a:spLocks xmlns:a="http://schemas.openxmlformats.org/drawingml/2006/main" noGrp="1"/>
          </p:cNvSpPr>
          <p:nvPr/>
        </p:nvSpPr>
        <p:spPr>
          <a:xfrm xmlns:a="http://schemas.openxmlformats.org/drawingml/2006/main">
            <a:off x="10439400" y="5562600"/>
            <a:ext cx="11049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10263D"/>
                </a:solidFill>
                <a:latin typeface="Aptos"/>
                <a:ea typeface="Aptos"/>
                <a:cs typeface="Aptos"/>
              </a:defRPr>
            </a:pPr>
            <a:r>
              <a:rPr sz="900" b="1">
                <a:solidFill>
                  <a:srgbClr val="10263D"/>
                </a:solidFill>
                <a:latin typeface="Aptos"/>
                <a:ea typeface="Aptos"/>
                <a:cs typeface="Aptos"/>
              </a:rPr>
              <a:t>Q1’DE KALİBRE ET</a:t>
            </a:r>
          </a:p>
        </p:txBody>
      </p:sp>
      <p:sp>
        <p:nvSpPr>
          <p:cNvPr id="51" name="">
            <a:extLst xmlns:a="http://schemas.openxmlformats.org/drawingml/2006/main">
              <a:ext uri="{FF2B5EF4-FFF2-40B4-BE49-F238E27FC236}">
                <a16:creationId xmlns:a16="http://schemas.microsoft.com/office/drawing/2014/main" id="{3215E1A3-6E2A-4EE6-9A5C-725CE3148A4C}"/>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52" name="">
            <a:extLst xmlns:a="http://schemas.openxmlformats.org/drawingml/2006/main">
              <a:ext uri="{FF2B5EF4-FFF2-40B4-BE49-F238E27FC236}">
                <a16:creationId xmlns:a16="http://schemas.microsoft.com/office/drawing/2014/main" id="{10BBF2D7-5F9C-4BD8-8EFB-C8DE8AE840E6}"/>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53" name="">
            <a:extLst xmlns:a="http://schemas.openxmlformats.org/drawingml/2006/main">
              <a:ext uri="{FF2B5EF4-FFF2-40B4-BE49-F238E27FC236}">
                <a16:creationId xmlns:a16="http://schemas.microsoft.com/office/drawing/2014/main" id="{99BC2890-91D5-400A-85A8-271F2DE5042C}"/>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1938194850"/>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522FB39-150B-4594-9B4C-C1C15851FBCE}"/>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D80F56-AF8B-47EB-B812-5EF2E8BD8DFE}"/>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2 • SEPET ANALIZI</a:t>
            </a:r>
          </a:p>
        </p:txBody>
      </p:sp>
      <p:sp>
        <p:nvSpPr>
          <p:cNvPr id="3" name="">
            <a:extLst xmlns:a="http://schemas.openxmlformats.org/drawingml/2006/main">
              <a:ext uri="{FF2B5EF4-FFF2-40B4-BE49-F238E27FC236}">
                <a16:creationId xmlns:a16="http://schemas.microsoft.com/office/drawing/2014/main" id="{11E83743-A2E7-4E7B-9D46-437A71135D86}"/>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JAM ürünü niş; ancak beraber satış sinyali güçlü</a:t>
            </a:r>
          </a:p>
        </p:txBody>
      </p:sp>
      <p:sp>
        <p:nvSpPr>
          <p:cNvPr id="4" name="">
            <a:extLst xmlns:a="http://schemas.openxmlformats.org/drawingml/2006/main">
              <a:ext uri="{FF2B5EF4-FFF2-40B4-BE49-F238E27FC236}">
                <a16:creationId xmlns:a16="http://schemas.microsoft.com/office/drawing/2014/main" id="{84D0FFF3-A134-4CDF-AA35-4B09E606CDFA}"/>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Stratejiyi yalnızca yüksek lift’e değil, lift + confidence + gözlem sayısına birlikte dayandırdım</a:t>
            </a:r>
          </a:p>
        </p:txBody>
      </p:sp>
      <p:sp>
        <p:nvSpPr>
          <p:cNvPr id="5" name="">
            <a:extLst xmlns:a="http://schemas.openxmlformats.org/drawingml/2006/main">
              <a:ext uri="{FF2B5EF4-FFF2-40B4-BE49-F238E27FC236}">
                <a16:creationId xmlns:a16="http://schemas.microsoft.com/office/drawing/2014/main" id="{15512DFA-6840-4BA0-8A27-2A4B4F3D3B48}"/>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CD45484B-DFBD-4BEB-B251-1C7ABF530F6F}"/>
              </a:ext>
            </a:extLst>
          </p:cNvPr>
          <p:cNvSpPr>
            <a:spLocks xmlns:a="http://schemas.openxmlformats.org/drawingml/2006/main" noGrp="1"/>
          </p:cNvSpPr>
          <p:nvPr/>
        </p:nvSpPr>
        <p:spPr>
          <a:xfrm xmlns:a="http://schemas.openxmlformats.org/drawingml/2006/main">
            <a:off x="666750" y="1914525"/>
            <a:ext cx="2381250" cy="304800"/>
          </a:xfrm>
          <a:prstGeom xmlns:a="http://schemas.openxmlformats.org/drawingml/2006/main" prst="roundRect">
            <a:avLst>
              <a:gd name="adj" fmla="val 50000"/>
            </a:avLst>
          </a:prstGeom>
          <a:solidFill xmlns:a="http://schemas.openxmlformats.org/drawingml/2006/main">
            <a:srgbClr val="E7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5F7B48-2224-48F5-BA48-7FDE8928BF3E}"/>
              </a:ext>
            </a:extLst>
          </p:cNvPr>
          <p:cNvSpPr>
            <a:spLocks xmlns:a="http://schemas.openxmlformats.org/drawingml/2006/main" noGrp="1"/>
          </p:cNvSpPr>
          <p:nvPr/>
        </p:nvSpPr>
        <p:spPr>
          <a:xfrm xmlns:a="http://schemas.openxmlformats.org/drawingml/2006/main">
            <a:off x="762000" y="19621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2F6BFF"/>
                </a:solidFill>
                <a:latin typeface="Aptos"/>
                <a:ea typeface="Aptos"/>
                <a:cs typeface="Aptos"/>
              </a:defRPr>
            </a:pPr>
            <a:r>
              <a:rPr sz="975" b="1">
                <a:solidFill>
                  <a:srgbClr val="2F6BFF"/>
                </a:solidFill>
                <a:latin typeface="Aptos"/>
                <a:ea typeface="Aptos"/>
                <a:cs typeface="Aptos"/>
              </a:rPr>
              <a:t>JAM MAKING SET WITH JARS</a:t>
            </a:r>
          </a:p>
        </p:txBody>
      </p:sp>
      <p:sp>
        <p:nvSpPr>
          <p:cNvPr id="8" name="">
            <a:extLst xmlns:a="http://schemas.openxmlformats.org/drawingml/2006/main">
              <a:ext uri="{FF2B5EF4-FFF2-40B4-BE49-F238E27FC236}">
                <a16:creationId xmlns:a16="http://schemas.microsoft.com/office/drawing/2014/main" id="{8D9896CB-E628-4120-BACF-CF68083532DA}"/>
              </a:ext>
            </a:extLst>
          </p:cNvPr>
          <p:cNvSpPr>
            <a:spLocks xmlns:a="http://schemas.openxmlformats.org/drawingml/2006/main" noGrp="1"/>
          </p:cNvSpPr>
          <p:nvPr/>
        </p:nvSpPr>
        <p:spPr>
          <a:xfrm xmlns:a="http://schemas.openxmlformats.org/drawingml/2006/main">
            <a:off x="666750" y="228600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10263D"/>
                </a:solidFill>
                <a:latin typeface="Aptos Display"/>
                <a:ea typeface="Aptos Display"/>
                <a:cs typeface="Aptos Display"/>
              </a:defRPr>
            </a:pPr>
            <a:r>
              <a:rPr sz="2925" b="1">
                <a:solidFill>
                  <a:srgbClr val="10263D"/>
                </a:solidFill>
                <a:latin typeface="Aptos Display"/>
                <a:ea typeface="Aptos Display"/>
                <a:cs typeface="Aptos Display"/>
              </a:rPr>
              <a:t>217</a:t>
            </a:r>
          </a:p>
        </p:txBody>
      </p:sp>
      <p:sp>
        <p:nvSpPr>
          <p:cNvPr id="9" name="">
            <a:extLst xmlns:a="http://schemas.openxmlformats.org/drawingml/2006/main">
              <a:ext uri="{FF2B5EF4-FFF2-40B4-BE49-F238E27FC236}">
                <a16:creationId xmlns:a16="http://schemas.microsoft.com/office/drawing/2014/main" id="{BC7AB037-9A57-4C77-837F-B65B19D2758A}"/>
              </a:ext>
            </a:extLst>
          </p:cNvPr>
          <p:cNvSpPr>
            <a:spLocks xmlns:a="http://schemas.openxmlformats.org/drawingml/2006/main" noGrp="1"/>
          </p:cNvSpPr>
          <p:nvPr/>
        </p:nvSpPr>
        <p:spPr>
          <a:xfrm xmlns:a="http://schemas.openxmlformats.org/drawingml/2006/main">
            <a:off x="666750" y="28194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0748A"/>
                </a:solidFill>
                <a:latin typeface="Aptos"/>
                <a:ea typeface="Aptos"/>
                <a:cs typeface="Aptos"/>
              </a:defRPr>
            </a:pPr>
            <a:r>
              <a:rPr sz="1200" b="0">
                <a:solidFill>
                  <a:srgbClr val="60748A"/>
                </a:solidFill>
                <a:latin typeface="Aptos"/>
                <a:ea typeface="Aptos"/>
                <a:cs typeface="Aptos"/>
              </a:rPr>
              <a:t>hedef sepet</a:t>
            </a:r>
          </a:p>
        </p:txBody>
      </p:sp>
      <p:sp>
        <p:nvSpPr>
          <p:cNvPr id="10" name="">
            <a:extLst xmlns:a="http://schemas.openxmlformats.org/drawingml/2006/main">
              <a:ext uri="{FF2B5EF4-FFF2-40B4-BE49-F238E27FC236}">
                <a16:creationId xmlns:a16="http://schemas.microsoft.com/office/drawing/2014/main" id="{6BD3D56E-AC6F-456A-B03E-A38FB4D8CC08}"/>
              </a:ext>
            </a:extLst>
          </p:cNvPr>
          <p:cNvSpPr>
            <a:spLocks xmlns:a="http://schemas.openxmlformats.org/drawingml/2006/main" noGrp="1"/>
          </p:cNvSpPr>
          <p:nvPr/>
        </p:nvSpPr>
        <p:spPr>
          <a:xfrm xmlns:a="http://schemas.openxmlformats.org/drawingml/2006/main">
            <a:off x="2305050" y="228600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EF6A5B"/>
                </a:solidFill>
                <a:latin typeface="Aptos Display"/>
                <a:ea typeface="Aptos Display"/>
                <a:cs typeface="Aptos Display"/>
              </a:defRPr>
            </a:pPr>
            <a:r>
              <a:rPr sz="2925" b="1">
                <a:solidFill>
                  <a:srgbClr val="EF6A5B"/>
                </a:solidFill>
                <a:latin typeface="Aptos Display"/>
                <a:ea typeface="Aptos Display"/>
                <a:cs typeface="Aptos Display"/>
              </a:rPr>
              <a:t>%1,43</a:t>
            </a:r>
          </a:p>
        </p:txBody>
      </p:sp>
      <p:sp>
        <p:nvSpPr>
          <p:cNvPr id="11" name="">
            <a:extLst xmlns:a="http://schemas.openxmlformats.org/drawingml/2006/main">
              <a:ext uri="{FF2B5EF4-FFF2-40B4-BE49-F238E27FC236}">
                <a16:creationId xmlns:a16="http://schemas.microsoft.com/office/drawing/2014/main" id="{53DC1AED-4411-4FBB-B540-08B9C4450C33}"/>
              </a:ext>
            </a:extLst>
          </p:cNvPr>
          <p:cNvSpPr>
            <a:spLocks xmlns:a="http://schemas.openxmlformats.org/drawingml/2006/main" noGrp="1"/>
          </p:cNvSpPr>
          <p:nvPr/>
        </p:nvSpPr>
        <p:spPr>
          <a:xfrm xmlns:a="http://schemas.openxmlformats.org/drawingml/2006/main">
            <a:off x="2305050" y="28194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0748A"/>
                </a:solidFill>
                <a:latin typeface="Aptos"/>
                <a:ea typeface="Aptos"/>
                <a:cs typeface="Aptos"/>
              </a:defRPr>
            </a:pPr>
            <a:r>
              <a:rPr sz="1200" b="0">
                <a:solidFill>
                  <a:srgbClr val="60748A"/>
                </a:solidFill>
                <a:latin typeface="Aptos"/>
                <a:ea typeface="Aptos"/>
                <a:cs typeface="Aptos"/>
              </a:rPr>
              <a:t>support</a:t>
            </a:r>
          </a:p>
        </p:txBody>
      </p:sp>
      <p:sp>
        <p:nvSpPr>
          <p:cNvPr id="12" name="">
            <a:extLst xmlns:a="http://schemas.openxmlformats.org/drawingml/2006/main">
              <a:ext uri="{FF2B5EF4-FFF2-40B4-BE49-F238E27FC236}">
                <a16:creationId xmlns:a16="http://schemas.microsoft.com/office/drawing/2014/main" id="{A6340A3D-F675-4C66-9584-54E66091EBA8}"/>
              </a:ext>
            </a:extLst>
          </p:cNvPr>
          <p:cNvSpPr>
            <a:spLocks xmlns:a="http://schemas.openxmlformats.org/drawingml/2006/main" noGrp="1"/>
          </p:cNvSpPr>
          <p:nvPr/>
        </p:nvSpPr>
        <p:spPr>
          <a:xfrm xmlns:a="http://schemas.openxmlformats.org/drawingml/2006/main">
            <a:off x="3933825" y="2286000"/>
            <a:ext cx="2438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00A88F"/>
                </a:solidFill>
                <a:latin typeface="Aptos Display"/>
                <a:ea typeface="Aptos Display"/>
                <a:cs typeface="Aptos Display"/>
              </a:defRPr>
            </a:pPr>
            <a:r>
              <a:rPr sz="2925" b="1">
                <a:solidFill>
                  <a:srgbClr val="00A88F"/>
                </a:solidFill>
                <a:latin typeface="Aptos Display"/>
                <a:ea typeface="Aptos Display"/>
                <a:cs typeface="Aptos Display"/>
              </a:rPr>
              <a:t>295,54</a:t>
            </a:r>
          </a:p>
        </p:txBody>
      </p:sp>
      <p:sp>
        <p:nvSpPr>
          <p:cNvPr id="13" name="">
            <a:extLst xmlns:a="http://schemas.openxmlformats.org/drawingml/2006/main">
              <a:ext uri="{FF2B5EF4-FFF2-40B4-BE49-F238E27FC236}">
                <a16:creationId xmlns:a16="http://schemas.microsoft.com/office/drawing/2014/main" id="{EA7F61BB-C832-4470-ABF2-23BC27843CFC}"/>
              </a:ext>
            </a:extLst>
          </p:cNvPr>
          <p:cNvSpPr>
            <a:spLocks xmlns:a="http://schemas.openxmlformats.org/drawingml/2006/main" noGrp="1"/>
          </p:cNvSpPr>
          <p:nvPr/>
        </p:nvSpPr>
        <p:spPr>
          <a:xfrm xmlns:a="http://schemas.openxmlformats.org/drawingml/2006/main">
            <a:off x="3933825" y="2819400"/>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0748A"/>
                </a:solidFill>
                <a:latin typeface="Aptos"/>
                <a:ea typeface="Aptos"/>
                <a:cs typeface="Aptos"/>
              </a:defRPr>
            </a:pPr>
            <a:r>
              <a:rPr sz="1200" b="0">
                <a:solidFill>
                  <a:srgbClr val="60748A"/>
                </a:solidFill>
                <a:latin typeface="Aptos"/>
                <a:ea typeface="Aptos"/>
                <a:cs typeface="Aptos"/>
              </a:rPr>
              <a:t>JAM sepetlerinde ort. gelir</a:t>
            </a:r>
          </a:p>
        </p:txBody>
      </p:sp>
      <p:sp>
        <p:nvSpPr>
          <p:cNvPr id="14" name="">
            <a:extLst xmlns:a="http://schemas.openxmlformats.org/drawingml/2006/main">
              <a:ext uri="{FF2B5EF4-FFF2-40B4-BE49-F238E27FC236}">
                <a16:creationId xmlns:a16="http://schemas.microsoft.com/office/drawing/2014/main" id="{11526441-B045-4419-9E8B-A073757D3C6F}"/>
              </a:ext>
            </a:extLst>
          </p:cNvPr>
          <p:cNvSpPr>
            <a:spLocks xmlns:a="http://schemas.openxmlformats.org/drawingml/2006/main" noGrp="1"/>
          </p:cNvSpPr>
          <p:nvPr/>
        </p:nvSpPr>
        <p:spPr>
          <a:xfrm xmlns:a="http://schemas.openxmlformats.org/drawingml/2006/main">
            <a:off x="3933825" y="31527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0748A"/>
                </a:solidFill>
                <a:latin typeface="Aptos"/>
                <a:ea typeface="Aptos"/>
                <a:cs typeface="Aptos"/>
              </a:defRPr>
            </a:pPr>
            <a:r>
              <a:rPr sz="1050" b="0">
                <a:solidFill>
                  <a:srgbClr val="60748A"/>
                </a:solidFill>
                <a:latin typeface="Aptos"/>
                <a:ea typeface="Aptos"/>
                <a:cs typeface="Aptos"/>
              </a:rPr>
              <a:t>Genel ortalama: 126,97</a:t>
            </a:r>
          </a:p>
        </p:txBody>
      </p:sp>
      <p:graphicFrame>
        <p:nvGraphicFramePr>
          <p:cNvPr id="64" name="Chart"/>
          <p:cNvGraphicFramePr/>
          <p:nvPr/>
        </p:nvGraphicFramePr>
        <p:xfrm>
          <a:off xmlns:a="http://schemas.openxmlformats.org/drawingml/2006/main" x="400050" y="3543300"/>
          <a:ext xmlns:a="http://schemas.openxmlformats.org/drawingml/2006/main" cx="7200900" cy="2543175"/>
        </p:xfrm>
        <a:graphic xmlns:a="http://schemas.openxmlformats.org/drawingml/2006/main">
          <a:graphicData uri="http://schemas.openxmlformats.org/drawingml/2006/chart">
            <c:chart xmlns:r="http://schemas.openxmlformats.org/officeDocument/2006/relationships" xmlns:c="http://schemas.openxmlformats.org/drawingml/2006/chart" r:id="Rf9c577a5214e47d2"/>
          </a:graphicData>
        </a:graphic>
      </p:graphicFrame>
      <p:sp>
        <p:nvSpPr>
          <p:cNvPr id="16" name="">
            <a:extLst xmlns:a="http://schemas.openxmlformats.org/drawingml/2006/main">
              <a:ext uri="{FF2B5EF4-FFF2-40B4-BE49-F238E27FC236}">
                <a16:creationId xmlns:a16="http://schemas.microsoft.com/office/drawing/2014/main" id="{AAA46CCA-91E8-4A46-AF8D-5C4ED7ADBEA9}"/>
              </a:ext>
            </a:extLst>
          </p:cNvPr>
          <p:cNvSpPr>
            <a:spLocks xmlns:a="http://schemas.openxmlformats.org/drawingml/2006/main" noGrp="1"/>
          </p:cNvSpPr>
          <p:nvPr/>
        </p:nvSpPr>
        <p:spPr>
          <a:xfrm xmlns:a="http://schemas.openxmlformats.org/drawingml/2006/main">
            <a:off x="666750" y="3371850"/>
            <a:ext cx="3619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0748A"/>
                </a:solidFill>
                <a:latin typeface="Aptos"/>
                <a:ea typeface="Aptos"/>
                <a:cs typeface="Aptos"/>
              </a:defRPr>
            </a:pPr>
            <a:r>
              <a:rPr sz="1050" b="1">
                <a:solidFill>
                  <a:srgbClr val="60748A"/>
                </a:solidFill>
                <a:latin typeface="Aptos"/>
                <a:ea typeface="Aptos"/>
                <a:cs typeface="Aptos"/>
              </a:rPr>
              <a:t>Beraber görülme olasılığı (confidence)</a:t>
            </a:r>
          </a:p>
        </p:txBody>
      </p:sp>
      <p:sp>
        <p:nvSpPr>
          <p:cNvPr id="17" name="">
            <a:extLst xmlns:a="http://schemas.openxmlformats.org/drawingml/2006/main">
              <a:ext uri="{FF2B5EF4-FFF2-40B4-BE49-F238E27FC236}">
                <a16:creationId xmlns:a16="http://schemas.microsoft.com/office/drawing/2014/main" id="{2CCE32D1-4DF7-40DD-B9B5-20728F2A4569}"/>
              </a:ext>
            </a:extLst>
          </p:cNvPr>
          <p:cNvSpPr>
            <a:spLocks xmlns:a="http://schemas.openxmlformats.org/drawingml/2006/main" noGrp="1"/>
          </p:cNvSpPr>
          <p:nvPr/>
        </p:nvSpPr>
        <p:spPr>
          <a:xfrm xmlns:a="http://schemas.openxmlformats.org/drawingml/2006/main">
            <a:off x="7877175" y="1971675"/>
            <a:ext cx="3676650" cy="4086225"/>
          </a:xfrm>
          <a:prstGeom xmlns:a="http://schemas.openxmlformats.org/drawingml/2006/main" prst="roundRect">
            <a:avLst>
              <a:gd name="adj" fmla="val 4145"/>
            </a:avLst>
          </a:prstGeom>
          <a:solidFill xmlns:a="http://schemas.openxmlformats.org/drawingml/2006/main">
            <a:srgbClr val="FFFFFF"/>
          </a:solidFill>
          <a:ln xmlns:a="http://schemas.openxmlformats.org/drawingml/2006/main" w="9525">
            <a:solidFill>
              <a:srgbClr val="DCE5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36ACC048-6700-4AD4-BD73-7C9FD8A45720}"/>
              </a:ext>
            </a:extLst>
          </p:cNvPr>
          <p:cNvSpPr>
            <a:spLocks xmlns:a="http://schemas.openxmlformats.org/drawingml/2006/main" noGrp="1"/>
          </p:cNvSpPr>
          <p:nvPr/>
        </p:nvSpPr>
        <p:spPr>
          <a:xfrm xmlns:a="http://schemas.openxmlformats.org/drawingml/2006/main">
            <a:off x="8143875" y="2257425"/>
            <a:ext cx="3000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263D"/>
                </a:solidFill>
                <a:latin typeface="Aptos"/>
                <a:ea typeface="Aptos"/>
                <a:cs typeface="Aptos"/>
              </a:defRPr>
            </a:pPr>
            <a:r>
              <a:rPr sz="1875" b="1">
                <a:solidFill>
                  <a:srgbClr val="10263D"/>
                </a:solidFill>
                <a:latin typeface="Aptos"/>
                <a:ea typeface="Aptos"/>
                <a:cs typeface="Aptos"/>
              </a:rPr>
              <a:t>Öncelikli eşleşmeler</a:t>
            </a:r>
          </a:p>
        </p:txBody>
      </p:sp>
      <p:sp>
        <p:nvSpPr>
          <p:cNvPr id="19" name="">
            <a:extLst xmlns:a="http://schemas.openxmlformats.org/drawingml/2006/main">
              <a:ext uri="{FF2B5EF4-FFF2-40B4-BE49-F238E27FC236}">
                <a16:creationId xmlns:a16="http://schemas.microsoft.com/office/drawing/2014/main" id="{50C6126F-84C3-445D-9D63-2307328A4049}"/>
              </a:ext>
            </a:extLst>
          </p:cNvPr>
          <p:cNvSpPr>
            <a:spLocks xmlns:a="http://schemas.openxmlformats.org/drawingml/2006/main" noGrp="1"/>
          </p:cNvSpPr>
          <p:nvPr/>
        </p:nvSpPr>
        <p:spPr>
          <a:xfrm xmlns:a="http://schemas.openxmlformats.org/drawingml/2006/main">
            <a:off x="8143875" y="2676525"/>
            <a:ext cx="3000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0748A"/>
                </a:solidFill>
                <a:latin typeface="Aptos"/>
                <a:ea typeface="Aptos"/>
                <a:cs typeface="Aptos"/>
              </a:defRPr>
            </a:pPr>
            <a:r>
              <a:rPr sz="975" b="1">
                <a:solidFill>
                  <a:srgbClr val="60748A"/>
                </a:solidFill>
                <a:latin typeface="Aptos"/>
                <a:ea typeface="Aptos"/>
                <a:cs typeface="Aptos"/>
              </a:rPr>
              <a:t>CONFIDENCE  •  LIFT  •  N</a:t>
            </a:r>
          </a:p>
        </p:txBody>
      </p:sp>
      <p:sp>
        <p:nvSpPr>
          <p:cNvPr id="20" name="">
            <a:extLst xmlns:a="http://schemas.openxmlformats.org/drawingml/2006/main">
              <a:ext uri="{FF2B5EF4-FFF2-40B4-BE49-F238E27FC236}">
                <a16:creationId xmlns:a16="http://schemas.microsoft.com/office/drawing/2014/main" id="{283D2040-2ECA-4A5F-A6BB-FAF101B33A94}"/>
              </a:ext>
            </a:extLst>
          </p:cNvPr>
          <p:cNvSpPr>
            <a:spLocks xmlns:a="http://schemas.openxmlformats.org/drawingml/2006/main" noGrp="1"/>
          </p:cNvSpPr>
          <p:nvPr/>
        </p:nvSpPr>
        <p:spPr>
          <a:xfrm xmlns:a="http://schemas.openxmlformats.org/drawingml/2006/main">
            <a:off x="8153400" y="3095625"/>
            <a:ext cx="95250" cy="95250"/>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81A4316-C15F-4D43-A62C-A0B970BAF5E0}"/>
              </a:ext>
            </a:extLst>
          </p:cNvPr>
          <p:cNvSpPr>
            <a:spLocks xmlns:a="http://schemas.openxmlformats.org/drawingml/2006/main" noGrp="1"/>
          </p:cNvSpPr>
          <p:nvPr/>
        </p:nvSpPr>
        <p:spPr>
          <a:xfrm xmlns:a="http://schemas.openxmlformats.org/drawingml/2006/main">
            <a:off x="8382000" y="3048000"/>
            <a:ext cx="1304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0263D"/>
                </a:solidFill>
                <a:latin typeface="Aptos"/>
                <a:ea typeface="Aptos"/>
                <a:cs typeface="Aptos"/>
              </a:defRPr>
            </a:pPr>
            <a:r>
              <a:rPr sz="1200" b="1">
                <a:solidFill>
                  <a:srgbClr val="10263D"/>
                </a:solidFill>
                <a:latin typeface="Aptos"/>
                <a:ea typeface="Aptos"/>
                <a:cs typeface="Aptos"/>
              </a:rPr>
              <a:t>3’lü kek kalıbı</a:t>
            </a:r>
          </a:p>
        </p:txBody>
      </p:sp>
      <p:sp>
        <p:nvSpPr>
          <p:cNvPr id="22" name="">
            <a:extLst xmlns:a="http://schemas.openxmlformats.org/drawingml/2006/main">
              <a:ext uri="{FF2B5EF4-FFF2-40B4-BE49-F238E27FC236}">
                <a16:creationId xmlns:a16="http://schemas.microsoft.com/office/drawing/2014/main" id="{28126495-C88C-4591-9CE9-113B712FA469}"/>
              </a:ext>
            </a:extLst>
          </p:cNvPr>
          <p:cNvSpPr>
            <a:spLocks xmlns:a="http://schemas.openxmlformats.org/drawingml/2006/main" noGrp="1"/>
          </p:cNvSpPr>
          <p:nvPr/>
        </p:nvSpPr>
        <p:spPr>
          <a:xfrm xmlns:a="http://schemas.openxmlformats.org/drawingml/2006/main">
            <a:off x="9686925" y="30480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12,0%</a:t>
            </a:r>
          </a:p>
        </p:txBody>
      </p:sp>
      <p:sp>
        <p:nvSpPr>
          <p:cNvPr id="23" name="">
            <a:extLst xmlns:a="http://schemas.openxmlformats.org/drawingml/2006/main">
              <a:ext uri="{FF2B5EF4-FFF2-40B4-BE49-F238E27FC236}">
                <a16:creationId xmlns:a16="http://schemas.microsoft.com/office/drawing/2014/main" id="{CEA87056-A94F-4EC2-BA8F-9C2E4F649E03}"/>
              </a:ext>
            </a:extLst>
          </p:cNvPr>
          <p:cNvSpPr>
            <a:spLocks xmlns:a="http://schemas.openxmlformats.org/drawingml/2006/main" noGrp="1"/>
          </p:cNvSpPr>
          <p:nvPr/>
        </p:nvSpPr>
        <p:spPr>
          <a:xfrm xmlns:a="http://schemas.openxmlformats.org/drawingml/2006/main">
            <a:off x="10382250" y="30480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F6BFF"/>
                </a:solidFill>
                <a:latin typeface="Aptos"/>
                <a:ea typeface="Aptos"/>
                <a:cs typeface="Aptos"/>
              </a:defRPr>
            </a:pPr>
            <a:r>
              <a:rPr sz="1200" b="1">
                <a:solidFill>
                  <a:srgbClr val="2F6BFF"/>
                </a:solidFill>
                <a:latin typeface="Aptos"/>
                <a:ea typeface="Aptos"/>
                <a:cs typeface="Aptos"/>
              </a:rPr>
              <a:t>6,70×</a:t>
            </a:r>
          </a:p>
        </p:txBody>
      </p:sp>
      <p:sp>
        <p:nvSpPr>
          <p:cNvPr id="24" name="">
            <a:extLst xmlns:a="http://schemas.openxmlformats.org/drawingml/2006/main">
              <a:ext uri="{FF2B5EF4-FFF2-40B4-BE49-F238E27FC236}">
                <a16:creationId xmlns:a16="http://schemas.microsoft.com/office/drawing/2014/main" id="{06E2A680-8218-46FF-924A-43E0D909C0BB}"/>
              </a:ext>
            </a:extLst>
          </p:cNvPr>
          <p:cNvSpPr>
            <a:spLocks xmlns:a="http://schemas.openxmlformats.org/drawingml/2006/main" noGrp="1"/>
          </p:cNvSpPr>
          <p:nvPr/>
        </p:nvSpPr>
        <p:spPr>
          <a:xfrm xmlns:a="http://schemas.openxmlformats.org/drawingml/2006/main">
            <a:off x="11049000" y="3048000"/>
            <a:ext cx="257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26</a:t>
            </a:r>
          </a:p>
        </p:txBody>
      </p:sp>
      <p:sp>
        <p:nvSpPr>
          <p:cNvPr id="25" name="">
            <a:extLst xmlns:a="http://schemas.openxmlformats.org/drawingml/2006/main">
              <a:ext uri="{FF2B5EF4-FFF2-40B4-BE49-F238E27FC236}">
                <a16:creationId xmlns:a16="http://schemas.microsoft.com/office/drawing/2014/main" id="{531F4DC6-9457-4A58-9AB2-C56FD8ECF13F}"/>
              </a:ext>
            </a:extLst>
          </p:cNvPr>
          <p:cNvSpPr>
            <a:spLocks xmlns:a="http://schemas.openxmlformats.org/drawingml/2006/main" noGrp="1"/>
          </p:cNvSpPr>
          <p:nvPr/>
        </p:nvSpPr>
        <p:spPr>
          <a:xfrm xmlns:a="http://schemas.openxmlformats.org/drawingml/2006/main">
            <a:off x="8153400" y="3590925"/>
            <a:ext cx="95250" cy="95250"/>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417FC70-23D4-4714-B758-AEBA3C403992}"/>
              </a:ext>
            </a:extLst>
          </p:cNvPr>
          <p:cNvSpPr>
            <a:spLocks xmlns:a="http://schemas.openxmlformats.org/drawingml/2006/main" noGrp="1"/>
          </p:cNvSpPr>
          <p:nvPr/>
        </p:nvSpPr>
        <p:spPr>
          <a:xfrm xmlns:a="http://schemas.openxmlformats.org/drawingml/2006/main">
            <a:off x="8382000" y="3543300"/>
            <a:ext cx="1304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0263D"/>
                </a:solidFill>
                <a:latin typeface="Aptos"/>
                <a:ea typeface="Aptos"/>
                <a:cs typeface="Aptos"/>
              </a:defRPr>
            </a:pPr>
            <a:r>
              <a:rPr sz="1200" b="1">
                <a:solidFill>
                  <a:srgbClr val="10263D"/>
                </a:solidFill>
                <a:latin typeface="Aptos"/>
                <a:ea typeface="Aptos"/>
                <a:cs typeface="Aptos"/>
              </a:rPr>
              <a:t>JAM seti • baskılı</a:t>
            </a:r>
          </a:p>
        </p:txBody>
      </p:sp>
      <p:sp>
        <p:nvSpPr>
          <p:cNvPr id="27" name="">
            <a:extLst xmlns:a="http://schemas.openxmlformats.org/drawingml/2006/main">
              <a:ext uri="{FF2B5EF4-FFF2-40B4-BE49-F238E27FC236}">
                <a16:creationId xmlns:a16="http://schemas.microsoft.com/office/drawing/2014/main" id="{C7C0FDBD-D3EF-4C91-903A-35317C6E0D4F}"/>
              </a:ext>
            </a:extLst>
          </p:cNvPr>
          <p:cNvSpPr>
            <a:spLocks xmlns:a="http://schemas.openxmlformats.org/drawingml/2006/main" noGrp="1"/>
          </p:cNvSpPr>
          <p:nvPr/>
        </p:nvSpPr>
        <p:spPr>
          <a:xfrm xmlns:a="http://schemas.openxmlformats.org/drawingml/2006/main">
            <a:off x="9686925" y="35433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9,7%</a:t>
            </a:r>
          </a:p>
        </p:txBody>
      </p:sp>
      <p:sp>
        <p:nvSpPr>
          <p:cNvPr id="28" name="">
            <a:extLst xmlns:a="http://schemas.openxmlformats.org/drawingml/2006/main">
              <a:ext uri="{FF2B5EF4-FFF2-40B4-BE49-F238E27FC236}">
                <a16:creationId xmlns:a16="http://schemas.microsoft.com/office/drawing/2014/main" id="{AEE0EC21-B610-485A-9CDF-EE041E29F15D}"/>
              </a:ext>
            </a:extLst>
          </p:cNvPr>
          <p:cNvSpPr>
            <a:spLocks xmlns:a="http://schemas.openxmlformats.org/drawingml/2006/main" noGrp="1"/>
          </p:cNvSpPr>
          <p:nvPr/>
        </p:nvSpPr>
        <p:spPr>
          <a:xfrm xmlns:a="http://schemas.openxmlformats.org/drawingml/2006/main">
            <a:off x="10382250" y="35433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00A88F"/>
                </a:solidFill>
                <a:latin typeface="Aptos"/>
                <a:ea typeface="Aptos"/>
                <a:cs typeface="Aptos"/>
              </a:defRPr>
            </a:pPr>
            <a:r>
              <a:rPr sz="1200" b="1">
                <a:solidFill>
                  <a:srgbClr val="00A88F"/>
                </a:solidFill>
                <a:latin typeface="Aptos"/>
                <a:ea typeface="Aptos"/>
                <a:cs typeface="Aptos"/>
              </a:rPr>
              <a:t>7,87×</a:t>
            </a:r>
          </a:p>
        </p:txBody>
      </p:sp>
      <p:sp>
        <p:nvSpPr>
          <p:cNvPr id="29" name="">
            <a:extLst xmlns:a="http://schemas.openxmlformats.org/drawingml/2006/main">
              <a:ext uri="{FF2B5EF4-FFF2-40B4-BE49-F238E27FC236}">
                <a16:creationId xmlns:a16="http://schemas.microsoft.com/office/drawing/2014/main" id="{34909AA2-283F-4C91-819D-50C80AD1F28B}"/>
              </a:ext>
            </a:extLst>
          </p:cNvPr>
          <p:cNvSpPr>
            <a:spLocks xmlns:a="http://schemas.openxmlformats.org/drawingml/2006/main" noGrp="1"/>
          </p:cNvSpPr>
          <p:nvPr/>
        </p:nvSpPr>
        <p:spPr>
          <a:xfrm xmlns:a="http://schemas.openxmlformats.org/drawingml/2006/main">
            <a:off x="11049000" y="3543300"/>
            <a:ext cx="257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21</a:t>
            </a:r>
          </a:p>
        </p:txBody>
      </p:sp>
      <p:sp>
        <p:nvSpPr>
          <p:cNvPr id="30" name="">
            <a:extLst xmlns:a="http://schemas.openxmlformats.org/drawingml/2006/main">
              <a:ext uri="{FF2B5EF4-FFF2-40B4-BE49-F238E27FC236}">
                <a16:creationId xmlns:a16="http://schemas.microsoft.com/office/drawing/2014/main" id="{13141BD6-0839-467A-828D-450E7A809429}"/>
              </a:ext>
            </a:extLst>
          </p:cNvPr>
          <p:cNvSpPr>
            <a:spLocks xmlns:a="http://schemas.openxmlformats.org/drawingml/2006/main" noGrp="1"/>
          </p:cNvSpPr>
          <p:nvPr/>
        </p:nvSpPr>
        <p:spPr>
          <a:xfrm xmlns:a="http://schemas.openxmlformats.org/drawingml/2006/main">
            <a:off x="8153400" y="4086225"/>
            <a:ext cx="95250" cy="95250"/>
          </a:xfrm>
          <a:prstGeom xmlns:a="http://schemas.openxmlformats.org/drawingml/2006/main" prst="ellipse">
            <a:avLst/>
          </a:prstGeom>
          <a:solidFill xmlns:a="http://schemas.openxmlformats.org/drawingml/2006/main">
            <a:srgbClr val="7B61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0F7003F-7EAD-45E5-820D-570A63896D3B}"/>
              </a:ext>
            </a:extLst>
          </p:cNvPr>
          <p:cNvSpPr>
            <a:spLocks xmlns:a="http://schemas.openxmlformats.org/drawingml/2006/main" noGrp="1"/>
          </p:cNvSpPr>
          <p:nvPr/>
        </p:nvSpPr>
        <p:spPr>
          <a:xfrm xmlns:a="http://schemas.openxmlformats.org/drawingml/2006/main">
            <a:off x="8382000" y="4038600"/>
            <a:ext cx="1304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0263D"/>
                </a:solidFill>
                <a:latin typeface="Aptos"/>
                <a:ea typeface="Aptos"/>
                <a:cs typeface="Aptos"/>
              </a:defRPr>
            </a:pPr>
            <a:r>
              <a:rPr sz="1200" b="1">
                <a:solidFill>
                  <a:srgbClr val="10263D"/>
                </a:solidFill>
                <a:latin typeface="Aptos"/>
                <a:ea typeface="Aptos"/>
                <a:cs typeface="Aptos"/>
              </a:rPr>
              <a:t>Tarif kutusu</a:t>
            </a:r>
          </a:p>
        </p:txBody>
      </p:sp>
      <p:sp>
        <p:nvSpPr>
          <p:cNvPr id="32" name="">
            <a:extLst xmlns:a="http://schemas.openxmlformats.org/drawingml/2006/main">
              <a:ext uri="{FF2B5EF4-FFF2-40B4-BE49-F238E27FC236}">
                <a16:creationId xmlns:a16="http://schemas.microsoft.com/office/drawing/2014/main" id="{8997769C-139C-4FBA-B5E6-424140001633}"/>
              </a:ext>
            </a:extLst>
          </p:cNvPr>
          <p:cNvSpPr>
            <a:spLocks xmlns:a="http://schemas.openxmlformats.org/drawingml/2006/main" noGrp="1"/>
          </p:cNvSpPr>
          <p:nvPr/>
        </p:nvSpPr>
        <p:spPr>
          <a:xfrm xmlns:a="http://schemas.openxmlformats.org/drawingml/2006/main">
            <a:off x="9686925" y="40386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6,5%</a:t>
            </a:r>
          </a:p>
        </p:txBody>
      </p:sp>
      <p:sp>
        <p:nvSpPr>
          <p:cNvPr id="33" name="">
            <a:extLst xmlns:a="http://schemas.openxmlformats.org/drawingml/2006/main">
              <a:ext uri="{FF2B5EF4-FFF2-40B4-BE49-F238E27FC236}">
                <a16:creationId xmlns:a16="http://schemas.microsoft.com/office/drawing/2014/main" id="{5B8036A9-34A8-4BAE-A6A3-247F00774FFE}"/>
              </a:ext>
            </a:extLst>
          </p:cNvPr>
          <p:cNvSpPr>
            <a:spLocks xmlns:a="http://schemas.openxmlformats.org/drawingml/2006/main" noGrp="1"/>
          </p:cNvSpPr>
          <p:nvPr/>
        </p:nvSpPr>
        <p:spPr>
          <a:xfrm xmlns:a="http://schemas.openxmlformats.org/drawingml/2006/main">
            <a:off x="10382250" y="40386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7B61FF"/>
                </a:solidFill>
                <a:latin typeface="Aptos"/>
                <a:ea typeface="Aptos"/>
                <a:cs typeface="Aptos"/>
              </a:defRPr>
            </a:pPr>
            <a:r>
              <a:rPr sz="1200" b="1">
                <a:solidFill>
                  <a:srgbClr val="7B61FF"/>
                </a:solidFill>
                <a:latin typeface="Aptos"/>
                <a:ea typeface="Aptos"/>
                <a:cs typeface="Aptos"/>
              </a:rPr>
              <a:t>4,88×</a:t>
            </a:r>
          </a:p>
        </p:txBody>
      </p:sp>
      <p:sp>
        <p:nvSpPr>
          <p:cNvPr id="34" name="">
            <a:extLst xmlns:a="http://schemas.openxmlformats.org/drawingml/2006/main">
              <a:ext uri="{FF2B5EF4-FFF2-40B4-BE49-F238E27FC236}">
                <a16:creationId xmlns:a16="http://schemas.microsoft.com/office/drawing/2014/main" id="{F47E9AF0-C4B8-4746-AABA-E0FF0FE27E41}"/>
              </a:ext>
            </a:extLst>
          </p:cNvPr>
          <p:cNvSpPr>
            <a:spLocks xmlns:a="http://schemas.openxmlformats.org/drawingml/2006/main" noGrp="1"/>
          </p:cNvSpPr>
          <p:nvPr/>
        </p:nvSpPr>
        <p:spPr>
          <a:xfrm xmlns:a="http://schemas.openxmlformats.org/drawingml/2006/main">
            <a:off x="11049000" y="4038600"/>
            <a:ext cx="257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14</a:t>
            </a:r>
          </a:p>
        </p:txBody>
      </p:sp>
      <p:sp>
        <p:nvSpPr>
          <p:cNvPr id="35" name="">
            <a:extLst xmlns:a="http://schemas.openxmlformats.org/drawingml/2006/main">
              <a:ext uri="{FF2B5EF4-FFF2-40B4-BE49-F238E27FC236}">
                <a16:creationId xmlns:a16="http://schemas.microsoft.com/office/drawing/2014/main" id="{B22533A7-2E20-4E2D-8335-6BA094C79516}"/>
              </a:ext>
            </a:extLst>
          </p:cNvPr>
          <p:cNvSpPr>
            <a:spLocks xmlns:a="http://schemas.openxmlformats.org/drawingml/2006/main" noGrp="1"/>
          </p:cNvSpPr>
          <p:nvPr/>
        </p:nvSpPr>
        <p:spPr>
          <a:xfrm xmlns:a="http://schemas.openxmlformats.org/drawingml/2006/main">
            <a:off x="8153400" y="4581525"/>
            <a:ext cx="95250" cy="95250"/>
          </a:xfrm>
          <a:prstGeom xmlns:a="http://schemas.openxmlformats.org/drawingml/2006/main" prst="ellipse">
            <a:avLst/>
          </a:prstGeom>
          <a:solidFill xmlns:a="http://schemas.openxmlformats.org/drawingml/2006/main">
            <a:srgbClr val="F2B94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D35F78C-F542-4094-B9FB-5297AAF899BF}"/>
              </a:ext>
            </a:extLst>
          </p:cNvPr>
          <p:cNvSpPr>
            <a:spLocks xmlns:a="http://schemas.openxmlformats.org/drawingml/2006/main" noGrp="1"/>
          </p:cNvSpPr>
          <p:nvPr/>
        </p:nvSpPr>
        <p:spPr>
          <a:xfrm xmlns:a="http://schemas.openxmlformats.org/drawingml/2006/main">
            <a:off x="8382000" y="4533900"/>
            <a:ext cx="1304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0263D"/>
                </a:solidFill>
                <a:latin typeface="Aptos"/>
                <a:ea typeface="Aptos"/>
                <a:cs typeface="Aptos"/>
              </a:defRPr>
            </a:pPr>
            <a:r>
              <a:rPr sz="1200" b="1">
                <a:solidFill>
                  <a:srgbClr val="10263D"/>
                </a:solidFill>
                <a:latin typeface="Aptos"/>
                <a:ea typeface="Aptos"/>
                <a:cs typeface="Aptos"/>
              </a:rPr>
              <a:t>Jelly moulds</a:t>
            </a:r>
          </a:p>
        </p:txBody>
      </p:sp>
      <p:sp>
        <p:nvSpPr>
          <p:cNvPr id="37" name="">
            <a:extLst xmlns:a="http://schemas.openxmlformats.org/drawingml/2006/main">
              <a:ext uri="{FF2B5EF4-FFF2-40B4-BE49-F238E27FC236}">
                <a16:creationId xmlns:a16="http://schemas.microsoft.com/office/drawing/2014/main" id="{875FA473-CB84-4C03-938E-7C5F5DB1C07B}"/>
              </a:ext>
            </a:extLst>
          </p:cNvPr>
          <p:cNvSpPr>
            <a:spLocks xmlns:a="http://schemas.openxmlformats.org/drawingml/2006/main" noGrp="1"/>
          </p:cNvSpPr>
          <p:nvPr/>
        </p:nvSpPr>
        <p:spPr>
          <a:xfrm xmlns:a="http://schemas.openxmlformats.org/drawingml/2006/main">
            <a:off x="9686925" y="45339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5,5%</a:t>
            </a:r>
          </a:p>
        </p:txBody>
      </p:sp>
      <p:sp>
        <p:nvSpPr>
          <p:cNvPr id="38" name="">
            <a:extLst xmlns:a="http://schemas.openxmlformats.org/drawingml/2006/main">
              <a:ext uri="{FF2B5EF4-FFF2-40B4-BE49-F238E27FC236}">
                <a16:creationId xmlns:a16="http://schemas.microsoft.com/office/drawing/2014/main" id="{6A4C777D-77EE-4138-9CE5-B89D1EBFDD0A}"/>
              </a:ext>
            </a:extLst>
          </p:cNvPr>
          <p:cNvSpPr>
            <a:spLocks xmlns:a="http://schemas.openxmlformats.org/drawingml/2006/main" noGrp="1"/>
          </p:cNvSpPr>
          <p:nvPr/>
        </p:nvSpPr>
        <p:spPr>
          <a:xfrm xmlns:a="http://schemas.openxmlformats.org/drawingml/2006/main">
            <a:off x="10382250" y="45339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2B94B"/>
                </a:solidFill>
                <a:latin typeface="Aptos"/>
                <a:ea typeface="Aptos"/>
                <a:cs typeface="Aptos"/>
              </a:defRPr>
            </a:pPr>
            <a:r>
              <a:rPr sz="1200" b="1">
                <a:solidFill>
                  <a:srgbClr val="F2B94B"/>
                </a:solidFill>
                <a:latin typeface="Aptos"/>
                <a:ea typeface="Aptos"/>
                <a:cs typeface="Aptos"/>
              </a:rPr>
              <a:t>3,65×</a:t>
            </a:r>
          </a:p>
        </p:txBody>
      </p:sp>
      <p:sp>
        <p:nvSpPr>
          <p:cNvPr id="39" name="">
            <a:extLst xmlns:a="http://schemas.openxmlformats.org/drawingml/2006/main">
              <a:ext uri="{FF2B5EF4-FFF2-40B4-BE49-F238E27FC236}">
                <a16:creationId xmlns:a16="http://schemas.microsoft.com/office/drawing/2014/main" id="{09400810-49D1-4118-9613-0FDA57FDA44A}"/>
              </a:ext>
            </a:extLst>
          </p:cNvPr>
          <p:cNvSpPr>
            <a:spLocks xmlns:a="http://schemas.openxmlformats.org/drawingml/2006/main" noGrp="1"/>
          </p:cNvSpPr>
          <p:nvPr/>
        </p:nvSpPr>
        <p:spPr>
          <a:xfrm xmlns:a="http://schemas.openxmlformats.org/drawingml/2006/main">
            <a:off x="11049000" y="4533900"/>
            <a:ext cx="257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12</a:t>
            </a:r>
          </a:p>
        </p:txBody>
      </p:sp>
      <p:sp>
        <p:nvSpPr>
          <p:cNvPr id="40" name="">
            <a:extLst xmlns:a="http://schemas.openxmlformats.org/drawingml/2006/main">
              <a:ext uri="{FF2B5EF4-FFF2-40B4-BE49-F238E27FC236}">
                <a16:creationId xmlns:a16="http://schemas.microsoft.com/office/drawing/2014/main" id="{E254685C-3A0B-4087-A124-0EA469DACB11}"/>
              </a:ext>
            </a:extLst>
          </p:cNvPr>
          <p:cNvSpPr>
            <a:spLocks xmlns:a="http://schemas.openxmlformats.org/drawingml/2006/main" noGrp="1"/>
          </p:cNvSpPr>
          <p:nvPr/>
        </p:nvSpPr>
        <p:spPr>
          <a:xfrm xmlns:a="http://schemas.openxmlformats.org/drawingml/2006/main">
            <a:off x="8153400" y="5076825"/>
            <a:ext cx="95250" cy="95250"/>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F361ACE-3F16-492D-A885-1A39AD9BF872}"/>
              </a:ext>
            </a:extLst>
          </p:cNvPr>
          <p:cNvSpPr>
            <a:spLocks xmlns:a="http://schemas.openxmlformats.org/drawingml/2006/main" noGrp="1"/>
          </p:cNvSpPr>
          <p:nvPr/>
        </p:nvSpPr>
        <p:spPr>
          <a:xfrm xmlns:a="http://schemas.openxmlformats.org/drawingml/2006/main">
            <a:off x="8382000" y="5029200"/>
            <a:ext cx="1304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0263D"/>
                </a:solidFill>
                <a:latin typeface="Aptos"/>
                <a:ea typeface="Aptos"/>
                <a:cs typeface="Aptos"/>
              </a:defRPr>
            </a:pPr>
            <a:r>
              <a:rPr sz="1200" b="1">
                <a:solidFill>
                  <a:srgbClr val="10263D"/>
                </a:solidFill>
                <a:latin typeface="Aptos"/>
                <a:ea typeface="Aptos"/>
                <a:cs typeface="Aptos"/>
              </a:rPr>
              <a:t>Kelebek kalıp</a:t>
            </a:r>
          </a:p>
        </p:txBody>
      </p:sp>
      <p:sp>
        <p:nvSpPr>
          <p:cNvPr id="42" name="">
            <a:extLst xmlns:a="http://schemas.openxmlformats.org/drawingml/2006/main">
              <a:ext uri="{FF2B5EF4-FFF2-40B4-BE49-F238E27FC236}">
                <a16:creationId xmlns:a16="http://schemas.microsoft.com/office/drawing/2014/main" id="{39877BA3-40AC-40DF-A223-C9F4C450E065}"/>
              </a:ext>
            </a:extLst>
          </p:cNvPr>
          <p:cNvSpPr>
            <a:spLocks xmlns:a="http://schemas.openxmlformats.org/drawingml/2006/main" noGrp="1"/>
          </p:cNvSpPr>
          <p:nvPr/>
        </p:nvSpPr>
        <p:spPr>
          <a:xfrm xmlns:a="http://schemas.openxmlformats.org/drawingml/2006/main">
            <a:off x="9686925" y="50292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4,6%</a:t>
            </a:r>
          </a:p>
        </p:txBody>
      </p:sp>
      <p:sp>
        <p:nvSpPr>
          <p:cNvPr id="43" name="">
            <a:extLst xmlns:a="http://schemas.openxmlformats.org/drawingml/2006/main">
              <a:ext uri="{FF2B5EF4-FFF2-40B4-BE49-F238E27FC236}">
                <a16:creationId xmlns:a16="http://schemas.microsoft.com/office/drawing/2014/main" id="{79B868A1-EACF-47B6-A3DC-315DE765D7DB}"/>
              </a:ext>
            </a:extLst>
          </p:cNvPr>
          <p:cNvSpPr>
            <a:spLocks xmlns:a="http://schemas.openxmlformats.org/drawingml/2006/main" noGrp="1"/>
          </p:cNvSpPr>
          <p:nvPr/>
        </p:nvSpPr>
        <p:spPr>
          <a:xfrm xmlns:a="http://schemas.openxmlformats.org/drawingml/2006/main">
            <a:off x="10382250" y="50292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EF6A5B"/>
                </a:solidFill>
                <a:latin typeface="Aptos"/>
                <a:ea typeface="Aptos"/>
                <a:cs typeface="Aptos"/>
              </a:defRPr>
            </a:pPr>
            <a:r>
              <a:rPr sz="1200" b="1">
                <a:solidFill>
                  <a:srgbClr val="EF6A5B"/>
                </a:solidFill>
                <a:latin typeface="Aptos"/>
                <a:ea typeface="Aptos"/>
                <a:cs typeface="Aptos"/>
              </a:rPr>
              <a:t>5,69×</a:t>
            </a:r>
          </a:p>
        </p:txBody>
      </p:sp>
      <p:sp>
        <p:nvSpPr>
          <p:cNvPr id="44" name="">
            <a:extLst xmlns:a="http://schemas.openxmlformats.org/drawingml/2006/main">
              <a:ext uri="{FF2B5EF4-FFF2-40B4-BE49-F238E27FC236}">
                <a16:creationId xmlns:a16="http://schemas.microsoft.com/office/drawing/2014/main" id="{13016D4D-FC46-474A-A4DA-BCA1111FE81A}"/>
              </a:ext>
            </a:extLst>
          </p:cNvPr>
          <p:cNvSpPr>
            <a:spLocks xmlns:a="http://schemas.openxmlformats.org/drawingml/2006/main" noGrp="1"/>
          </p:cNvSpPr>
          <p:nvPr/>
        </p:nvSpPr>
        <p:spPr>
          <a:xfrm xmlns:a="http://schemas.openxmlformats.org/drawingml/2006/main">
            <a:off x="11049000" y="5029200"/>
            <a:ext cx="257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0748A"/>
                </a:solidFill>
                <a:latin typeface="Aptos"/>
                <a:ea typeface="Aptos"/>
                <a:cs typeface="Aptos"/>
              </a:defRPr>
            </a:pPr>
            <a:r>
              <a:rPr sz="1200" b="0">
                <a:solidFill>
                  <a:srgbClr val="60748A"/>
                </a:solidFill>
                <a:latin typeface="Aptos"/>
                <a:ea typeface="Aptos"/>
                <a:cs typeface="Aptos"/>
              </a:rPr>
              <a:t>10</a:t>
            </a:r>
          </a:p>
        </p:txBody>
      </p:sp>
      <p:sp>
        <p:nvSpPr>
          <p:cNvPr id="45" name="">
            <a:extLst xmlns:a="http://schemas.openxmlformats.org/drawingml/2006/main">
              <a:ext uri="{FF2B5EF4-FFF2-40B4-BE49-F238E27FC236}">
                <a16:creationId xmlns:a16="http://schemas.microsoft.com/office/drawing/2014/main" id="{52743F9C-753D-4451-A479-F76AD5D56B2C}"/>
              </a:ext>
            </a:extLst>
          </p:cNvPr>
          <p:cNvSpPr>
            <a:spLocks xmlns:a="http://schemas.openxmlformats.org/drawingml/2006/main" noGrp="1"/>
          </p:cNvSpPr>
          <p:nvPr/>
        </p:nvSpPr>
        <p:spPr>
          <a:xfrm xmlns:a="http://schemas.openxmlformats.org/drawingml/2006/main">
            <a:off x="8115300" y="5600700"/>
            <a:ext cx="3171825" cy="295275"/>
          </a:xfrm>
          <a:prstGeom xmlns:a="http://schemas.openxmlformats.org/drawingml/2006/main" prst="roundRect">
            <a:avLst>
              <a:gd name="adj" fmla="val 19355"/>
            </a:avLst>
          </a:prstGeom>
          <a:solidFill xmlns:a="http://schemas.openxmlformats.org/drawingml/2006/main">
            <a:srgbClr val="EAF0F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90F8A956-BAD3-483C-ACDD-98C6759FB363}"/>
              </a:ext>
            </a:extLst>
          </p:cNvPr>
          <p:cNvSpPr>
            <a:spLocks xmlns:a="http://schemas.openxmlformats.org/drawingml/2006/main" noGrp="1"/>
          </p:cNvSpPr>
          <p:nvPr/>
        </p:nvSpPr>
        <p:spPr>
          <a:xfrm xmlns:a="http://schemas.openxmlformats.org/drawingml/2006/main">
            <a:off x="8210550" y="5676900"/>
            <a:ext cx="3000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0748A"/>
                </a:solidFill>
                <a:latin typeface="Aptos"/>
                <a:ea typeface="Aptos"/>
                <a:cs typeface="Aptos"/>
              </a:defRPr>
            </a:pPr>
            <a:r>
              <a:rPr sz="975" b="0">
                <a:solidFill>
                  <a:srgbClr val="60748A"/>
                </a:solidFill>
                <a:latin typeface="Aptos"/>
                <a:ea typeface="Aptos"/>
                <a:cs typeface="Aptos"/>
              </a:rPr>
              <a:t>Lift &gt; 1: birliktelik rastlantısal beklentinin üzerinde.</a:t>
            </a:r>
          </a:p>
        </p:txBody>
      </p:sp>
      <p:sp>
        <p:nvSpPr>
          <p:cNvPr id="47" name="">
            <a:extLst xmlns:a="http://schemas.openxmlformats.org/drawingml/2006/main">
              <a:ext uri="{FF2B5EF4-FFF2-40B4-BE49-F238E27FC236}">
                <a16:creationId xmlns:a16="http://schemas.microsoft.com/office/drawing/2014/main" id="{C5DFBA13-41D7-4D67-8688-D82E8063943D}"/>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48" name="">
            <a:extLst xmlns:a="http://schemas.openxmlformats.org/drawingml/2006/main">
              <a:ext uri="{FF2B5EF4-FFF2-40B4-BE49-F238E27FC236}">
                <a16:creationId xmlns:a16="http://schemas.microsoft.com/office/drawing/2014/main" id="{A3C1AA09-BD15-4669-BF81-CAD566875062}"/>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49" name="">
            <a:extLst xmlns:a="http://schemas.openxmlformats.org/drawingml/2006/main">
              <a:ext uri="{FF2B5EF4-FFF2-40B4-BE49-F238E27FC236}">
                <a16:creationId xmlns:a16="http://schemas.microsoft.com/office/drawing/2014/main" id="{7C9E68D9-4721-440A-8189-26A37433683E}"/>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846398102"/>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83128B8-B30D-403F-861E-D4B16909BCFD}"/>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E284ACD-4025-4081-A0AE-FD54336FB409}"/>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2 • SATIŞ STRATEJISI</a:t>
            </a:r>
          </a:p>
        </p:txBody>
      </p:sp>
      <p:sp>
        <p:nvSpPr>
          <p:cNvPr id="3" name="">
            <a:extLst xmlns:a="http://schemas.openxmlformats.org/drawingml/2006/main">
              <a:ext uri="{FF2B5EF4-FFF2-40B4-BE49-F238E27FC236}">
                <a16:creationId xmlns:a16="http://schemas.microsoft.com/office/drawing/2014/main" id="{B80DC41F-4951-43D4-A3D3-74D890C3E5C9}"/>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“Reçel Yapım Atölyesi” paketini üç noktada büyüt</a:t>
            </a:r>
          </a:p>
        </p:txBody>
      </p:sp>
      <p:sp>
        <p:nvSpPr>
          <p:cNvPr id="4" name="">
            <a:extLst xmlns:a="http://schemas.openxmlformats.org/drawingml/2006/main">
              <a:ext uri="{FF2B5EF4-FFF2-40B4-BE49-F238E27FC236}">
                <a16:creationId xmlns:a16="http://schemas.microsoft.com/office/drawing/2014/main" id="{3D4A153E-1BEA-45BC-B561-225020C6A081}"/>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Önce öneri mekanizmasını test et; indirim gereksinimini sonuçlara göre belirle</a:t>
            </a:r>
          </a:p>
        </p:txBody>
      </p:sp>
      <p:sp>
        <p:nvSpPr>
          <p:cNvPr id="5" name="">
            <a:extLst xmlns:a="http://schemas.openxmlformats.org/drawingml/2006/main">
              <a:ext uri="{FF2B5EF4-FFF2-40B4-BE49-F238E27FC236}">
                <a16:creationId xmlns:a16="http://schemas.microsoft.com/office/drawing/2014/main" id="{E202551A-CCB2-489E-B15E-D4428107B017}"/>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1A8B4AA6-3F23-48F9-B19C-4F49FBF43521}"/>
              </a:ext>
            </a:extLst>
          </p:cNvPr>
          <p:cNvSpPr>
            <a:spLocks xmlns:a="http://schemas.openxmlformats.org/drawingml/2006/main" noGrp="1"/>
          </p:cNvSpPr>
          <p:nvPr/>
        </p:nvSpPr>
        <p:spPr>
          <a:xfrm xmlns:a="http://schemas.openxmlformats.org/drawingml/2006/main">
            <a:off x="685800" y="1981200"/>
            <a:ext cx="4400550" cy="3505200"/>
          </a:xfrm>
          <a:prstGeom xmlns:a="http://schemas.openxmlformats.org/drawingml/2006/main" prst="roundRect">
            <a:avLst>
              <a:gd name="adj" fmla="val 4348"/>
            </a:avLst>
          </a:prstGeom>
          <a:solidFill xmlns:a="http://schemas.openxmlformats.org/drawingml/2006/main">
            <a:srgbClr val="10263D"/>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8B63CB4-136F-4C4B-A89F-4DE472570B20}"/>
              </a:ext>
            </a:extLst>
          </p:cNvPr>
          <p:cNvSpPr>
            <a:spLocks xmlns:a="http://schemas.openxmlformats.org/drawingml/2006/main" noGrp="1"/>
          </p:cNvSpPr>
          <p:nvPr/>
        </p:nvSpPr>
        <p:spPr>
          <a:xfrm xmlns:a="http://schemas.openxmlformats.org/drawingml/2006/main">
            <a:off x="962025" y="2228850"/>
            <a:ext cx="1428750" cy="285750"/>
          </a:xfrm>
          <a:prstGeom xmlns:a="http://schemas.openxmlformats.org/drawingml/2006/main" prst="roundRect">
            <a:avLst>
              <a:gd name="adj" fmla="val 50000"/>
            </a:avLst>
          </a:prstGeom>
          <a:solidFill xmlns:a="http://schemas.openxmlformats.org/drawingml/2006/main">
            <a:srgbClr val="FFFFFF">
              <a:alpha val="9412"/>
            </a:srgbClr>
          </a:solidFill>
          <a:ln xmlns:a="http://schemas.openxmlformats.org/drawingml/2006/main" w="9525">
            <a:solidFill>
              <a:srgbClr val="FFFFFF">
                <a:alpha val="20784"/>
              </a:srgbClr>
            </a:solidFill>
            <a:prstDash val="solid"/>
          </a:ln>
        </p:spPr>
      </p:sp>
      <p:sp>
        <p:nvSpPr>
          <p:cNvPr id="8" name="">
            <a:extLst xmlns:a="http://schemas.openxmlformats.org/drawingml/2006/main">
              <a:ext uri="{FF2B5EF4-FFF2-40B4-BE49-F238E27FC236}">
                <a16:creationId xmlns:a16="http://schemas.microsoft.com/office/drawing/2014/main" id="{CB120E33-7420-44AE-BD52-084C2A68DA3D}"/>
              </a:ext>
            </a:extLst>
          </p:cNvPr>
          <p:cNvSpPr>
            <a:spLocks xmlns:a="http://schemas.openxmlformats.org/drawingml/2006/main" noGrp="1"/>
          </p:cNvSpPr>
          <p:nvPr/>
        </p:nvSpPr>
        <p:spPr>
          <a:xfrm xmlns:a="http://schemas.openxmlformats.org/drawingml/2006/main">
            <a:off x="1057275" y="22764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D6E8F5"/>
                </a:solidFill>
                <a:latin typeface="Aptos"/>
                <a:ea typeface="Aptos"/>
                <a:cs typeface="Aptos"/>
              </a:defRPr>
            </a:pPr>
            <a:r>
              <a:rPr sz="975" b="1">
                <a:solidFill>
                  <a:srgbClr val="D6E8F5"/>
                </a:solidFill>
                <a:latin typeface="Aptos"/>
                <a:ea typeface="Aptos"/>
                <a:cs typeface="Aptos"/>
              </a:rPr>
              <a:t>BUNDLE MİMARİSİ</a:t>
            </a:r>
          </a:p>
        </p:txBody>
      </p:sp>
      <p:sp>
        <p:nvSpPr>
          <p:cNvPr id="9" name="">
            <a:extLst xmlns:a="http://schemas.openxmlformats.org/drawingml/2006/main">
              <a:ext uri="{FF2B5EF4-FFF2-40B4-BE49-F238E27FC236}">
                <a16:creationId xmlns:a16="http://schemas.microsoft.com/office/drawing/2014/main" id="{B8189035-F122-46F1-99A3-6D0754CB131A}"/>
              </a:ext>
            </a:extLst>
          </p:cNvPr>
          <p:cNvSpPr>
            <a:spLocks xmlns:a="http://schemas.openxmlformats.org/drawingml/2006/main" noGrp="1"/>
          </p:cNvSpPr>
          <p:nvPr/>
        </p:nvSpPr>
        <p:spPr>
          <a:xfrm xmlns:a="http://schemas.openxmlformats.org/drawingml/2006/main">
            <a:off x="962025" y="2686050"/>
            <a:ext cx="3143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75" b="1">
                <a:solidFill>
                  <a:srgbClr val="FFFFFF"/>
                </a:solidFill>
                <a:latin typeface="Aptos Display"/>
                <a:ea typeface="Aptos Display"/>
                <a:cs typeface="Aptos Display"/>
              </a:defRPr>
            </a:pPr>
            <a:r>
              <a:rPr sz="3075" b="1">
                <a:solidFill>
                  <a:srgbClr val="FFFFFF"/>
                </a:solidFill>
                <a:latin typeface="Aptos Display"/>
                <a:ea typeface="Aptos Display"/>
                <a:cs typeface="Aptos Display"/>
              </a:rPr>
              <a:t>Reçel Yapım</a:t>
            </a:r>
          </a:p>
          <a:p xmlns:a="http://schemas.openxmlformats.org/drawingml/2006/main">
            <a:pPr algn="l">
              <a:lnSpc>
                <a:spcPct val="94000"/>
              </a:lnSpc>
              <a:buNone/>
              <a:defRPr sz="3075" b="1">
                <a:solidFill>
                  <a:srgbClr val="FFFFFF"/>
                </a:solidFill>
                <a:latin typeface="Aptos Display"/>
                <a:ea typeface="Aptos Display"/>
                <a:cs typeface="Aptos Display"/>
              </a:defRPr>
            </a:pPr>
            <a:r>
              <a:rPr sz="3075" b="1">
                <a:solidFill>
                  <a:srgbClr val="FFFFFF"/>
                </a:solidFill>
                <a:latin typeface="Aptos Display"/>
                <a:ea typeface="Aptos Display"/>
                <a:cs typeface="Aptos Display"/>
              </a:rPr>
              <a:t>Atölyesi</a:t>
            </a:r>
          </a:p>
        </p:txBody>
      </p:sp>
      <p:sp>
        <p:nvSpPr>
          <p:cNvPr id="10" name="">
            <a:extLst xmlns:a="http://schemas.openxmlformats.org/drawingml/2006/main">
              <a:ext uri="{FF2B5EF4-FFF2-40B4-BE49-F238E27FC236}">
                <a16:creationId xmlns:a16="http://schemas.microsoft.com/office/drawing/2014/main" id="{34A3D711-7FE5-4866-8F3C-0D916606EBBF}"/>
              </a:ext>
            </a:extLst>
          </p:cNvPr>
          <p:cNvSpPr>
            <a:spLocks xmlns:a="http://schemas.openxmlformats.org/drawingml/2006/main" noGrp="1"/>
          </p:cNvSpPr>
          <p:nvPr/>
        </p:nvSpPr>
        <p:spPr>
          <a:xfrm xmlns:a="http://schemas.openxmlformats.org/drawingml/2006/main">
            <a:off x="962025" y="395287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CC3E1"/>
                </a:solidFill>
                <a:latin typeface="Aptos"/>
                <a:ea typeface="Aptos"/>
                <a:cs typeface="Aptos"/>
              </a:defRPr>
            </a:pPr>
            <a:r>
              <a:rPr sz="1200" b="1">
                <a:solidFill>
                  <a:srgbClr val="9CC3E1"/>
                </a:solidFill>
                <a:latin typeface="Aptos"/>
                <a:ea typeface="Aptos"/>
                <a:cs typeface="Aptos"/>
              </a:rPr>
              <a:t>Çekirdek paket</a:t>
            </a:r>
          </a:p>
        </p:txBody>
      </p:sp>
      <p:sp>
        <p:nvSpPr>
          <p:cNvPr id="11" name="">
            <a:extLst xmlns:a="http://schemas.openxmlformats.org/drawingml/2006/main">
              <a:ext uri="{FF2B5EF4-FFF2-40B4-BE49-F238E27FC236}">
                <a16:creationId xmlns:a16="http://schemas.microsoft.com/office/drawing/2014/main" id="{1E71D559-F674-4F5E-933A-49A9C6F97A60}"/>
              </a:ext>
            </a:extLst>
          </p:cNvPr>
          <p:cNvSpPr>
            <a:spLocks xmlns:a="http://schemas.openxmlformats.org/drawingml/2006/main" noGrp="1"/>
          </p:cNvSpPr>
          <p:nvPr/>
        </p:nvSpPr>
        <p:spPr>
          <a:xfrm xmlns:a="http://schemas.openxmlformats.org/drawingml/2006/main">
            <a:off x="962025" y="4248150"/>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JAM WITH JARS + JAM SET PRINTED + RECIPE BOX</a:t>
            </a:r>
          </a:p>
        </p:txBody>
      </p:sp>
      <p:sp>
        <p:nvSpPr>
          <p:cNvPr id="12" name="">
            <a:extLst xmlns:a="http://schemas.openxmlformats.org/drawingml/2006/main">
              <a:ext uri="{FF2B5EF4-FFF2-40B4-BE49-F238E27FC236}">
                <a16:creationId xmlns:a16="http://schemas.microsoft.com/office/drawing/2014/main" id="{B7E17862-CB3A-42E5-B13E-0A92268C0BFF}"/>
              </a:ext>
            </a:extLst>
          </p:cNvPr>
          <p:cNvSpPr>
            <a:spLocks xmlns:a="http://schemas.openxmlformats.org/drawingml/2006/main" noGrp="1"/>
          </p:cNvSpPr>
          <p:nvPr/>
        </p:nvSpPr>
        <p:spPr>
          <a:xfrm xmlns:a="http://schemas.openxmlformats.org/drawingml/2006/main">
            <a:off x="962025" y="48672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CC3E1"/>
                </a:solidFill>
                <a:latin typeface="Aptos"/>
                <a:ea typeface="Aptos"/>
                <a:cs typeface="Aptos"/>
              </a:defRPr>
            </a:pPr>
            <a:r>
              <a:rPr sz="1200" b="1">
                <a:solidFill>
                  <a:srgbClr val="9CC3E1"/>
                </a:solidFill>
                <a:latin typeface="Aptos"/>
                <a:ea typeface="Aptos"/>
                <a:cs typeface="Aptos"/>
              </a:rPr>
              <a:t>Yükseltme seçeneği</a:t>
            </a:r>
          </a:p>
        </p:txBody>
      </p:sp>
      <p:sp>
        <p:nvSpPr>
          <p:cNvPr id="13" name="">
            <a:extLst xmlns:a="http://schemas.openxmlformats.org/drawingml/2006/main">
              <a:ext uri="{FF2B5EF4-FFF2-40B4-BE49-F238E27FC236}">
                <a16:creationId xmlns:a16="http://schemas.microsoft.com/office/drawing/2014/main" id="{2129A1AD-137D-4A2E-8AA4-B8BB1E64358F}"/>
              </a:ext>
            </a:extLst>
          </p:cNvPr>
          <p:cNvSpPr>
            <a:spLocks xmlns:a="http://schemas.openxmlformats.org/drawingml/2006/main" noGrp="1"/>
          </p:cNvSpPr>
          <p:nvPr/>
        </p:nvSpPr>
        <p:spPr>
          <a:xfrm xmlns:a="http://schemas.openxmlformats.org/drawingml/2006/main">
            <a:off x="962025" y="5153025"/>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7E6F1"/>
                </a:solidFill>
                <a:latin typeface="Aptos"/>
                <a:ea typeface="Aptos"/>
                <a:cs typeface="Aptos"/>
              </a:defRPr>
            </a:pPr>
            <a:r>
              <a:rPr sz="1350" b="0">
                <a:solidFill>
                  <a:srgbClr val="D7E6F1"/>
                </a:solidFill>
                <a:latin typeface="Aptos"/>
                <a:ea typeface="Aptos"/>
                <a:cs typeface="Aptos"/>
              </a:rPr>
              <a:t>3’lü kek kalıbı veya 4’lü jelly moulds</a:t>
            </a:r>
          </a:p>
        </p:txBody>
      </p:sp>
      <p:sp>
        <p:nvSpPr>
          <p:cNvPr id="14" name="">
            <a:extLst xmlns:a="http://schemas.openxmlformats.org/drawingml/2006/main">
              <a:ext uri="{FF2B5EF4-FFF2-40B4-BE49-F238E27FC236}">
                <a16:creationId xmlns:a16="http://schemas.microsoft.com/office/drawing/2014/main" id="{05A925F1-954A-4E5F-B7C8-1A50D4FC93F3}"/>
              </a:ext>
            </a:extLst>
          </p:cNvPr>
          <p:cNvSpPr>
            <a:spLocks xmlns:a="http://schemas.openxmlformats.org/drawingml/2006/main" noGrp="1"/>
          </p:cNvSpPr>
          <p:nvPr/>
        </p:nvSpPr>
        <p:spPr>
          <a:xfrm xmlns:a="http://schemas.openxmlformats.org/drawingml/2006/main">
            <a:off x="5534025" y="2105025"/>
            <a:ext cx="457200" cy="457200"/>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578B72-5302-44E2-A669-FE5E5F196495}"/>
              </a:ext>
            </a:extLst>
          </p:cNvPr>
          <p:cNvSpPr>
            <a:spLocks xmlns:a="http://schemas.openxmlformats.org/drawingml/2006/main" noGrp="1"/>
          </p:cNvSpPr>
          <p:nvPr/>
        </p:nvSpPr>
        <p:spPr>
          <a:xfrm xmlns:a="http://schemas.openxmlformats.org/drawingml/2006/main">
            <a:off x="5534025" y="22288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01</a:t>
            </a:r>
          </a:p>
        </p:txBody>
      </p:sp>
      <p:sp>
        <p:nvSpPr>
          <p:cNvPr id="16" name="">
            <a:extLst xmlns:a="http://schemas.openxmlformats.org/drawingml/2006/main">
              <a:ext uri="{FF2B5EF4-FFF2-40B4-BE49-F238E27FC236}">
                <a16:creationId xmlns:a16="http://schemas.microsoft.com/office/drawing/2014/main" id="{A909E1EE-5506-4732-A22E-68B3C10050A3}"/>
              </a:ext>
            </a:extLst>
          </p:cNvPr>
          <p:cNvSpPr>
            <a:spLocks xmlns:a="http://schemas.openxmlformats.org/drawingml/2006/main" noGrp="1"/>
          </p:cNvSpPr>
          <p:nvPr/>
        </p:nvSpPr>
        <p:spPr>
          <a:xfrm xmlns:a="http://schemas.openxmlformats.org/drawingml/2006/main">
            <a:off x="6229350" y="20288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263D"/>
                </a:solidFill>
                <a:latin typeface="Aptos"/>
                <a:ea typeface="Aptos"/>
                <a:cs typeface="Aptos"/>
              </a:defRPr>
            </a:pPr>
            <a:r>
              <a:rPr sz="1725" b="1">
                <a:solidFill>
                  <a:srgbClr val="10263D"/>
                </a:solidFill>
                <a:latin typeface="Aptos"/>
                <a:ea typeface="Aptos"/>
                <a:cs typeface="Aptos"/>
              </a:rPr>
              <a:t>Ürün sayfası</a:t>
            </a:r>
          </a:p>
        </p:txBody>
      </p:sp>
      <p:sp>
        <p:nvSpPr>
          <p:cNvPr id="17" name="">
            <a:extLst xmlns:a="http://schemas.openxmlformats.org/drawingml/2006/main">
              <a:ext uri="{FF2B5EF4-FFF2-40B4-BE49-F238E27FC236}">
                <a16:creationId xmlns:a16="http://schemas.microsoft.com/office/drawing/2014/main" id="{CC58BEF9-8C7A-4105-A435-67DBFDF81A7E}"/>
              </a:ext>
            </a:extLst>
          </p:cNvPr>
          <p:cNvSpPr>
            <a:spLocks xmlns:a="http://schemas.openxmlformats.org/drawingml/2006/main" noGrp="1"/>
          </p:cNvSpPr>
          <p:nvPr/>
        </p:nvSpPr>
        <p:spPr>
          <a:xfrm xmlns:a="http://schemas.openxmlformats.org/drawingml/2006/main">
            <a:off x="6229350" y="2362200"/>
            <a:ext cx="4743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0748A"/>
                </a:solidFill>
                <a:latin typeface="Aptos"/>
                <a:ea typeface="Aptos"/>
                <a:cs typeface="Aptos"/>
              </a:defRPr>
            </a:pPr>
            <a:r>
              <a:rPr sz="1350" b="0">
                <a:solidFill>
                  <a:srgbClr val="60748A"/>
                </a:solidFill>
                <a:latin typeface="Aptos"/>
                <a:ea typeface="Aptos"/>
                <a:cs typeface="Aptos"/>
              </a:rPr>
              <a:t>“Sıklıkla birlikte alınanlar” alanında çekirdek paketi göster.</a:t>
            </a:r>
          </a:p>
        </p:txBody>
      </p:sp>
      <p:sp>
        <p:nvSpPr>
          <p:cNvPr id="18" name="">
            <a:extLst xmlns:a="http://schemas.openxmlformats.org/drawingml/2006/main">
              <a:ext uri="{FF2B5EF4-FFF2-40B4-BE49-F238E27FC236}">
                <a16:creationId xmlns:a16="http://schemas.microsoft.com/office/drawing/2014/main" id="{65AE7A37-EAC9-4B05-9B63-4D456DA0124C}"/>
              </a:ext>
            </a:extLst>
          </p:cNvPr>
          <p:cNvSpPr>
            <a:spLocks xmlns:a="http://schemas.openxmlformats.org/drawingml/2006/main" noGrp="1"/>
          </p:cNvSpPr>
          <p:nvPr/>
        </p:nvSpPr>
        <p:spPr>
          <a:xfrm xmlns:a="http://schemas.openxmlformats.org/drawingml/2006/main">
            <a:off x="5762625" y="2590800"/>
            <a:ext cx="0" cy="523875"/>
          </a:xfrm>
          <a:prstGeom xmlns:a="http://schemas.openxmlformats.org/drawingml/2006/main" prst="line">
            <a:avLst/>
          </a:prstGeom>
          <a:noFill xmlns:a="http://schemas.openxmlformats.org/drawingml/2006/main"/>
          <a:ln xmlns:a="http://schemas.openxmlformats.org/drawingml/2006/main" w="28575">
            <a:solidFill>
              <a:srgbClr val="DCE5EE"/>
            </a:solidFill>
            <a:prstDash val="solid"/>
          </a:ln>
        </p:spPr>
      </p:sp>
      <p:sp>
        <p:nvSpPr>
          <p:cNvPr id="19" name="">
            <a:extLst xmlns:a="http://schemas.openxmlformats.org/drawingml/2006/main">
              <a:ext uri="{FF2B5EF4-FFF2-40B4-BE49-F238E27FC236}">
                <a16:creationId xmlns:a16="http://schemas.microsoft.com/office/drawing/2014/main" id="{193C832D-6A10-4AEE-8885-E311A3F5F1B2}"/>
              </a:ext>
            </a:extLst>
          </p:cNvPr>
          <p:cNvSpPr>
            <a:spLocks xmlns:a="http://schemas.openxmlformats.org/drawingml/2006/main" noGrp="1"/>
          </p:cNvSpPr>
          <p:nvPr/>
        </p:nvSpPr>
        <p:spPr>
          <a:xfrm xmlns:a="http://schemas.openxmlformats.org/drawingml/2006/main">
            <a:off x="5534025" y="3228975"/>
            <a:ext cx="457200" cy="457200"/>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AE79570-CB05-4A35-9497-9A27970A47AF}"/>
              </a:ext>
            </a:extLst>
          </p:cNvPr>
          <p:cNvSpPr>
            <a:spLocks xmlns:a="http://schemas.openxmlformats.org/drawingml/2006/main" noGrp="1"/>
          </p:cNvSpPr>
          <p:nvPr/>
        </p:nvSpPr>
        <p:spPr>
          <a:xfrm xmlns:a="http://schemas.openxmlformats.org/drawingml/2006/main">
            <a:off x="5534025" y="3352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02</a:t>
            </a:r>
          </a:p>
        </p:txBody>
      </p:sp>
      <p:sp>
        <p:nvSpPr>
          <p:cNvPr id="21" name="">
            <a:extLst xmlns:a="http://schemas.openxmlformats.org/drawingml/2006/main">
              <a:ext uri="{FF2B5EF4-FFF2-40B4-BE49-F238E27FC236}">
                <a16:creationId xmlns:a16="http://schemas.microsoft.com/office/drawing/2014/main" id="{47A917CA-1421-4563-AAED-7C1B3DF22AE5}"/>
              </a:ext>
            </a:extLst>
          </p:cNvPr>
          <p:cNvSpPr>
            <a:spLocks xmlns:a="http://schemas.openxmlformats.org/drawingml/2006/main" noGrp="1"/>
          </p:cNvSpPr>
          <p:nvPr/>
        </p:nvSpPr>
        <p:spPr>
          <a:xfrm xmlns:a="http://schemas.openxmlformats.org/drawingml/2006/main">
            <a:off x="6229350" y="31527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263D"/>
                </a:solidFill>
                <a:latin typeface="Aptos"/>
                <a:ea typeface="Aptos"/>
                <a:cs typeface="Aptos"/>
              </a:defRPr>
            </a:pPr>
            <a:r>
              <a:rPr sz="1725" b="1">
                <a:solidFill>
                  <a:srgbClr val="10263D"/>
                </a:solidFill>
                <a:latin typeface="Aptos"/>
                <a:ea typeface="Aptos"/>
                <a:cs typeface="Aptos"/>
              </a:rPr>
              <a:t>Sepet</a:t>
            </a:r>
          </a:p>
        </p:txBody>
      </p:sp>
      <p:sp>
        <p:nvSpPr>
          <p:cNvPr id="22" name="">
            <a:extLst xmlns:a="http://schemas.openxmlformats.org/drawingml/2006/main">
              <a:ext uri="{FF2B5EF4-FFF2-40B4-BE49-F238E27FC236}">
                <a16:creationId xmlns:a16="http://schemas.microsoft.com/office/drawing/2014/main" id="{AEFF45D4-8410-4BDC-8856-7F8AC1C0D05B}"/>
              </a:ext>
            </a:extLst>
          </p:cNvPr>
          <p:cNvSpPr>
            <a:spLocks xmlns:a="http://schemas.openxmlformats.org/drawingml/2006/main" noGrp="1"/>
          </p:cNvSpPr>
          <p:nvPr/>
        </p:nvSpPr>
        <p:spPr>
          <a:xfrm xmlns:a="http://schemas.openxmlformats.org/drawingml/2006/main">
            <a:off x="6229350" y="3486150"/>
            <a:ext cx="4743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0748A"/>
                </a:solidFill>
                <a:latin typeface="Aptos"/>
                <a:ea typeface="Aptos"/>
                <a:cs typeface="Aptos"/>
              </a:defRPr>
            </a:pPr>
            <a:r>
              <a:rPr sz="1350" b="0">
                <a:solidFill>
                  <a:srgbClr val="60748A"/>
                </a:solidFill>
                <a:latin typeface="Aptos"/>
                <a:ea typeface="Aptos"/>
                <a:cs typeface="Aptos"/>
              </a:rPr>
              <a:t>Eksik tamamlayıcıyı tek tıkla eklet; ücretsiz kargo eşiğini görünür kıl.</a:t>
            </a:r>
          </a:p>
        </p:txBody>
      </p:sp>
      <p:sp>
        <p:nvSpPr>
          <p:cNvPr id="23" name="">
            <a:extLst xmlns:a="http://schemas.openxmlformats.org/drawingml/2006/main">
              <a:ext uri="{FF2B5EF4-FFF2-40B4-BE49-F238E27FC236}">
                <a16:creationId xmlns:a16="http://schemas.microsoft.com/office/drawing/2014/main" id="{1677825F-1920-45E4-930D-B48716944B1C}"/>
              </a:ext>
            </a:extLst>
          </p:cNvPr>
          <p:cNvSpPr>
            <a:spLocks xmlns:a="http://schemas.openxmlformats.org/drawingml/2006/main" noGrp="1"/>
          </p:cNvSpPr>
          <p:nvPr/>
        </p:nvSpPr>
        <p:spPr>
          <a:xfrm xmlns:a="http://schemas.openxmlformats.org/drawingml/2006/main">
            <a:off x="5762625" y="3714750"/>
            <a:ext cx="0" cy="523875"/>
          </a:xfrm>
          <a:prstGeom xmlns:a="http://schemas.openxmlformats.org/drawingml/2006/main" prst="line">
            <a:avLst/>
          </a:prstGeom>
          <a:noFill xmlns:a="http://schemas.openxmlformats.org/drawingml/2006/main"/>
          <a:ln xmlns:a="http://schemas.openxmlformats.org/drawingml/2006/main" w="28575">
            <a:solidFill>
              <a:srgbClr val="DCE5EE"/>
            </a:solidFill>
            <a:prstDash val="solid"/>
          </a:ln>
        </p:spPr>
      </p:sp>
      <p:sp>
        <p:nvSpPr>
          <p:cNvPr id="24" name="">
            <a:extLst xmlns:a="http://schemas.openxmlformats.org/drawingml/2006/main">
              <a:ext uri="{FF2B5EF4-FFF2-40B4-BE49-F238E27FC236}">
                <a16:creationId xmlns:a16="http://schemas.microsoft.com/office/drawing/2014/main" id="{4D0B62DA-7388-4B33-9DD7-59049F602045}"/>
              </a:ext>
            </a:extLst>
          </p:cNvPr>
          <p:cNvSpPr>
            <a:spLocks xmlns:a="http://schemas.openxmlformats.org/drawingml/2006/main" noGrp="1"/>
          </p:cNvSpPr>
          <p:nvPr/>
        </p:nvSpPr>
        <p:spPr>
          <a:xfrm xmlns:a="http://schemas.openxmlformats.org/drawingml/2006/main">
            <a:off x="5534025" y="4352925"/>
            <a:ext cx="457200" cy="457200"/>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3B322F0-FE8A-4524-826C-330FAD23ABBC}"/>
              </a:ext>
            </a:extLst>
          </p:cNvPr>
          <p:cNvSpPr>
            <a:spLocks xmlns:a="http://schemas.openxmlformats.org/drawingml/2006/main" noGrp="1"/>
          </p:cNvSpPr>
          <p:nvPr/>
        </p:nvSpPr>
        <p:spPr>
          <a:xfrm xmlns:a="http://schemas.openxmlformats.org/drawingml/2006/main">
            <a:off x="5534025" y="4476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03</a:t>
            </a:r>
          </a:p>
        </p:txBody>
      </p:sp>
      <p:sp>
        <p:nvSpPr>
          <p:cNvPr id="26" name="">
            <a:extLst xmlns:a="http://schemas.openxmlformats.org/drawingml/2006/main">
              <a:ext uri="{FF2B5EF4-FFF2-40B4-BE49-F238E27FC236}">
                <a16:creationId xmlns:a16="http://schemas.microsoft.com/office/drawing/2014/main" id="{A896EC46-8EFF-410D-B233-1971C737F898}"/>
              </a:ext>
            </a:extLst>
          </p:cNvPr>
          <p:cNvSpPr>
            <a:spLocks xmlns:a="http://schemas.openxmlformats.org/drawingml/2006/main" noGrp="1"/>
          </p:cNvSpPr>
          <p:nvPr/>
        </p:nvSpPr>
        <p:spPr>
          <a:xfrm xmlns:a="http://schemas.openxmlformats.org/drawingml/2006/main">
            <a:off x="6229350" y="42767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263D"/>
                </a:solidFill>
                <a:latin typeface="Aptos"/>
                <a:ea typeface="Aptos"/>
                <a:cs typeface="Aptos"/>
              </a:defRPr>
            </a:pPr>
            <a:r>
              <a:rPr sz="1725" b="1">
                <a:solidFill>
                  <a:srgbClr val="10263D"/>
                </a:solidFill>
                <a:latin typeface="Aptos"/>
                <a:ea typeface="Aptos"/>
                <a:cs typeface="Aptos"/>
              </a:rPr>
              <a:t>CRM / içerik</a:t>
            </a:r>
          </a:p>
        </p:txBody>
      </p:sp>
      <p:sp>
        <p:nvSpPr>
          <p:cNvPr id="27" name="">
            <a:extLst xmlns:a="http://schemas.openxmlformats.org/drawingml/2006/main">
              <a:ext uri="{FF2B5EF4-FFF2-40B4-BE49-F238E27FC236}">
                <a16:creationId xmlns:a16="http://schemas.microsoft.com/office/drawing/2014/main" id="{9403E5C8-04DA-4878-B5D9-4CABCA6C1F9A}"/>
              </a:ext>
            </a:extLst>
          </p:cNvPr>
          <p:cNvSpPr>
            <a:spLocks xmlns:a="http://schemas.openxmlformats.org/drawingml/2006/main" noGrp="1"/>
          </p:cNvSpPr>
          <p:nvPr/>
        </p:nvSpPr>
        <p:spPr>
          <a:xfrm xmlns:a="http://schemas.openxmlformats.org/drawingml/2006/main">
            <a:off x="6229350" y="4610100"/>
            <a:ext cx="4743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0748A"/>
                </a:solidFill>
                <a:latin typeface="Aptos"/>
                <a:ea typeface="Aptos"/>
                <a:cs typeface="Aptos"/>
              </a:defRPr>
            </a:pPr>
            <a:r>
              <a:rPr sz="1350" b="0">
                <a:solidFill>
                  <a:srgbClr val="60748A"/>
                </a:solidFill>
                <a:latin typeface="Aptos"/>
                <a:ea typeface="Aptos"/>
                <a:cs typeface="Aptos"/>
              </a:rPr>
              <a:t>Mevsimsel tarif içeriğiyle ürünü kullanım senaryosuna bağla.</a:t>
            </a:r>
          </a:p>
        </p:txBody>
      </p:sp>
      <p:sp>
        <p:nvSpPr>
          <p:cNvPr id="28" name="">
            <a:extLst xmlns:a="http://schemas.openxmlformats.org/drawingml/2006/main">
              <a:ext uri="{FF2B5EF4-FFF2-40B4-BE49-F238E27FC236}">
                <a16:creationId xmlns:a16="http://schemas.microsoft.com/office/drawing/2014/main" id="{3D31768A-7793-414D-8C83-65BFF5AAC9B8}"/>
              </a:ext>
            </a:extLst>
          </p:cNvPr>
          <p:cNvSpPr>
            <a:spLocks xmlns:a="http://schemas.openxmlformats.org/drawingml/2006/main" noGrp="1"/>
          </p:cNvSpPr>
          <p:nvPr/>
        </p:nvSpPr>
        <p:spPr>
          <a:xfrm xmlns:a="http://schemas.openxmlformats.org/drawingml/2006/main">
            <a:off x="5467350" y="5495925"/>
            <a:ext cx="6076950" cy="638175"/>
          </a:xfrm>
          <a:prstGeom xmlns:a="http://schemas.openxmlformats.org/drawingml/2006/main" prst="roundRect">
            <a:avLst>
              <a:gd name="adj" fmla="val 17910"/>
            </a:avLst>
          </a:prstGeom>
          <a:solidFill xmlns:a="http://schemas.openxmlformats.org/drawingml/2006/main">
            <a:srgbClr val="FFFFFF"/>
          </a:solidFill>
          <a:ln xmlns:a="http://schemas.openxmlformats.org/drawingml/2006/main" w="9525">
            <a:solidFill>
              <a:srgbClr val="DCE5EE"/>
            </a:solidFill>
            <a:prstDash val="solid"/>
          </a:ln>
        </p:spPr>
      </p:sp>
      <p:sp>
        <p:nvSpPr>
          <p:cNvPr id="29" name="">
            <a:extLst xmlns:a="http://schemas.openxmlformats.org/drawingml/2006/main">
              <a:ext uri="{FF2B5EF4-FFF2-40B4-BE49-F238E27FC236}">
                <a16:creationId xmlns:a16="http://schemas.microsoft.com/office/drawing/2014/main" id="{24DF8EB0-349B-41FC-AB04-C47A002E5C26}"/>
              </a:ext>
            </a:extLst>
          </p:cNvPr>
          <p:cNvSpPr>
            <a:spLocks xmlns:a="http://schemas.openxmlformats.org/drawingml/2006/main" noGrp="1"/>
          </p:cNvSpPr>
          <p:nvPr/>
        </p:nvSpPr>
        <p:spPr>
          <a:xfrm xmlns:a="http://schemas.openxmlformats.org/drawingml/2006/main">
            <a:off x="5657850" y="5629275"/>
            <a:ext cx="714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748A"/>
                </a:solidFill>
                <a:latin typeface="Aptos"/>
                <a:ea typeface="Aptos"/>
                <a:cs typeface="Aptos"/>
              </a:defRPr>
            </a:pPr>
            <a:r>
              <a:rPr sz="900" b="1">
                <a:solidFill>
                  <a:srgbClr val="60748A"/>
                </a:solidFill>
                <a:latin typeface="Aptos"/>
                <a:ea typeface="Aptos"/>
                <a:cs typeface="Aptos"/>
              </a:rPr>
              <a:t>MEVCUT</a:t>
            </a:r>
          </a:p>
        </p:txBody>
      </p:sp>
      <p:sp>
        <p:nvSpPr>
          <p:cNvPr id="30" name="">
            <a:extLst xmlns:a="http://schemas.openxmlformats.org/drawingml/2006/main">
              <a:ext uri="{FF2B5EF4-FFF2-40B4-BE49-F238E27FC236}">
                <a16:creationId xmlns:a16="http://schemas.microsoft.com/office/drawing/2014/main" id="{752FFF49-390D-45BD-8338-97E1A2A5E0E1}"/>
              </a:ext>
            </a:extLst>
          </p:cNvPr>
          <p:cNvSpPr>
            <a:spLocks xmlns:a="http://schemas.openxmlformats.org/drawingml/2006/main" noGrp="1"/>
          </p:cNvSpPr>
          <p:nvPr/>
        </p:nvSpPr>
        <p:spPr>
          <a:xfrm xmlns:a="http://schemas.openxmlformats.org/drawingml/2006/main">
            <a:off x="5657850" y="58102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263D"/>
                </a:solidFill>
                <a:latin typeface="Aptos"/>
                <a:ea typeface="Aptos"/>
                <a:cs typeface="Aptos"/>
              </a:defRPr>
            </a:pPr>
            <a:r>
              <a:rPr sz="1425" b="1">
                <a:solidFill>
                  <a:srgbClr val="10263D"/>
                </a:solidFill>
                <a:latin typeface="Aptos"/>
                <a:ea typeface="Aptos"/>
                <a:cs typeface="Aptos"/>
              </a:rPr>
              <a:t>62 / 217</a:t>
            </a:r>
          </a:p>
        </p:txBody>
      </p:sp>
      <p:sp>
        <p:nvSpPr>
          <p:cNvPr id="31" name="">
            <a:extLst xmlns:a="http://schemas.openxmlformats.org/drawingml/2006/main">
              <a:ext uri="{FF2B5EF4-FFF2-40B4-BE49-F238E27FC236}">
                <a16:creationId xmlns:a16="http://schemas.microsoft.com/office/drawing/2014/main" id="{F910AF2C-4E39-4258-B90C-CBA8F3D3532F}"/>
              </a:ext>
            </a:extLst>
          </p:cNvPr>
          <p:cNvSpPr>
            <a:spLocks xmlns:a="http://schemas.openxmlformats.org/drawingml/2006/main" noGrp="1"/>
          </p:cNvSpPr>
          <p:nvPr/>
        </p:nvSpPr>
        <p:spPr>
          <a:xfrm xmlns:a="http://schemas.openxmlformats.org/drawingml/2006/main">
            <a:off x="6781800" y="5734050"/>
            <a:ext cx="2590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0748A"/>
                </a:solidFill>
                <a:latin typeface="Aptos"/>
                <a:ea typeface="Aptos"/>
                <a:cs typeface="Aptos"/>
              </a:defRPr>
            </a:pPr>
            <a:r>
              <a:rPr sz="1275" b="0">
                <a:solidFill>
                  <a:srgbClr val="60748A"/>
                </a:solidFill>
                <a:latin typeface="Aptos"/>
                <a:ea typeface="Aptos"/>
                <a:cs typeface="Aptos"/>
              </a:rPr>
              <a:t>Top 5 eşleşmeden en az biri: 28,6%</a:t>
            </a:r>
          </a:p>
        </p:txBody>
      </p:sp>
      <p:sp>
        <p:nvSpPr>
          <p:cNvPr id="32" name="">
            <a:extLst xmlns:a="http://schemas.openxmlformats.org/drawingml/2006/main">
              <a:ext uri="{FF2B5EF4-FFF2-40B4-BE49-F238E27FC236}">
                <a16:creationId xmlns:a16="http://schemas.microsoft.com/office/drawing/2014/main" id="{4A3651C7-2340-444B-B9E7-BA9E0E87004F}"/>
              </a:ext>
            </a:extLst>
          </p:cNvPr>
          <p:cNvSpPr>
            <a:spLocks xmlns:a="http://schemas.openxmlformats.org/drawingml/2006/main" noGrp="1"/>
          </p:cNvSpPr>
          <p:nvPr/>
        </p:nvSpPr>
        <p:spPr>
          <a:xfrm xmlns:a="http://schemas.openxmlformats.org/drawingml/2006/main">
            <a:off x="9525000" y="5667375"/>
            <a:ext cx="1809750" cy="323850"/>
          </a:xfrm>
          <a:prstGeom xmlns:a="http://schemas.openxmlformats.org/drawingml/2006/main" prst="roundRect">
            <a:avLst>
              <a:gd name="adj" fmla="val 50000"/>
            </a:avLst>
          </a:prstGeom>
          <a:solidFill xmlns:a="http://schemas.openxmlformats.org/drawingml/2006/main">
            <a:srgbClr val="DDF7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2328AFC-A988-4E70-9D9C-884ED0BB6626}"/>
              </a:ext>
            </a:extLst>
          </p:cNvPr>
          <p:cNvSpPr>
            <a:spLocks xmlns:a="http://schemas.openxmlformats.org/drawingml/2006/main" noGrp="1"/>
          </p:cNvSpPr>
          <p:nvPr/>
        </p:nvSpPr>
        <p:spPr>
          <a:xfrm xmlns:a="http://schemas.openxmlformats.org/drawingml/2006/main">
            <a:off x="9620250" y="57150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0A88F"/>
                </a:solidFill>
                <a:latin typeface="Aptos"/>
                <a:ea typeface="Aptos"/>
                <a:cs typeface="Aptos"/>
              </a:defRPr>
            </a:pPr>
            <a:r>
              <a:rPr sz="1050" b="1">
                <a:solidFill>
                  <a:srgbClr val="00A88F"/>
                </a:solidFill>
                <a:latin typeface="Aptos"/>
                <a:ea typeface="Aptos"/>
                <a:cs typeface="Aptos"/>
              </a:rPr>
              <a:t>12 AY HEDEFİ: ≥ %35</a:t>
            </a:r>
          </a:p>
        </p:txBody>
      </p:sp>
      <p:sp>
        <p:nvSpPr>
          <p:cNvPr id="34" name="">
            <a:extLst xmlns:a="http://schemas.openxmlformats.org/drawingml/2006/main">
              <a:ext uri="{FF2B5EF4-FFF2-40B4-BE49-F238E27FC236}">
                <a16:creationId xmlns:a16="http://schemas.microsoft.com/office/drawing/2014/main" id="{20E0CF35-D4EF-4CBE-A504-C782118293F8}"/>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35" name="">
            <a:extLst xmlns:a="http://schemas.openxmlformats.org/drawingml/2006/main">
              <a:ext uri="{FF2B5EF4-FFF2-40B4-BE49-F238E27FC236}">
                <a16:creationId xmlns:a16="http://schemas.microsoft.com/office/drawing/2014/main" id="{346493D2-F5EB-4D3F-8144-F46737AF153A}"/>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36" name="">
            <a:extLst xmlns:a="http://schemas.openxmlformats.org/drawingml/2006/main">
              <a:ext uri="{FF2B5EF4-FFF2-40B4-BE49-F238E27FC236}">
                <a16:creationId xmlns:a16="http://schemas.microsoft.com/office/drawing/2014/main" id="{C3088B46-3BEA-4721-9FEF-7A00883AD9DC}"/>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625380809"/>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EC2D4CA9-524B-47DD-B784-D78A8FF2FFC6}"/>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DC7C54-2F05-42C4-8C65-0D39DA8B16C9}"/>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3 • MÜŞTERI MEMNUNIYETI</a:t>
            </a:r>
          </a:p>
        </p:txBody>
      </p:sp>
      <p:sp>
        <p:nvSpPr>
          <p:cNvPr id="3" name="">
            <a:extLst xmlns:a="http://schemas.openxmlformats.org/drawingml/2006/main">
              <a:ext uri="{FF2B5EF4-FFF2-40B4-BE49-F238E27FC236}">
                <a16:creationId xmlns:a16="http://schemas.microsoft.com/office/drawing/2014/main" id="{06451EE0-3660-4DAE-BC80-E8FE02C8DFA8}"/>
              </a:ext>
            </a:extLst>
          </p:cNvPr>
          <p:cNvSpPr>
            <a:spLocks xmlns:a="http://schemas.openxmlformats.org/drawingml/2006/main" noGrp="1"/>
          </p:cNvSpPr>
          <p:nvPr/>
        </p:nvSpPr>
        <p:spPr>
          <a:xfrm xmlns:a="http://schemas.openxmlformats.org/drawingml/2006/main">
            <a:off x="628650" y="885825"/>
            <a:ext cx="1028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89"/>
          </a:bodyPr>
          <a:lstStyle xmlns:a="http://schemas.openxmlformats.org/drawingml/2006/main"/>
          <a:p xmlns:a="http://schemas.openxmlformats.org/drawingml/2006/main">
            <a:pPr algn="l">
              <a:lnSpc>
                <a:spcPct val="92000"/>
              </a:lnSpc>
              <a:buNone/>
              <a:defRPr sz="3000" b="1">
                <a:solidFill>
                  <a:srgbClr val="10263D"/>
                </a:solidFill>
                <a:latin typeface="Aptos Display"/>
                <a:ea typeface="Aptos Display"/>
                <a:cs typeface="Aptos Display"/>
              </a:defRPr>
            </a:pPr>
            <a:r>
              <a:rPr sz="3000" b="1">
                <a:solidFill>
                  <a:srgbClr val="10263D"/>
                </a:solidFill>
                <a:latin typeface="Aptos Display"/>
                <a:ea typeface="Aptos Display"/>
                <a:cs typeface="Aptos Display"/>
              </a:rPr>
              <a:t>Memnuniyet haritasının kritik sinyali: Web / App performansı</a:t>
            </a:r>
          </a:p>
        </p:txBody>
      </p:sp>
      <p:sp>
        <p:nvSpPr>
          <p:cNvPr id="4" name="">
            <a:extLst xmlns:a="http://schemas.openxmlformats.org/drawingml/2006/main">
              <a:ext uri="{FF2B5EF4-FFF2-40B4-BE49-F238E27FC236}">
                <a16:creationId xmlns:a16="http://schemas.microsoft.com/office/drawing/2014/main" id="{AC98F715-2681-4892-9241-7D9273B587FC}"/>
              </a:ext>
            </a:extLst>
          </p:cNvPr>
          <p:cNvSpPr>
            <a:spLocks xmlns:a="http://schemas.openxmlformats.org/drawingml/2006/main" noGrp="1"/>
          </p:cNvSpPr>
          <p:nvPr/>
        </p:nvSpPr>
        <p:spPr>
          <a:xfrm xmlns:a="http://schemas.openxmlformats.org/drawingml/2006/main">
            <a:off x="647700" y="16287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Önem–memnuniyet haritasında ortalama çizgileriyle dört aksiyon bölgesi oluşturdum</a:t>
            </a:r>
          </a:p>
        </p:txBody>
      </p:sp>
      <p:sp>
        <p:nvSpPr>
          <p:cNvPr id="5" name="">
            <a:extLst xmlns:a="http://schemas.openxmlformats.org/drawingml/2006/main">
              <a:ext uri="{FF2B5EF4-FFF2-40B4-BE49-F238E27FC236}">
                <a16:creationId xmlns:a16="http://schemas.microsoft.com/office/drawing/2014/main" id="{1C10ED26-1773-422A-B04C-0E92AE5F7DF9}"/>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B6502EDD-DDAA-4CD5-8F09-D20E2F67C67C}"/>
              </a:ext>
            </a:extLst>
          </p:cNvPr>
          <p:cNvSpPr>
            <a:spLocks xmlns:a="http://schemas.openxmlformats.org/drawingml/2006/main" noGrp="1"/>
          </p:cNvSpPr>
          <p:nvPr/>
        </p:nvSpPr>
        <p:spPr>
          <a:xfrm xmlns:a="http://schemas.openxmlformats.org/drawingml/2006/main">
            <a:off x="685800" y="2257425"/>
            <a:ext cx="3680839" cy="1720716"/>
          </a:xfrm>
          <a:prstGeom xmlns:a="http://schemas.openxmlformats.org/drawingml/2006/main" prst="rect">
            <a:avLst/>
          </a:prstGeom>
          <a:solidFill xmlns:a="http://schemas.openxmlformats.org/drawingml/2006/main">
            <a:srgbClr val="E8F1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DEA07ED-E48B-402A-9C0B-9BDFAE3D569F}"/>
              </a:ext>
            </a:extLst>
          </p:cNvPr>
          <p:cNvSpPr>
            <a:spLocks xmlns:a="http://schemas.openxmlformats.org/drawingml/2006/main" noGrp="1"/>
          </p:cNvSpPr>
          <p:nvPr/>
        </p:nvSpPr>
        <p:spPr>
          <a:xfrm xmlns:a="http://schemas.openxmlformats.org/drawingml/2006/main">
            <a:off x="4366639" y="2257425"/>
            <a:ext cx="3672461" cy="1720716"/>
          </a:xfrm>
          <a:prstGeom xmlns:a="http://schemas.openxmlformats.org/drawingml/2006/main" prst="rect">
            <a:avLst/>
          </a:prstGeom>
          <a:solidFill xmlns:a="http://schemas.openxmlformats.org/drawingml/2006/main">
            <a:srgbClr val="E0F4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BC3F17-0BAA-44BF-9243-A64E319C2F83}"/>
              </a:ext>
            </a:extLst>
          </p:cNvPr>
          <p:cNvSpPr>
            <a:spLocks xmlns:a="http://schemas.openxmlformats.org/drawingml/2006/main" noGrp="1"/>
          </p:cNvSpPr>
          <p:nvPr/>
        </p:nvSpPr>
        <p:spPr>
          <a:xfrm xmlns:a="http://schemas.openxmlformats.org/drawingml/2006/main">
            <a:off x="685800" y="3978141"/>
            <a:ext cx="3680839" cy="1822584"/>
          </a:xfrm>
          <a:prstGeom xmlns:a="http://schemas.openxmlformats.org/drawingml/2006/main" prst="rect">
            <a:avLst/>
          </a:prstGeom>
          <a:solidFill xmlns:a="http://schemas.openxmlformats.org/drawingml/2006/main">
            <a:srgbClr val="FFF3D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6A1BD75-3DB1-47CA-8CB1-4C824C493CF8}"/>
              </a:ext>
            </a:extLst>
          </p:cNvPr>
          <p:cNvSpPr>
            <a:spLocks xmlns:a="http://schemas.openxmlformats.org/drawingml/2006/main" noGrp="1"/>
          </p:cNvSpPr>
          <p:nvPr/>
        </p:nvSpPr>
        <p:spPr>
          <a:xfrm xmlns:a="http://schemas.openxmlformats.org/drawingml/2006/main">
            <a:off x="4366639" y="3978141"/>
            <a:ext cx="3672461" cy="1822584"/>
          </a:xfrm>
          <a:prstGeom xmlns:a="http://schemas.openxmlformats.org/drawingml/2006/main" prst="rect">
            <a:avLst/>
          </a:prstGeom>
          <a:solidFill xmlns:a="http://schemas.openxmlformats.org/drawingml/2006/main">
            <a:srgbClr val="FBE5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7B3519-7960-4AD7-8BDC-B737E3E60DB5}"/>
              </a:ext>
            </a:extLst>
          </p:cNvPr>
          <p:cNvSpPr>
            <a:spLocks xmlns:a="http://schemas.openxmlformats.org/drawingml/2006/main" noGrp="1"/>
          </p:cNvSpPr>
          <p:nvPr/>
        </p:nvSpPr>
        <p:spPr>
          <a:xfrm xmlns:a="http://schemas.openxmlformats.org/drawingml/2006/main">
            <a:off x="819150" y="23526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4B6F91"/>
                </a:solidFill>
                <a:latin typeface="Aptos"/>
                <a:ea typeface="Aptos"/>
                <a:cs typeface="Aptos"/>
              </a:defRPr>
            </a:pPr>
            <a:r>
              <a:rPr sz="975" b="1">
                <a:solidFill>
                  <a:srgbClr val="4B6F91"/>
                </a:solidFill>
                <a:latin typeface="Aptos"/>
                <a:ea typeface="Aptos"/>
                <a:cs typeface="Aptos"/>
              </a:rPr>
              <a:t>KORUMA</a:t>
            </a:r>
          </a:p>
        </p:txBody>
      </p:sp>
      <p:sp>
        <p:nvSpPr>
          <p:cNvPr id="11" name="">
            <a:extLst xmlns:a="http://schemas.openxmlformats.org/drawingml/2006/main">
              <a:ext uri="{FF2B5EF4-FFF2-40B4-BE49-F238E27FC236}">
                <a16:creationId xmlns:a16="http://schemas.microsoft.com/office/drawing/2014/main" id="{EAB4606C-0F36-4818-BB4D-7A5C6051F6EA}"/>
              </a:ext>
            </a:extLst>
          </p:cNvPr>
          <p:cNvSpPr>
            <a:spLocks xmlns:a="http://schemas.openxmlformats.org/drawingml/2006/main" noGrp="1"/>
          </p:cNvSpPr>
          <p:nvPr/>
        </p:nvSpPr>
        <p:spPr>
          <a:xfrm xmlns:a="http://schemas.openxmlformats.org/drawingml/2006/main">
            <a:off x="4499989" y="23526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A66F"/>
                </a:solidFill>
                <a:latin typeface="Aptos"/>
                <a:ea typeface="Aptos"/>
                <a:cs typeface="Aptos"/>
              </a:defRPr>
            </a:pPr>
            <a:r>
              <a:rPr sz="975" b="1">
                <a:solidFill>
                  <a:srgbClr val="2DA66F"/>
                </a:solidFill>
                <a:latin typeface="Aptos"/>
                <a:ea typeface="Aptos"/>
                <a:cs typeface="Aptos"/>
              </a:rPr>
              <a:t>BAŞARI</a:t>
            </a:r>
          </a:p>
        </p:txBody>
      </p:sp>
      <p:sp>
        <p:nvSpPr>
          <p:cNvPr id="12" name="">
            <a:extLst xmlns:a="http://schemas.openxmlformats.org/drawingml/2006/main">
              <a:ext uri="{FF2B5EF4-FFF2-40B4-BE49-F238E27FC236}">
                <a16:creationId xmlns:a16="http://schemas.microsoft.com/office/drawing/2014/main" id="{05C60354-E49D-4E20-BE0D-4E3B0690CB72}"/>
              </a:ext>
            </a:extLst>
          </p:cNvPr>
          <p:cNvSpPr>
            <a:spLocks xmlns:a="http://schemas.openxmlformats.org/drawingml/2006/main" noGrp="1"/>
          </p:cNvSpPr>
          <p:nvPr/>
        </p:nvSpPr>
        <p:spPr>
          <a:xfrm xmlns:a="http://schemas.openxmlformats.org/drawingml/2006/main">
            <a:off x="819150" y="4073391"/>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A87916"/>
                </a:solidFill>
                <a:latin typeface="Aptos"/>
                <a:ea typeface="Aptos"/>
                <a:cs typeface="Aptos"/>
              </a:defRPr>
            </a:pPr>
            <a:r>
              <a:rPr sz="975" b="1">
                <a:solidFill>
                  <a:srgbClr val="A87916"/>
                </a:solidFill>
                <a:latin typeface="Aptos"/>
                <a:ea typeface="Aptos"/>
                <a:cs typeface="Aptos"/>
              </a:rPr>
              <a:t>GELİŞİM</a:t>
            </a:r>
          </a:p>
        </p:txBody>
      </p:sp>
      <p:sp>
        <p:nvSpPr>
          <p:cNvPr id="13" name="">
            <a:extLst xmlns:a="http://schemas.openxmlformats.org/drawingml/2006/main">
              <a:ext uri="{FF2B5EF4-FFF2-40B4-BE49-F238E27FC236}">
                <a16:creationId xmlns:a16="http://schemas.microsoft.com/office/drawing/2014/main" id="{CA1E968B-4083-491C-A0BC-97E4E3FFFEE8}"/>
              </a:ext>
            </a:extLst>
          </p:cNvPr>
          <p:cNvSpPr>
            <a:spLocks xmlns:a="http://schemas.openxmlformats.org/drawingml/2006/main" noGrp="1"/>
          </p:cNvSpPr>
          <p:nvPr/>
        </p:nvSpPr>
        <p:spPr>
          <a:xfrm xmlns:a="http://schemas.openxmlformats.org/drawingml/2006/main">
            <a:off x="4499989" y="4073391"/>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D84F55"/>
                </a:solidFill>
                <a:latin typeface="Aptos"/>
                <a:ea typeface="Aptos"/>
                <a:cs typeface="Aptos"/>
              </a:defRPr>
            </a:pPr>
            <a:r>
              <a:rPr sz="975" b="1">
                <a:solidFill>
                  <a:srgbClr val="D84F55"/>
                </a:solidFill>
                <a:latin typeface="Aptos"/>
                <a:ea typeface="Aptos"/>
                <a:cs typeface="Aptos"/>
              </a:rPr>
              <a:t>KRİTİK</a:t>
            </a:r>
          </a:p>
        </p:txBody>
      </p:sp>
      <p:sp>
        <p:nvSpPr>
          <p:cNvPr id="14" name="">
            <a:extLst xmlns:a="http://schemas.openxmlformats.org/drawingml/2006/main">
              <a:ext uri="{FF2B5EF4-FFF2-40B4-BE49-F238E27FC236}">
                <a16:creationId xmlns:a16="http://schemas.microsoft.com/office/drawing/2014/main" id="{5889AC53-191E-4738-88B1-0603D8B2ECAC}"/>
              </a:ext>
            </a:extLst>
          </p:cNvPr>
          <p:cNvSpPr>
            <a:spLocks xmlns:a="http://schemas.openxmlformats.org/drawingml/2006/main" noGrp="1"/>
          </p:cNvSpPr>
          <p:nvPr/>
        </p:nvSpPr>
        <p:spPr>
          <a:xfrm xmlns:a="http://schemas.openxmlformats.org/drawingml/2006/main">
            <a:off x="685800" y="2257425"/>
            <a:ext cx="0" cy="354330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15" name="">
            <a:extLst xmlns:a="http://schemas.openxmlformats.org/drawingml/2006/main">
              <a:ext uri="{FF2B5EF4-FFF2-40B4-BE49-F238E27FC236}">
                <a16:creationId xmlns:a16="http://schemas.microsoft.com/office/drawing/2014/main" id="{261E4010-46A2-45C2-B0BA-4F6B7D9F948D}"/>
              </a:ext>
            </a:extLst>
          </p:cNvPr>
          <p:cNvSpPr>
            <a:spLocks xmlns:a="http://schemas.openxmlformats.org/drawingml/2006/main" noGrp="1"/>
          </p:cNvSpPr>
          <p:nvPr/>
        </p:nvSpPr>
        <p:spPr>
          <a:xfrm xmlns:a="http://schemas.openxmlformats.org/drawingml/2006/main">
            <a:off x="438150" y="58769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0748A"/>
                </a:solidFill>
                <a:latin typeface="Aptos"/>
                <a:ea typeface="Aptos"/>
                <a:cs typeface="Aptos"/>
              </a:defRPr>
            </a:pPr>
            <a:r>
              <a:rPr sz="975" b="0">
                <a:solidFill>
                  <a:srgbClr val="60748A"/>
                </a:solidFill>
                <a:latin typeface="Aptos"/>
                <a:ea typeface="Aptos"/>
                <a:cs typeface="Aptos"/>
              </a:rPr>
              <a:t>25%</a:t>
            </a:r>
          </a:p>
        </p:txBody>
      </p:sp>
      <p:sp>
        <p:nvSpPr>
          <p:cNvPr id="16" name="">
            <a:extLst xmlns:a="http://schemas.openxmlformats.org/drawingml/2006/main">
              <a:ext uri="{FF2B5EF4-FFF2-40B4-BE49-F238E27FC236}">
                <a16:creationId xmlns:a16="http://schemas.microsoft.com/office/drawing/2014/main" id="{E92620D6-444F-4C69-B749-5E0331137EEC}"/>
              </a:ext>
            </a:extLst>
          </p:cNvPr>
          <p:cNvSpPr>
            <a:spLocks xmlns:a="http://schemas.openxmlformats.org/drawingml/2006/main" noGrp="1"/>
          </p:cNvSpPr>
          <p:nvPr/>
        </p:nvSpPr>
        <p:spPr>
          <a:xfrm xmlns:a="http://schemas.openxmlformats.org/drawingml/2006/main">
            <a:off x="2319867" y="2257425"/>
            <a:ext cx="0" cy="354330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17" name="">
            <a:extLst xmlns:a="http://schemas.openxmlformats.org/drawingml/2006/main">
              <a:ext uri="{FF2B5EF4-FFF2-40B4-BE49-F238E27FC236}">
                <a16:creationId xmlns:a16="http://schemas.microsoft.com/office/drawing/2014/main" id="{61ADD5D8-0243-4663-89E7-B80465DE6E4B}"/>
              </a:ext>
            </a:extLst>
          </p:cNvPr>
          <p:cNvSpPr>
            <a:spLocks xmlns:a="http://schemas.openxmlformats.org/drawingml/2006/main" noGrp="1"/>
          </p:cNvSpPr>
          <p:nvPr/>
        </p:nvSpPr>
        <p:spPr>
          <a:xfrm xmlns:a="http://schemas.openxmlformats.org/drawingml/2006/main">
            <a:off x="2072217" y="58769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0748A"/>
                </a:solidFill>
                <a:latin typeface="Aptos"/>
                <a:ea typeface="Aptos"/>
                <a:cs typeface="Aptos"/>
              </a:defRPr>
            </a:pPr>
            <a:r>
              <a:rPr sz="975" b="0">
                <a:solidFill>
                  <a:srgbClr val="60748A"/>
                </a:solidFill>
                <a:latin typeface="Aptos"/>
                <a:ea typeface="Aptos"/>
                <a:cs typeface="Aptos"/>
              </a:rPr>
              <a:t>35%</a:t>
            </a:r>
          </a:p>
        </p:txBody>
      </p:sp>
      <p:sp>
        <p:nvSpPr>
          <p:cNvPr id="18" name="">
            <a:extLst xmlns:a="http://schemas.openxmlformats.org/drawingml/2006/main">
              <a:ext uri="{FF2B5EF4-FFF2-40B4-BE49-F238E27FC236}">
                <a16:creationId xmlns:a16="http://schemas.microsoft.com/office/drawing/2014/main" id="{4AB3BB77-8935-42DF-984C-2279ED3C395D}"/>
              </a:ext>
            </a:extLst>
          </p:cNvPr>
          <p:cNvSpPr>
            <a:spLocks xmlns:a="http://schemas.openxmlformats.org/drawingml/2006/main" noGrp="1"/>
          </p:cNvSpPr>
          <p:nvPr/>
        </p:nvSpPr>
        <p:spPr>
          <a:xfrm xmlns:a="http://schemas.openxmlformats.org/drawingml/2006/main">
            <a:off x="3953933" y="2257425"/>
            <a:ext cx="0" cy="354330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19" name="">
            <a:extLst xmlns:a="http://schemas.openxmlformats.org/drawingml/2006/main">
              <a:ext uri="{FF2B5EF4-FFF2-40B4-BE49-F238E27FC236}">
                <a16:creationId xmlns:a16="http://schemas.microsoft.com/office/drawing/2014/main" id="{DA512AA1-CCEB-4D89-A917-57155966168F}"/>
              </a:ext>
            </a:extLst>
          </p:cNvPr>
          <p:cNvSpPr>
            <a:spLocks xmlns:a="http://schemas.openxmlformats.org/drawingml/2006/main" noGrp="1"/>
          </p:cNvSpPr>
          <p:nvPr/>
        </p:nvSpPr>
        <p:spPr>
          <a:xfrm xmlns:a="http://schemas.openxmlformats.org/drawingml/2006/main">
            <a:off x="3706283" y="58769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0748A"/>
                </a:solidFill>
                <a:latin typeface="Aptos"/>
                <a:ea typeface="Aptos"/>
                <a:cs typeface="Aptos"/>
              </a:defRPr>
            </a:pPr>
            <a:r>
              <a:rPr sz="975" b="0">
                <a:solidFill>
                  <a:srgbClr val="60748A"/>
                </a:solidFill>
                <a:latin typeface="Aptos"/>
                <a:ea typeface="Aptos"/>
                <a:cs typeface="Aptos"/>
              </a:rPr>
              <a:t>45%</a:t>
            </a:r>
          </a:p>
        </p:txBody>
      </p:sp>
      <p:sp>
        <p:nvSpPr>
          <p:cNvPr id="20" name="">
            <a:extLst xmlns:a="http://schemas.openxmlformats.org/drawingml/2006/main">
              <a:ext uri="{FF2B5EF4-FFF2-40B4-BE49-F238E27FC236}">
                <a16:creationId xmlns:a16="http://schemas.microsoft.com/office/drawing/2014/main" id="{6180ED3C-97A9-43DC-8FF9-4615C10BB4DB}"/>
              </a:ext>
            </a:extLst>
          </p:cNvPr>
          <p:cNvSpPr>
            <a:spLocks xmlns:a="http://schemas.openxmlformats.org/drawingml/2006/main" noGrp="1"/>
          </p:cNvSpPr>
          <p:nvPr/>
        </p:nvSpPr>
        <p:spPr>
          <a:xfrm xmlns:a="http://schemas.openxmlformats.org/drawingml/2006/main">
            <a:off x="5588000" y="2257425"/>
            <a:ext cx="0" cy="354330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21" name="">
            <a:extLst xmlns:a="http://schemas.openxmlformats.org/drawingml/2006/main">
              <a:ext uri="{FF2B5EF4-FFF2-40B4-BE49-F238E27FC236}">
                <a16:creationId xmlns:a16="http://schemas.microsoft.com/office/drawing/2014/main" id="{7B557E45-3613-4579-8D9B-C1DA707F2DB7}"/>
              </a:ext>
            </a:extLst>
          </p:cNvPr>
          <p:cNvSpPr>
            <a:spLocks xmlns:a="http://schemas.openxmlformats.org/drawingml/2006/main" noGrp="1"/>
          </p:cNvSpPr>
          <p:nvPr/>
        </p:nvSpPr>
        <p:spPr>
          <a:xfrm xmlns:a="http://schemas.openxmlformats.org/drawingml/2006/main">
            <a:off x="5340350" y="58769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0748A"/>
                </a:solidFill>
                <a:latin typeface="Aptos"/>
                <a:ea typeface="Aptos"/>
                <a:cs typeface="Aptos"/>
              </a:defRPr>
            </a:pPr>
            <a:r>
              <a:rPr sz="975" b="0">
                <a:solidFill>
                  <a:srgbClr val="60748A"/>
                </a:solidFill>
                <a:latin typeface="Aptos"/>
                <a:ea typeface="Aptos"/>
                <a:cs typeface="Aptos"/>
              </a:rPr>
              <a:t>55%</a:t>
            </a:r>
          </a:p>
        </p:txBody>
      </p:sp>
      <p:sp>
        <p:nvSpPr>
          <p:cNvPr id="22" name="">
            <a:extLst xmlns:a="http://schemas.openxmlformats.org/drawingml/2006/main">
              <a:ext uri="{FF2B5EF4-FFF2-40B4-BE49-F238E27FC236}">
                <a16:creationId xmlns:a16="http://schemas.microsoft.com/office/drawing/2014/main" id="{639E36E7-6A9B-45C0-857B-C93AEF922BD3}"/>
              </a:ext>
            </a:extLst>
          </p:cNvPr>
          <p:cNvSpPr>
            <a:spLocks xmlns:a="http://schemas.openxmlformats.org/drawingml/2006/main" noGrp="1"/>
          </p:cNvSpPr>
          <p:nvPr/>
        </p:nvSpPr>
        <p:spPr>
          <a:xfrm xmlns:a="http://schemas.openxmlformats.org/drawingml/2006/main">
            <a:off x="7222067" y="2257425"/>
            <a:ext cx="0" cy="354330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23" name="">
            <a:extLst xmlns:a="http://schemas.openxmlformats.org/drawingml/2006/main">
              <a:ext uri="{FF2B5EF4-FFF2-40B4-BE49-F238E27FC236}">
                <a16:creationId xmlns:a16="http://schemas.microsoft.com/office/drawing/2014/main" id="{D67C83C6-DBA6-43FB-BA41-87F2E2164D61}"/>
              </a:ext>
            </a:extLst>
          </p:cNvPr>
          <p:cNvSpPr>
            <a:spLocks xmlns:a="http://schemas.openxmlformats.org/drawingml/2006/main" noGrp="1"/>
          </p:cNvSpPr>
          <p:nvPr/>
        </p:nvSpPr>
        <p:spPr>
          <a:xfrm xmlns:a="http://schemas.openxmlformats.org/drawingml/2006/main">
            <a:off x="6974417" y="58769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0748A"/>
                </a:solidFill>
                <a:latin typeface="Aptos"/>
                <a:ea typeface="Aptos"/>
                <a:cs typeface="Aptos"/>
              </a:defRPr>
            </a:pPr>
            <a:r>
              <a:rPr sz="975" b="0">
                <a:solidFill>
                  <a:srgbClr val="60748A"/>
                </a:solidFill>
                <a:latin typeface="Aptos"/>
                <a:ea typeface="Aptos"/>
                <a:cs typeface="Aptos"/>
              </a:rPr>
              <a:t>65%</a:t>
            </a:r>
          </a:p>
        </p:txBody>
      </p:sp>
      <p:sp>
        <p:nvSpPr>
          <p:cNvPr id="24" name="">
            <a:extLst xmlns:a="http://schemas.openxmlformats.org/drawingml/2006/main">
              <a:ext uri="{FF2B5EF4-FFF2-40B4-BE49-F238E27FC236}">
                <a16:creationId xmlns:a16="http://schemas.microsoft.com/office/drawing/2014/main" id="{4EEBEB7B-0ED1-4B88-8B50-BD9FCB710761}"/>
              </a:ext>
            </a:extLst>
          </p:cNvPr>
          <p:cNvSpPr>
            <a:spLocks xmlns:a="http://schemas.openxmlformats.org/drawingml/2006/main" noGrp="1"/>
          </p:cNvSpPr>
          <p:nvPr/>
        </p:nvSpPr>
        <p:spPr>
          <a:xfrm xmlns:a="http://schemas.openxmlformats.org/drawingml/2006/main">
            <a:off x="685800" y="5800725"/>
            <a:ext cx="7353300" cy="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25" name="">
            <a:extLst xmlns:a="http://schemas.openxmlformats.org/drawingml/2006/main">
              <a:ext uri="{FF2B5EF4-FFF2-40B4-BE49-F238E27FC236}">
                <a16:creationId xmlns:a16="http://schemas.microsoft.com/office/drawing/2014/main" id="{E8D60363-30E5-4DDE-9874-A971F2A2244A}"/>
              </a:ext>
            </a:extLst>
          </p:cNvPr>
          <p:cNvSpPr>
            <a:spLocks xmlns:a="http://schemas.openxmlformats.org/drawingml/2006/main" noGrp="1"/>
          </p:cNvSpPr>
          <p:nvPr/>
        </p:nvSpPr>
        <p:spPr>
          <a:xfrm xmlns:a="http://schemas.openxmlformats.org/drawingml/2006/main">
            <a:off x="304800" y="57150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0748A"/>
                </a:solidFill>
                <a:latin typeface="Aptos"/>
                <a:ea typeface="Aptos"/>
                <a:cs typeface="Aptos"/>
              </a:defRPr>
            </a:pPr>
            <a:r>
              <a:rPr sz="975" b="0">
                <a:solidFill>
                  <a:srgbClr val="60748A"/>
                </a:solidFill>
                <a:latin typeface="Aptos"/>
                <a:ea typeface="Aptos"/>
                <a:cs typeface="Aptos"/>
              </a:rPr>
              <a:t>40</a:t>
            </a:r>
          </a:p>
        </p:txBody>
      </p:sp>
      <p:sp>
        <p:nvSpPr>
          <p:cNvPr id="26" name="">
            <a:extLst xmlns:a="http://schemas.openxmlformats.org/drawingml/2006/main">
              <a:ext uri="{FF2B5EF4-FFF2-40B4-BE49-F238E27FC236}">
                <a16:creationId xmlns:a16="http://schemas.microsoft.com/office/drawing/2014/main" id="{5869B981-E276-4F3D-8208-C7F91B842291}"/>
              </a:ext>
            </a:extLst>
          </p:cNvPr>
          <p:cNvSpPr>
            <a:spLocks xmlns:a="http://schemas.openxmlformats.org/drawingml/2006/main" noGrp="1"/>
          </p:cNvSpPr>
          <p:nvPr/>
        </p:nvSpPr>
        <p:spPr>
          <a:xfrm xmlns:a="http://schemas.openxmlformats.org/drawingml/2006/main">
            <a:off x="685800" y="4788354"/>
            <a:ext cx="7353300" cy="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27" name="">
            <a:extLst xmlns:a="http://schemas.openxmlformats.org/drawingml/2006/main">
              <a:ext uri="{FF2B5EF4-FFF2-40B4-BE49-F238E27FC236}">
                <a16:creationId xmlns:a16="http://schemas.microsoft.com/office/drawing/2014/main" id="{0B8810C5-7D76-4FA1-8DA4-349DDF75D884}"/>
              </a:ext>
            </a:extLst>
          </p:cNvPr>
          <p:cNvSpPr>
            <a:spLocks xmlns:a="http://schemas.openxmlformats.org/drawingml/2006/main" noGrp="1"/>
          </p:cNvSpPr>
          <p:nvPr/>
        </p:nvSpPr>
        <p:spPr>
          <a:xfrm xmlns:a="http://schemas.openxmlformats.org/drawingml/2006/main">
            <a:off x="304800" y="4702629"/>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0748A"/>
                </a:solidFill>
                <a:latin typeface="Aptos"/>
                <a:ea typeface="Aptos"/>
                <a:cs typeface="Aptos"/>
              </a:defRPr>
            </a:pPr>
            <a:r>
              <a:rPr sz="975" b="0">
                <a:solidFill>
                  <a:srgbClr val="60748A"/>
                </a:solidFill>
                <a:latin typeface="Aptos"/>
                <a:ea typeface="Aptos"/>
                <a:cs typeface="Aptos"/>
              </a:rPr>
              <a:t>50</a:t>
            </a:r>
          </a:p>
        </p:txBody>
      </p:sp>
      <p:sp>
        <p:nvSpPr>
          <p:cNvPr id="28" name="">
            <a:extLst xmlns:a="http://schemas.openxmlformats.org/drawingml/2006/main">
              <a:ext uri="{FF2B5EF4-FFF2-40B4-BE49-F238E27FC236}">
                <a16:creationId xmlns:a16="http://schemas.microsoft.com/office/drawing/2014/main" id="{E844482B-0D0C-4338-94D2-24720EF0E1CF}"/>
              </a:ext>
            </a:extLst>
          </p:cNvPr>
          <p:cNvSpPr>
            <a:spLocks xmlns:a="http://schemas.openxmlformats.org/drawingml/2006/main" noGrp="1"/>
          </p:cNvSpPr>
          <p:nvPr/>
        </p:nvSpPr>
        <p:spPr>
          <a:xfrm xmlns:a="http://schemas.openxmlformats.org/drawingml/2006/main">
            <a:off x="685800" y="3775982"/>
            <a:ext cx="7353300" cy="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29" name="">
            <a:extLst xmlns:a="http://schemas.openxmlformats.org/drawingml/2006/main">
              <a:ext uri="{FF2B5EF4-FFF2-40B4-BE49-F238E27FC236}">
                <a16:creationId xmlns:a16="http://schemas.microsoft.com/office/drawing/2014/main" id="{C8D5E24F-1A05-405D-9F04-F3B8276F64D7}"/>
              </a:ext>
            </a:extLst>
          </p:cNvPr>
          <p:cNvSpPr>
            <a:spLocks xmlns:a="http://schemas.openxmlformats.org/drawingml/2006/main" noGrp="1"/>
          </p:cNvSpPr>
          <p:nvPr/>
        </p:nvSpPr>
        <p:spPr>
          <a:xfrm xmlns:a="http://schemas.openxmlformats.org/drawingml/2006/main">
            <a:off x="304800" y="3690257"/>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0748A"/>
                </a:solidFill>
                <a:latin typeface="Aptos"/>
                <a:ea typeface="Aptos"/>
                <a:cs typeface="Aptos"/>
              </a:defRPr>
            </a:pPr>
            <a:r>
              <a:rPr sz="975" b="0">
                <a:solidFill>
                  <a:srgbClr val="60748A"/>
                </a:solidFill>
                <a:latin typeface="Aptos"/>
                <a:ea typeface="Aptos"/>
                <a:cs typeface="Aptos"/>
              </a:rPr>
              <a:t>60</a:t>
            </a:r>
          </a:p>
        </p:txBody>
      </p:sp>
      <p:sp>
        <p:nvSpPr>
          <p:cNvPr id="30" name="">
            <a:extLst xmlns:a="http://schemas.openxmlformats.org/drawingml/2006/main">
              <a:ext uri="{FF2B5EF4-FFF2-40B4-BE49-F238E27FC236}">
                <a16:creationId xmlns:a16="http://schemas.microsoft.com/office/drawing/2014/main" id="{B9B29860-31CC-48A2-8ED1-4C91DA72AF89}"/>
              </a:ext>
            </a:extLst>
          </p:cNvPr>
          <p:cNvSpPr>
            <a:spLocks xmlns:a="http://schemas.openxmlformats.org/drawingml/2006/main" noGrp="1"/>
          </p:cNvSpPr>
          <p:nvPr/>
        </p:nvSpPr>
        <p:spPr>
          <a:xfrm xmlns:a="http://schemas.openxmlformats.org/drawingml/2006/main">
            <a:off x="685800" y="2763611"/>
            <a:ext cx="7353300" cy="0"/>
          </a:xfrm>
          <a:prstGeom xmlns:a="http://schemas.openxmlformats.org/drawingml/2006/main" prst="line">
            <a:avLst/>
          </a:prstGeom>
          <a:noFill xmlns:a="http://schemas.openxmlformats.org/drawingml/2006/main"/>
          <a:ln xmlns:a="http://schemas.openxmlformats.org/drawingml/2006/main" w="9525">
            <a:solidFill>
              <a:srgbClr val="FFFFFF">
                <a:alpha val="66667"/>
              </a:srgbClr>
            </a:solidFill>
            <a:prstDash val="solid"/>
          </a:ln>
        </p:spPr>
      </p:sp>
      <p:sp>
        <p:nvSpPr>
          <p:cNvPr id="31" name="">
            <a:extLst xmlns:a="http://schemas.openxmlformats.org/drawingml/2006/main">
              <a:ext uri="{FF2B5EF4-FFF2-40B4-BE49-F238E27FC236}">
                <a16:creationId xmlns:a16="http://schemas.microsoft.com/office/drawing/2014/main" id="{98C55370-1C80-44B8-9CB0-83569545AAF1}"/>
              </a:ext>
            </a:extLst>
          </p:cNvPr>
          <p:cNvSpPr>
            <a:spLocks xmlns:a="http://schemas.openxmlformats.org/drawingml/2006/main" noGrp="1"/>
          </p:cNvSpPr>
          <p:nvPr/>
        </p:nvSpPr>
        <p:spPr>
          <a:xfrm xmlns:a="http://schemas.openxmlformats.org/drawingml/2006/main">
            <a:off x="304800" y="2677886"/>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0748A"/>
                </a:solidFill>
                <a:latin typeface="Aptos"/>
                <a:ea typeface="Aptos"/>
                <a:cs typeface="Aptos"/>
              </a:defRPr>
            </a:pPr>
            <a:r>
              <a:rPr sz="975" b="0">
                <a:solidFill>
                  <a:srgbClr val="60748A"/>
                </a:solidFill>
                <a:latin typeface="Aptos"/>
                <a:ea typeface="Aptos"/>
                <a:cs typeface="Aptos"/>
              </a:rPr>
              <a:t>70</a:t>
            </a:r>
          </a:p>
        </p:txBody>
      </p:sp>
      <p:sp>
        <p:nvSpPr>
          <p:cNvPr id="32" name="">
            <a:extLst xmlns:a="http://schemas.openxmlformats.org/drawingml/2006/main">
              <a:ext uri="{FF2B5EF4-FFF2-40B4-BE49-F238E27FC236}">
                <a16:creationId xmlns:a16="http://schemas.microsoft.com/office/drawing/2014/main" id="{1D4908BC-B690-4845-90AA-02A9811BEAB8}"/>
              </a:ext>
            </a:extLst>
          </p:cNvPr>
          <p:cNvSpPr>
            <a:spLocks xmlns:a="http://schemas.openxmlformats.org/drawingml/2006/main" noGrp="1"/>
          </p:cNvSpPr>
          <p:nvPr/>
        </p:nvSpPr>
        <p:spPr>
          <a:xfrm xmlns:a="http://schemas.openxmlformats.org/drawingml/2006/main">
            <a:off x="4366639" y="2257425"/>
            <a:ext cx="0" cy="3543300"/>
          </a:xfrm>
          <a:prstGeom xmlns:a="http://schemas.openxmlformats.org/drawingml/2006/main" prst="line">
            <a:avLst/>
          </a:prstGeom>
          <a:noFill xmlns:a="http://schemas.openxmlformats.org/drawingml/2006/main"/>
          <a:ln xmlns:a="http://schemas.openxmlformats.org/drawingml/2006/main" w="19050">
            <a:solidFill>
              <a:srgbClr val="173A5E"/>
            </a:solidFill>
            <a:prstDash val="dash"/>
          </a:ln>
        </p:spPr>
      </p:sp>
      <p:sp>
        <p:nvSpPr>
          <p:cNvPr id="33" name="">
            <a:extLst xmlns:a="http://schemas.openxmlformats.org/drawingml/2006/main">
              <a:ext uri="{FF2B5EF4-FFF2-40B4-BE49-F238E27FC236}">
                <a16:creationId xmlns:a16="http://schemas.microsoft.com/office/drawing/2014/main" id="{CC6EBD90-8DF7-4FA5-AF9A-5036ECEC3942}"/>
              </a:ext>
            </a:extLst>
          </p:cNvPr>
          <p:cNvSpPr>
            <a:spLocks xmlns:a="http://schemas.openxmlformats.org/drawingml/2006/main" noGrp="1"/>
          </p:cNvSpPr>
          <p:nvPr/>
        </p:nvSpPr>
        <p:spPr>
          <a:xfrm xmlns:a="http://schemas.openxmlformats.org/drawingml/2006/main">
            <a:off x="685800" y="3978141"/>
            <a:ext cx="7353300" cy="0"/>
          </a:xfrm>
          <a:prstGeom xmlns:a="http://schemas.openxmlformats.org/drawingml/2006/main" prst="line">
            <a:avLst/>
          </a:prstGeom>
          <a:noFill xmlns:a="http://schemas.openxmlformats.org/drawingml/2006/main"/>
          <a:ln xmlns:a="http://schemas.openxmlformats.org/drawingml/2006/main" w="19050">
            <a:solidFill>
              <a:srgbClr val="173A5E"/>
            </a:solidFill>
            <a:prstDash val="dash"/>
          </a:ln>
        </p:spPr>
      </p:sp>
      <p:sp>
        <p:nvSpPr>
          <p:cNvPr id="34" name="">
            <a:extLst xmlns:a="http://schemas.openxmlformats.org/drawingml/2006/main">
              <a:ext uri="{FF2B5EF4-FFF2-40B4-BE49-F238E27FC236}">
                <a16:creationId xmlns:a16="http://schemas.microsoft.com/office/drawing/2014/main" id="{9FC949F2-1533-4C6D-8F3E-EFFE1ABCAB62}"/>
              </a:ext>
            </a:extLst>
          </p:cNvPr>
          <p:cNvSpPr>
            <a:spLocks xmlns:a="http://schemas.openxmlformats.org/drawingml/2006/main" noGrp="1"/>
          </p:cNvSpPr>
          <p:nvPr/>
        </p:nvSpPr>
        <p:spPr>
          <a:xfrm xmlns:a="http://schemas.openxmlformats.org/drawingml/2006/main">
            <a:off x="4433314" y="5562600"/>
            <a:ext cx="1362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73A5E"/>
                </a:solidFill>
                <a:latin typeface="Aptos"/>
                <a:ea typeface="Aptos"/>
                <a:cs typeface="Aptos"/>
              </a:defRPr>
            </a:pPr>
            <a:r>
              <a:rPr sz="900" b="1">
                <a:solidFill>
                  <a:srgbClr val="173A5E"/>
                </a:solidFill>
                <a:latin typeface="Aptos"/>
                <a:ea typeface="Aptos"/>
                <a:cs typeface="Aptos"/>
              </a:rPr>
              <a:t>Önem ort.: 47,5%</a:t>
            </a:r>
          </a:p>
        </p:txBody>
      </p:sp>
      <p:sp>
        <p:nvSpPr>
          <p:cNvPr id="35" name="">
            <a:extLst xmlns:a="http://schemas.openxmlformats.org/drawingml/2006/main">
              <a:ext uri="{FF2B5EF4-FFF2-40B4-BE49-F238E27FC236}">
                <a16:creationId xmlns:a16="http://schemas.microsoft.com/office/drawing/2014/main" id="{276DDF35-4FB5-429E-B1FD-165D1EB84E99}"/>
              </a:ext>
            </a:extLst>
          </p:cNvPr>
          <p:cNvSpPr>
            <a:spLocks xmlns:a="http://schemas.openxmlformats.org/drawingml/2006/main" noGrp="1"/>
          </p:cNvSpPr>
          <p:nvPr/>
        </p:nvSpPr>
        <p:spPr>
          <a:xfrm xmlns:a="http://schemas.openxmlformats.org/drawingml/2006/main">
            <a:off x="762000" y="3740016"/>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73A5E"/>
                </a:solidFill>
                <a:latin typeface="Aptos"/>
                <a:ea typeface="Aptos"/>
                <a:cs typeface="Aptos"/>
              </a:defRPr>
            </a:pPr>
            <a:r>
              <a:rPr sz="900" b="1">
                <a:solidFill>
                  <a:srgbClr val="173A5E"/>
                </a:solidFill>
                <a:latin typeface="Aptos"/>
                <a:ea typeface="Aptos"/>
                <a:cs typeface="Aptos"/>
              </a:rPr>
              <a:t>Memnuniyet ort.: 58,0</a:t>
            </a:r>
          </a:p>
        </p:txBody>
      </p:sp>
      <p:sp>
        <p:nvSpPr>
          <p:cNvPr id="36" name="">
            <a:extLst xmlns:a="http://schemas.openxmlformats.org/drawingml/2006/main">
              <a:ext uri="{FF2B5EF4-FFF2-40B4-BE49-F238E27FC236}">
                <a16:creationId xmlns:a16="http://schemas.microsoft.com/office/drawing/2014/main" id="{183EFF71-1868-438A-8658-2EDA32AA6753}"/>
              </a:ext>
            </a:extLst>
          </p:cNvPr>
          <p:cNvSpPr>
            <a:spLocks xmlns:a="http://schemas.openxmlformats.org/drawingml/2006/main" noGrp="1"/>
          </p:cNvSpPr>
          <p:nvPr/>
        </p:nvSpPr>
        <p:spPr>
          <a:xfrm xmlns:a="http://schemas.openxmlformats.org/drawingml/2006/main">
            <a:off x="7378108" y="3724479"/>
            <a:ext cx="114300" cy="114300"/>
          </a:xfrm>
          <a:prstGeom xmlns:a="http://schemas.openxmlformats.org/drawingml/2006/main" prst="ellipse">
            <a:avLst/>
          </a:prstGeom>
          <a:solidFill xmlns:a="http://schemas.openxmlformats.org/drawingml/2006/main">
            <a:srgbClr val="2DA66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324C0B69-9A7F-4AD8-9703-B1FC6401C4AD}"/>
              </a:ext>
            </a:extLst>
          </p:cNvPr>
          <p:cNvSpPr>
            <a:spLocks xmlns:a="http://schemas.openxmlformats.org/drawingml/2006/main" noGrp="1"/>
          </p:cNvSpPr>
          <p:nvPr/>
        </p:nvSpPr>
        <p:spPr>
          <a:xfrm xmlns:a="http://schemas.openxmlformats.org/drawingml/2006/main">
            <a:off x="6235108" y="3572079"/>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A66F"/>
                </a:solidFill>
                <a:latin typeface="Aptos"/>
                <a:ea typeface="Aptos"/>
                <a:cs typeface="Aptos"/>
              </a:defRPr>
            </a:pPr>
            <a:r>
              <a:rPr sz="975" b="1">
                <a:solidFill>
                  <a:srgbClr val="2DA66F"/>
                </a:solidFill>
                <a:latin typeface="Aptos"/>
                <a:ea typeface="Aptos"/>
                <a:cs typeface="Aptos"/>
              </a:rPr>
              <a:t>Ürün çeşitliliği</a:t>
            </a:r>
          </a:p>
        </p:txBody>
      </p:sp>
      <p:sp>
        <p:nvSpPr>
          <p:cNvPr id="38" name="">
            <a:extLst xmlns:a="http://schemas.openxmlformats.org/drawingml/2006/main">
              <a:ext uri="{FF2B5EF4-FFF2-40B4-BE49-F238E27FC236}">
                <a16:creationId xmlns:a16="http://schemas.microsoft.com/office/drawing/2014/main" id="{779E5A23-6AA5-4A5F-888C-FC5DE455BA32}"/>
              </a:ext>
            </a:extLst>
          </p:cNvPr>
          <p:cNvSpPr>
            <a:spLocks xmlns:a="http://schemas.openxmlformats.org/drawingml/2006/main" noGrp="1"/>
          </p:cNvSpPr>
          <p:nvPr/>
        </p:nvSpPr>
        <p:spPr>
          <a:xfrm xmlns:a="http://schemas.openxmlformats.org/drawingml/2006/main">
            <a:off x="5619458" y="3349717"/>
            <a:ext cx="114300" cy="114300"/>
          </a:xfrm>
          <a:prstGeom xmlns:a="http://schemas.openxmlformats.org/drawingml/2006/main" prst="ellipse">
            <a:avLst/>
          </a:prstGeom>
          <a:solidFill xmlns:a="http://schemas.openxmlformats.org/drawingml/2006/main">
            <a:srgbClr val="2DA66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9" name="">
            <a:extLst xmlns:a="http://schemas.openxmlformats.org/drawingml/2006/main">
              <a:ext uri="{FF2B5EF4-FFF2-40B4-BE49-F238E27FC236}">
                <a16:creationId xmlns:a16="http://schemas.microsoft.com/office/drawing/2014/main" id="{D324F219-17F7-45C4-8D41-3CC71B2DF8E1}"/>
              </a:ext>
            </a:extLst>
          </p:cNvPr>
          <p:cNvSpPr>
            <a:spLocks xmlns:a="http://schemas.openxmlformats.org/drawingml/2006/main" noGrp="1"/>
          </p:cNvSpPr>
          <p:nvPr/>
        </p:nvSpPr>
        <p:spPr>
          <a:xfrm xmlns:a="http://schemas.openxmlformats.org/drawingml/2006/main">
            <a:off x="5488625" y="3865913"/>
            <a:ext cx="114300" cy="114300"/>
          </a:xfrm>
          <a:prstGeom xmlns:a="http://schemas.openxmlformats.org/drawingml/2006/main" prst="ellipse">
            <a:avLst/>
          </a:prstGeom>
          <a:solidFill xmlns:a="http://schemas.openxmlformats.org/drawingml/2006/main">
            <a:srgbClr val="2DA66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B7B4FE0B-878C-4134-8841-76E54659B8BC}"/>
              </a:ext>
            </a:extLst>
          </p:cNvPr>
          <p:cNvSpPr>
            <a:spLocks xmlns:a="http://schemas.openxmlformats.org/drawingml/2006/main" noGrp="1"/>
          </p:cNvSpPr>
          <p:nvPr/>
        </p:nvSpPr>
        <p:spPr>
          <a:xfrm xmlns:a="http://schemas.openxmlformats.org/drawingml/2006/main">
            <a:off x="5213441" y="3729356"/>
            <a:ext cx="114300" cy="114300"/>
          </a:xfrm>
          <a:prstGeom xmlns:a="http://schemas.openxmlformats.org/drawingml/2006/main" prst="ellipse">
            <a:avLst/>
          </a:prstGeom>
          <a:solidFill xmlns:a="http://schemas.openxmlformats.org/drawingml/2006/main">
            <a:srgbClr val="2DA66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20A3B27B-850D-40A1-B23B-C24A41039BF5}"/>
              </a:ext>
            </a:extLst>
          </p:cNvPr>
          <p:cNvSpPr>
            <a:spLocks xmlns:a="http://schemas.openxmlformats.org/drawingml/2006/main" noGrp="1"/>
          </p:cNvSpPr>
          <p:nvPr/>
        </p:nvSpPr>
        <p:spPr>
          <a:xfrm xmlns:a="http://schemas.openxmlformats.org/drawingml/2006/main">
            <a:off x="5117109" y="3458039"/>
            <a:ext cx="114300" cy="114300"/>
          </a:xfrm>
          <a:prstGeom xmlns:a="http://schemas.openxmlformats.org/drawingml/2006/main" prst="ellipse">
            <a:avLst/>
          </a:prstGeom>
          <a:solidFill xmlns:a="http://schemas.openxmlformats.org/drawingml/2006/main">
            <a:srgbClr val="2DA66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
            <a:extLst xmlns:a="http://schemas.openxmlformats.org/drawingml/2006/main">
              <a:ext uri="{FF2B5EF4-FFF2-40B4-BE49-F238E27FC236}">
                <a16:creationId xmlns:a16="http://schemas.microsoft.com/office/drawing/2014/main" id="{020D4BB1-F746-4513-BE1F-926F1C47891C}"/>
              </a:ext>
            </a:extLst>
          </p:cNvPr>
          <p:cNvSpPr>
            <a:spLocks xmlns:a="http://schemas.openxmlformats.org/drawingml/2006/main" noGrp="1"/>
          </p:cNvSpPr>
          <p:nvPr/>
        </p:nvSpPr>
        <p:spPr>
          <a:xfrm xmlns:a="http://schemas.openxmlformats.org/drawingml/2006/main">
            <a:off x="4848344" y="5572365"/>
            <a:ext cx="114300" cy="114300"/>
          </a:xfrm>
          <a:prstGeom xmlns:a="http://schemas.openxmlformats.org/drawingml/2006/main" prst="ellipse">
            <a:avLst/>
          </a:prstGeom>
          <a:solidFill xmlns:a="http://schemas.openxmlformats.org/drawingml/2006/main">
            <a:srgbClr val="D84F55"/>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3" name="">
            <a:extLst xmlns:a="http://schemas.openxmlformats.org/drawingml/2006/main">
              <a:ext uri="{FF2B5EF4-FFF2-40B4-BE49-F238E27FC236}">
                <a16:creationId xmlns:a16="http://schemas.microsoft.com/office/drawing/2014/main" id="{FE4BE437-588D-46E5-B5A2-3519D22D6C00}"/>
              </a:ext>
            </a:extLst>
          </p:cNvPr>
          <p:cNvSpPr>
            <a:spLocks xmlns:a="http://schemas.openxmlformats.org/drawingml/2006/main" noGrp="1"/>
          </p:cNvSpPr>
          <p:nvPr/>
        </p:nvSpPr>
        <p:spPr>
          <a:xfrm xmlns:a="http://schemas.openxmlformats.org/drawingml/2006/main">
            <a:off x="5019794" y="5343765"/>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D84F55"/>
                </a:solidFill>
                <a:latin typeface="Aptos"/>
                <a:ea typeface="Aptos"/>
                <a:cs typeface="Aptos"/>
              </a:defRPr>
            </a:pPr>
            <a:r>
              <a:rPr sz="975" b="1">
                <a:solidFill>
                  <a:srgbClr val="D84F55"/>
                </a:solidFill>
                <a:latin typeface="Aptos"/>
                <a:ea typeface="Aptos"/>
                <a:cs typeface="Aptos"/>
              </a:rPr>
              <a:t>Web performansı</a:t>
            </a:r>
          </a:p>
        </p:txBody>
      </p:sp>
      <p:sp>
        <p:nvSpPr>
          <p:cNvPr id="44" name="">
            <a:extLst xmlns:a="http://schemas.openxmlformats.org/drawingml/2006/main">
              <a:ext uri="{FF2B5EF4-FFF2-40B4-BE49-F238E27FC236}">
                <a16:creationId xmlns:a16="http://schemas.microsoft.com/office/drawing/2014/main" id="{B38EA893-866D-4A2A-94F7-7ABB5AA68FAB}"/>
              </a:ext>
            </a:extLst>
          </p:cNvPr>
          <p:cNvSpPr>
            <a:spLocks xmlns:a="http://schemas.openxmlformats.org/drawingml/2006/main" noGrp="1"/>
          </p:cNvSpPr>
          <p:nvPr/>
        </p:nvSpPr>
        <p:spPr>
          <a:xfrm xmlns:a="http://schemas.openxmlformats.org/drawingml/2006/main">
            <a:off x="4833959" y="2722119"/>
            <a:ext cx="114300" cy="114300"/>
          </a:xfrm>
          <a:prstGeom xmlns:a="http://schemas.openxmlformats.org/drawingml/2006/main" prst="ellipse">
            <a:avLst/>
          </a:prstGeom>
          <a:solidFill xmlns:a="http://schemas.openxmlformats.org/drawingml/2006/main">
            <a:srgbClr val="2DA66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777859E1-1E1F-4810-B236-689C6041E14D}"/>
              </a:ext>
            </a:extLst>
          </p:cNvPr>
          <p:cNvSpPr>
            <a:spLocks xmlns:a="http://schemas.openxmlformats.org/drawingml/2006/main" noGrp="1"/>
          </p:cNvSpPr>
          <p:nvPr/>
        </p:nvSpPr>
        <p:spPr>
          <a:xfrm xmlns:a="http://schemas.openxmlformats.org/drawingml/2006/main">
            <a:off x="5005409" y="2531619"/>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A66F"/>
                </a:solidFill>
                <a:latin typeface="Aptos"/>
                <a:ea typeface="Aptos"/>
                <a:cs typeface="Aptos"/>
              </a:defRPr>
            </a:pPr>
            <a:r>
              <a:rPr sz="975" b="1">
                <a:solidFill>
                  <a:srgbClr val="2DA66F"/>
                </a:solidFill>
                <a:latin typeface="Aptos"/>
                <a:ea typeface="Aptos"/>
                <a:cs typeface="Aptos"/>
              </a:rPr>
              <a:t>Sipariş karşılama</a:t>
            </a:r>
          </a:p>
        </p:txBody>
      </p:sp>
      <p:sp>
        <p:nvSpPr>
          <p:cNvPr id="46" name="">
            <a:extLst xmlns:a="http://schemas.openxmlformats.org/drawingml/2006/main">
              <a:ext uri="{FF2B5EF4-FFF2-40B4-BE49-F238E27FC236}">
                <a16:creationId xmlns:a16="http://schemas.microsoft.com/office/drawing/2014/main" id="{CB22BE56-2181-4CA2-B59A-C61BFFA99E80}"/>
              </a:ext>
            </a:extLst>
          </p:cNvPr>
          <p:cNvSpPr>
            <a:spLocks xmlns:a="http://schemas.openxmlformats.org/drawingml/2006/main" noGrp="1"/>
          </p:cNvSpPr>
          <p:nvPr/>
        </p:nvSpPr>
        <p:spPr>
          <a:xfrm xmlns:a="http://schemas.openxmlformats.org/drawingml/2006/main">
            <a:off x="4655461" y="2656920"/>
            <a:ext cx="114300" cy="114300"/>
          </a:xfrm>
          <a:prstGeom xmlns:a="http://schemas.openxmlformats.org/drawingml/2006/main" prst="ellipse">
            <a:avLst/>
          </a:prstGeom>
          <a:solidFill xmlns:a="http://schemas.openxmlformats.org/drawingml/2006/main">
            <a:srgbClr val="2DA66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7" name="">
            <a:extLst xmlns:a="http://schemas.openxmlformats.org/drawingml/2006/main">
              <a:ext uri="{FF2B5EF4-FFF2-40B4-BE49-F238E27FC236}">
                <a16:creationId xmlns:a16="http://schemas.microsoft.com/office/drawing/2014/main" id="{F54C78E6-A322-4252-9224-1CFA29EA94EC}"/>
              </a:ext>
            </a:extLst>
          </p:cNvPr>
          <p:cNvSpPr>
            <a:spLocks xmlns:a="http://schemas.openxmlformats.org/drawingml/2006/main" noGrp="1"/>
          </p:cNvSpPr>
          <p:nvPr/>
        </p:nvSpPr>
        <p:spPr>
          <a:xfrm xmlns:a="http://schemas.openxmlformats.org/drawingml/2006/main">
            <a:off x="3360061" y="2466420"/>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A66F"/>
                </a:solidFill>
                <a:latin typeface="Aptos"/>
                <a:ea typeface="Aptos"/>
                <a:cs typeface="Aptos"/>
              </a:defRPr>
            </a:pPr>
            <a:r>
              <a:rPr sz="975" b="1">
                <a:solidFill>
                  <a:srgbClr val="2DA66F"/>
                </a:solidFill>
                <a:latin typeface="Aptos"/>
                <a:ea typeface="Aptos"/>
                <a:cs typeface="Aptos"/>
              </a:rPr>
              <a:t>Ambalaj</a:t>
            </a:r>
          </a:p>
        </p:txBody>
      </p:sp>
      <p:sp>
        <p:nvSpPr>
          <p:cNvPr id="48" name="">
            <a:extLst xmlns:a="http://schemas.openxmlformats.org/drawingml/2006/main">
              <a:ext uri="{FF2B5EF4-FFF2-40B4-BE49-F238E27FC236}">
                <a16:creationId xmlns:a16="http://schemas.microsoft.com/office/drawing/2014/main" id="{EA9238CE-988B-440C-9E2C-C9A15C7EB56C}"/>
              </a:ext>
            </a:extLst>
          </p:cNvPr>
          <p:cNvSpPr>
            <a:spLocks xmlns:a="http://schemas.openxmlformats.org/drawingml/2006/main" noGrp="1"/>
          </p:cNvSpPr>
          <p:nvPr/>
        </p:nvSpPr>
        <p:spPr>
          <a:xfrm xmlns:a="http://schemas.openxmlformats.org/drawingml/2006/main">
            <a:off x="3911537" y="5286930"/>
            <a:ext cx="114300" cy="114300"/>
          </a:xfrm>
          <a:prstGeom xmlns:a="http://schemas.openxmlformats.org/drawingml/2006/main" prst="ellipse">
            <a:avLst/>
          </a:prstGeom>
          <a:solidFill xmlns:a="http://schemas.openxmlformats.org/drawingml/2006/main">
            <a:srgbClr val="F2B94B"/>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9" name="">
            <a:extLst xmlns:a="http://schemas.openxmlformats.org/drawingml/2006/main">
              <a:ext uri="{FF2B5EF4-FFF2-40B4-BE49-F238E27FC236}">
                <a16:creationId xmlns:a16="http://schemas.microsoft.com/office/drawing/2014/main" id="{1DC61E0D-8DDA-4752-AA76-7CAC8E81F1D3}"/>
              </a:ext>
            </a:extLst>
          </p:cNvPr>
          <p:cNvSpPr>
            <a:spLocks xmlns:a="http://schemas.openxmlformats.org/drawingml/2006/main" noGrp="1"/>
          </p:cNvSpPr>
          <p:nvPr/>
        </p:nvSpPr>
        <p:spPr>
          <a:xfrm xmlns:a="http://schemas.openxmlformats.org/drawingml/2006/main">
            <a:off x="2692337" y="5448855"/>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2B94B"/>
                </a:solidFill>
                <a:latin typeface="Aptos"/>
                <a:ea typeface="Aptos"/>
                <a:cs typeface="Aptos"/>
              </a:defRPr>
            </a:pPr>
            <a:r>
              <a:rPr sz="975" b="1">
                <a:solidFill>
                  <a:srgbClr val="F2B94B"/>
                </a:solidFill>
                <a:latin typeface="Aptos"/>
                <a:ea typeface="Aptos"/>
                <a:cs typeface="Aptos"/>
              </a:rPr>
              <a:t>Sipariş kolaylığı</a:t>
            </a:r>
          </a:p>
        </p:txBody>
      </p:sp>
      <p:sp>
        <p:nvSpPr>
          <p:cNvPr id="50" name="">
            <a:extLst xmlns:a="http://schemas.openxmlformats.org/drawingml/2006/main">
              <a:ext uri="{FF2B5EF4-FFF2-40B4-BE49-F238E27FC236}">
                <a16:creationId xmlns:a16="http://schemas.microsoft.com/office/drawing/2014/main" id="{8A675847-BF47-40AF-BC3B-252B63F1BDBB}"/>
              </a:ext>
            </a:extLst>
          </p:cNvPr>
          <p:cNvSpPr>
            <a:spLocks xmlns:a="http://schemas.openxmlformats.org/drawingml/2006/main" noGrp="1"/>
          </p:cNvSpPr>
          <p:nvPr/>
        </p:nvSpPr>
        <p:spPr>
          <a:xfrm xmlns:a="http://schemas.openxmlformats.org/drawingml/2006/main">
            <a:off x="3779907" y="4283029"/>
            <a:ext cx="114300" cy="114300"/>
          </a:xfrm>
          <a:prstGeom xmlns:a="http://schemas.openxmlformats.org/drawingml/2006/main" prst="ellipse">
            <a:avLst/>
          </a:prstGeom>
          <a:solidFill xmlns:a="http://schemas.openxmlformats.org/drawingml/2006/main">
            <a:srgbClr val="F2B94B"/>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1" name="">
            <a:extLst xmlns:a="http://schemas.openxmlformats.org/drawingml/2006/main">
              <a:ext uri="{FF2B5EF4-FFF2-40B4-BE49-F238E27FC236}">
                <a16:creationId xmlns:a16="http://schemas.microsoft.com/office/drawing/2014/main" id="{4835D16B-0C61-4AAE-B005-AC020586B31A}"/>
              </a:ext>
            </a:extLst>
          </p:cNvPr>
          <p:cNvSpPr>
            <a:spLocks xmlns:a="http://schemas.openxmlformats.org/drawingml/2006/main" noGrp="1"/>
          </p:cNvSpPr>
          <p:nvPr/>
        </p:nvSpPr>
        <p:spPr>
          <a:xfrm xmlns:a="http://schemas.openxmlformats.org/drawingml/2006/main">
            <a:off x="3744968" y="3563023"/>
            <a:ext cx="114300" cy="114300"/>
          </a:xfrm>
          <a:prstGeom xmlns:a="http://schemas.openxmlformats.org/drawingml/2006/main" prst="ellipse">
            <a:avLst/>
          </a:prstGeom>
          <a:solidFill xmlns:a="http://schemas.openxmlformats.org/drawingml/2006/main">
            <a:srgbClr val="2F6BF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2" name="">
            <a:extLst xmlns:a="http://schemas.openxmlformats.org/drawingml/2006/main">
              <a:ext uri="{FF2B5EF4-FFF2-40B4-BE49-F238E27FC236}">
                <a16:creationId xmlns:a16="http://schemas.microsoft.com/office/drawing/2014/main" id="{8DEEC615-D554-4D01-B9FC-6047EC646FA5}"/>
              </a:ext>
            </a:extLst>
          </p:cNvPr>
          <p:cNvSpPr>
            <a:spLocks xmlns:a="http://schemas.openxmlformats.org/drawingml/2006/main" noGrp="1"/>
          </p:cNvSpPr>
          <p:nvPr/>
        </p:nvSpPr>
        <p:spPr>
          <a:xfrm xmlns:a="http://schemas.openxmlformats.org/drawingml/2006/main">
            <a:off x="2915862" y="3588692"/>
            <a:ext cx="114300" cy="114300"/>
          </a:xfrm>
          <a:prstGeom xmlns:a="http://schemas.openxmlformats.org/drawingml/2006/main" prst="ellipse">
            <a:avLst/>
          </a:prstGeom>
          <a:solidFill xmlns:a="http://schemas.openxmlformats.org/drawingml/2006/main">
            <a:srgbClr val="2F6BFF"/>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51C47F56-101E-49BC-A1C4-6822C34354B8}"/>
              </a:ext>
            </a:extLst>
          </p:cNvPr>
          <p:cNvSpPr>
            <a:spLocks xmlns:a="http://schemas.openxmlformats.org/drawingml/2006/main" noGrp="1"/>
          </p:cNvSpPr>
          <p:nvPr/>
        </p:nvSpPr>
        <p:spPr>
          <a:xfrm xmlns:a="http://schemas.openxmlformats.org/drawingml/2006/main">
            <a:off x="1972097" y="4331543"/>
            <a:ext cx="114300" cy="114300"/>
          </a:xfrm>
          <a:prstGeom xmlns:a="http://schemas.openxmlformats.org/drawingml/2006/main" prst="ellipse">
            <a:avLst/>
          </a:prstGeom>
          <a:solidFill xmlns:a="http://schemas.openxmlformats.org/drawingml/2006/main">
            <a:srgbClr val="F2B94B"/>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4" name="">
            <a:extLst xmlns:a="http://schemas.openxmlformats.org/drawingml/2006/main">
              <a:ext uri="{FF2B5EF4-FFF2-40B4-BE49-F238E27FC236}">
                <a16:creationId xmlns:a16="http://schemas.microsoft.com/office/drawing/2014/main" id="{9BCBB5C8-F0C4-446D-98FF-A8A8249F75DE}"/>
              </a:ext>
            </a:extLst>
          </p:cNvPr>
          <p:cNvSpPr>
            <a:spLocks xmlns:a="http://schemas.openxmlformats.org/drawingml/2006/main" noGrp="1"/>
          </p:cNvSpPr>
          <p:nvPr/>
        </p:nvSpPr>
        <p:spPr>
          <a:xfrm xmlns:a="http://schemas.openxmlformats.org/drawingml/2006/main">
            <a:off x="853966" y="4761749"/>
            <a:ext cx="114300" cy="114300"/>
          </a:xfrm>
          <a:prstGeom xmlns:a="http://schemas.openxmlformats.org/drawingml/2006/main" prst="ellipse">
            <a:avLst/>
          </a:prstGeom>
          <a:solidFill xmlns:a="http://schemas.openxmlformats.org/drawingml/2006/main">
            <a:srgbClr val="F2B94B"/>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5" name="">
            <a:extLst xmlns:a="http://schemas.openxmlformats.org/drawingml/2006/main">
              <a:ext uri="{FF2B5EF4-FFF2-40B4-BE49-F238E27FC236}">
                <a16:creationId xmlns:a16="http://schemas.microsoft.com/office/drawing/2014/main" id="{43B58501-FB30-4F7F-9740-2B4A9A641FD6}"/>
              </a:ext>
            </a:extLst>
          </p:cNvPr>
          <p:cNvSpPr>
            <a:spLocks xmlns:a="http://schemas.openxmlformats.org/drawingml/2006/main" noGrp="1"/>
          </p:cNvSpPr>
          <p:nvPr/>
        </p:nvSpPr>
        <p:spPr>
          <a:xfrm xmlns:a="http://schemas.openxmlformats.org/drawingml/2006/main">
            <a:off x="7467600" y="6096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263D"/>
                </a:solidFill>
                <a:latin typeface="Aptos"/>
                <a:ea typeface="Aptos"/>
                <a:cs typeface="Aptos"/>
              </a:defRPr>
            </a:pPr>
            <a:r>
              <a:rPr sz="1050" b="1">
                <a:solidFill>
                  <a:srgbClr val="10263D"/>
                </a:solidFill>
                <a:latin typeface="Aptos"/>
                <a:ea typeface="Aptos"/>
                <a:cs typeface="Aptos"/>
              </a:rPr>
              <a:t>Önem →</a:t>
            </a:r>
          </a:p>
        </p:txBody>
      </p:sp>
      <p:sp>
        <p:nvSpPr>
          <p:cNvPr id="56" name="">
            <a:extLst xmlns:a="http://schemas.openxmlformats.org/drawingml/2006/main">
              <a:ext uri="{FF2B5EF4-FFF2-40B4-BE49-F238E27FC236}">
                <a16:creationId xmlns:a16="http://schemas.microsoft.com/office/drawing/2014/main" id="{25290D14-8039-47E3-B8F9-11A457A9DCCC}"/>
              </a:ext>
            </a:extLst>
          </p:cNvPr>
          <p:cNvSpPr>
            <a:spLocks xmlns:a="http://schemas.openxmlformats.org/drawingml/2006/main" noGrp="1"/>
          </p:cNvSpPr>
          <p:nvPr/>
        </p:nvSpPr>
        <p:spPr>
          <a:xfrm xmlns:a="http://schemas.openxmlformats.org/drawingml/2006/main">
            <a:off x="685800" y="202882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263D"/>
                </a:solidFill>
                <a:latin typeface="Aptos"/>
                <a:ea typeface="Aptos"/>
                <a:cs typeface="Aptos"/>
              </a:defRPr>
            </a:pPr>
            <a:r>
              <a:rPr sz="1050" b="1">
                <a:solidFill>
                  <a:srgbClr val="10263D"/>
                </a:solidFill>
                <a:latin typeface="Aptos"/>
                <a:ea typeface="Aptos"/>
                <a:cs typeface="Aptos"/>
              </a:rPr>
              <a:t>Memnuniyet ↑</a:t>
            </a:r>
          </a:p>
        </p:txBody>
      </p:sp>
      <p:sp>
        <p:nvSpPr>
          <p:cNvPr id="57" name="">
            <a:extLst xmlns:a="http://schemas.openxmlformats.org/drawingml/2006/main">
              <a:ext uri="{FF2B5EF4-FFF2-40B4-BE49-F238E27FC236}">
                <a16:creationId xmlns:a16="http://schemas.microsoft.com/office/drawing/2014/main" id="{E7A79CC7-3BE8-4192-A456-6F6BF84AC605}"/>
              </a:ext>
            </a:extLst>
          </p:cNvPr>
          <p:cNvSpPr>
            <a:spLocks xmlns:a="http://schemas.openxmlformats.org/drawingml/2006/main" noGrp="1"/>
          </p:cNvSpPr>
          <p:nvPr/>
        </p:nvSpPr>
        <p:spPr>
          <a:xfrm xmlns:a="http://schemas.openxmlformats.org/drawingml/2006/main">
            <a:off x="8401050" y="2143125"/>
            <a:ext cx="3143250" cy="36766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CE5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2F1D3EEB-21DC-44B7-9E61-F1211563CBEF}"/>
              </a:ext>
            </a:extLst>
          </p:cNvPr>
          <p:cNvSpPr>
            <a:spLocks xmlns:a="http://schemas.openxmlformats.org/drawingml/2006/main" noGrp="1"/>
          </p:cNvSpPr>
          <p:nvPr/>
        </p:nvSpPr>
        <p:spPr>
          <a:xfrm xmlns:a="http://schemas.openxmlformats.org/drawingml/2006/main">
            <a:off x="8667750" y="24003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263D"/>
                </a:solidFill>
                <a:latin typeface="Aptos"/>
                <a:ea typeface="Aptos"/>
                <a:cs typeface="Aptos"/>
              </a:defRPr>
            </a:pPr>
            <a:r>
              <a:rPr sz="1875" b="1">
                <a:solidFill>
                  <a:srgbClr val="10263D"/>
                </a:solidFill>
                <a:latin typeface="Aptos"/>
                <a:ea typeface="Aptos"/>
                <a:cs typeface="Aptos"/>
              </a:rPr>
              <a:t>Öncelik sırası</a:t>
            </a:r>
          </a:p>
        </p:txBody>
      </p:sp>
      <p:sp>
        <p:nvSpPr>
          <p:cNvPr id="59" name="">
            <a:extLst xmlns:a="http://schemas.openxmlformats.org/drawingml/2006/main">
              <a:ext uri="{FF2B5EF4-FFF2-40B4-BE49-F238E27FC236}">
                <a16:creationId xmlns:a16="http://schemas.microsoft.com/office/drawing/2014/main" id="{42569810-E0A1-4A9C-AB58-CC8FA4FE23B2}"/>
              </a:ext>
            </a:extLst>
          </p:cNvPr>
          <p:cNvSpPr>
            <a:spLocks xmlns:a="http://schemas.openxmlformats.org/drawingml/2006/main" noGrp="1"/>
          </p:cNvSpPr>
          <p:nvPr/>
        </p:nvSpPr>
        <p:spPr>
          <a:xfrm xmlns:a="http://schemas.openxmlformats.org/drawingml/2006/main">
            <a:off x="8667750" y="2876550"/>
            <a:ext cx="1133475" cy="285750"/>
          </a:xfrm>
          <a:prstGeom xmlns:a="http://schemas.openxmlformats.org/drawingml/2006/main" prst="roundRect">
            <a:avLst>
              <a:gd name="adj" fmla="val 50000"/>
            </a:avLst>
          </a:prstGeom>
          <a:solidFill xmlns:a="http://schemas.openxmlformats.org/drawingml/2006/main">
            <a:srgbClr val="FBE5E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96A39CF-B3FE-48C6-A74B-95AEAC9E6B86}"/>
              </a:ext>
            </a:extLst>
          </p:cNvPr>
          <p:cNvSpPr>
            <a:spLocks xmlns:a="http://schemas.openxmlformats.org/drawingml/2006/main" noGrp="1"/>
          </p:cNvSpPr>
          <p:nvPr/>
        </p:nvSpPr>
        <p:spPr>
          <a:xfrm xmlns:a="http://schemas.openxmlformats.org/drawingml/2006/main">
            <a:off x="8763000" y="2924175"/>
            <a:ext cx="9429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D84F55"/>
                </a:solidFill>
                <a:latin typeface="Aptos"/>
                <a:ea typeface="Aptos"/>
                <a:cs typeface="Aptos"/>
              </a:defRPr>
            </a:pPr>
            <a:r>
              <a:rPr sz="975" b="1">
                <a:solidFill>
                  <a:srgbClr val="D84F55"/>
                </a:solidFill>
                <a:latin typeface="Aptos"/>
                <a:ea typeface="Aptos"/>
                <a:cs typeface="Aptos"/>
              </a:rPr>
              <a:t>01 • KRİTİK</a:t>
            </a:r>
          </a:p>
        </p:txBody>
      </p:sp>
      <p:sp>
        <p:nvSpPr>
          <p:cNvPr id="61" name="">
            <a:extLst xmlns:a="http://schemas.openxmlformats.org/drawingml/2006/main">
              <a:ext uri="{FF2B5EF4-FFF2-40B4-BE49-F238E27FC236}">
                <a16:creationId xmlns:a16="http://schemas.microsoft.com/office/drawing/2014/main" id="{3345C508-06C4-47BF-B01C-3912F2F47903}"/>
              </a:ext>
            </a:extLst>
          </p:cNvPr>
          <p:cNvSpPr>
            <a:spLocks xmlns:a="http://schemas.openxmlformats.org/drawingml/2006/main" noGrp="1"/>
          </p:cNvSpPr>
          <p:nvPr/>
        </p:nvSpPr>
        <p:spPr>
          <a:xfrm xmlns:a="http://schemas.openxmlformats.org/drawingml/2006/main">
            <a:off x="8667750" y="323850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392"/>
          </a:bodyPr>
          <a:lstStyle xmlns:a="http://schemas.openxmlformats.org/drawingml/2006/main"/>
          <a:p xmlns:a="http://schemas.openxmlformats.org/drawingml/2006/main">
            <a:pPr algn="l">
              <a:defRPr sz="1350" b="1">
                <a:solidFill>
                  <a:srgbClr val="10263D"/>
                </a:solidFill>
                <a:latin typeface="Aptos"/>
                <a:ea typeface="Aptos"/>
                <a:cs typeface="Aptos"/>
              </a:defRPr>
            </a:pPr>
            <a:r>
              <a:rPr sz="1350" b="1">
                <a:solidFill>
                  <a:srgbClr val="10263D"/>
                </a:solidFill>
                <a:latin typeface="Aptos"/>
                <a:ea typeface="Aptos"/>
                <a:cs typeface="Aptos"/>
              </a:rPr>
              <a:t>Web / App performansı</a:t>
            </a:r>
          </a:p>
          <a:p xmlns:a="http://schemas.openxmlformats.org/drawingml/2006/main">
            <a:pPr algn="l">
              <a:defRPr sz="1350" b="1">
                <a:solidFill>
                  <a:srgbClr val="10263D"/>
                </a:solidFill>
                <a:latin typeface="Aptos"/>
                <a:ea typeface="Aptos"/>
                <a:cs typeface="Aptos"/>
              </a:defRPr>
            </a:pPr>
            <a:r>
              <a:rPr sz="1350" b="1">
                <a:solidFill>
                  <a:srgbClr val="10263D"/>
                </a:solidFill>
                <a:latin typeface="Aptos"/>
                <a:ea typeface="Aptos"/>
                <a:cs typeface="Aptos"/>
              </a:rPr>
              <a:t>%50,8 önem • 41,69 memnuniyet</a:t>
            </a:r>
          </a:p>
        </p:txBody>
      </p:sp>
      <p:sp>
        <p:nvSpPr>
          <p:cNvPr id="62" name="">
            <a:extLst xmlns:a="http://schemas.openxmlformats.org/drawingml/2006/main">
              <a:ext uri="{FF2B5EF4-FFF2-40B4-BE49-F238E27FC236}">
                <a16:creationId xmlns:a16="http://schemas.microsoft.com/office/drawing/2014/main" id="{37098168-5842-45EC-B7EC-2F7AB966F735}"/>
              </a:ext>
            </a:extLst>
          </p:cNvPr>
          <p:cNvSpPr>
            <a:spLocks xmlns:a="http://schemas.openxmlformats.org/drawingml/2006/main" noGrp="1"/>
          </p:cNvSpPr>
          <p:nvPr/>
        </p:nvSpPr>
        <p:spPr>
          <a:xfrm xmlns:a="http://schemas.openxmlformats.org/drawingml/2006/main">
            <a:off x="8667750" y="3962400"/>
            <a:ext cx="1066800" cy="285750"/>
          </a:xfrm>
          <a:prstGeom xmlns:a="http://schemas.openxmlformats.org/drawingml/2006/main" prst="roundRect">
            <a:avLst>
              <a:gd name="adj" fmla="val 50000"/>
            </a:avLst>
          </a:prstGeom>
          <a:solidFill xmlns:a="http://schemas.openxmlformats.org/drawingml/2006/main">
            <a:srgbClr val="E7EEFF"/>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ADC80D5B-B9CF-48A2-9CA2-1E0B4000BF3A}"/>
              </a:ext>
            </a:extLst>
          </p:cNvPr>
          <p:cNvSpPr>
            <a:spLocks xmlns:a="http://schemas.openxmlformats.org/drawingml/2006/main" noGrp="1"/>
          </p:cNvSpPr>
          <p:nvPr/>
        </p:nvSpPr>
        <p:spPr>
          <a:xfrm xmlns:a="http://schemas.openxmlformats.org/drawingml/2006/main">
            <a:off x="8763000" y="4010025"/>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2F6BFF"/>
                </a:solidFill>
                <a:latin typeface="Aptos"/>
                <a:ea typeface="Aptos"/>
                <a:cs typeface="Aptos"/>
              </a:defRPr>
            </a:pPr>
            <a:r>
              <a:rPr sz="975" b="1">
                <a:solidFill>
                  <a:srgbClr val="2F6BFF"/>
                </a:solidFill>
                <a:latin typeface="Aptos"/>
                <a:ea typeface="Aptos"/>
                <a:cs typeface="Aptos"/>
              </a:rPr>
              <a:t>02 • GÖZET</a:t>
            </a:r>
          </a:p>
        </p:txBody>
      </p:sp>
      <p:sp>
        <p:nvSpPr>
          <p:cNvPr id="64" name="">
            <a:extLst xmlns:a="http://schemas.openxmlformats.org/drawingml/2006/main">
              <a:ext uri="{FF2B5EF4-FFF2-40B4-BE49-F238E27FC236}">
                <a16:creationId xmlns:a16="http://schemas.microsoft.com/office/drawing/2014/main" id="{0BA7F7D7-853A-4C7D-ACF0-7C20C04C84F2}"/>
              </a:ext>
            </a:extLst>
          </p:cNvPr>
          <p:cNvSpPr>
            <a:spLocks xmlns:a="http://schemas.openxmlformats.org/drawingml/2006/main" noGrp="1"/>
          </p:cNvSpPr>
          <p:nvPr/>
        </p:nvSpPr>
        <p:spPr>
          <a:xfrm xmlns:a="http://schemas.openxmlformats.org/drawingml/2006/main">
            <a:off x="8667750" y="432435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56"/>
          </a:bodyPr>
          <a:lstStyle xmlns:a="http://schemas.openxmlformats.org/drawingml/2006/main"/>
          <a:p xmlns:a="http://schemas.openxmlformats.org/drawingml/2006/main">
            <a:pPr algn="l">
              <a:defRPr sz="1275" b="0">
                <a:solidFill>
                  <a:srgbClr val="10263D"/>
                </a:solidFill>
                <a:latin typeface="Aptos"/>
                <a:ea typeface="Aptos"/>
                <a:cs typeface="Aptos"/>
              </a:defRPr>
            </a:pPr>
            <a:r>
              <a:rPr sz="1275" b="0">
                <a:solidFill>
                  <a:srgbClr val="10263D"/>
                </a:solidFill>
                <a:latin typeface="Aptos"/>
                <a:ea typeface="Aptos"/>
                <a:cs typeface="Aptos"/>
              </a:rPr>
              <a:t>Ürün çeşitliliği en yüksek önem: %66,3</a:t>
            </a:r>
          </a:p>
          <a:p xmlns:a="http://schemas.openxmlformats.org/drawingml/2006/main">
            <a:pPr algn="l">
              <a:defRPr sz="1275" b="0">
                <a:solidFill>
                  <a:srgbClr val="10263D"/>
                </a:solidFill>
                <a:latin typeface="Aptos"/>
                <a:ea typeface="Aptos"/>
                <a:cs typeface="Aptos"/>
              </a:defRPr>
            </a:pPr>
            <a:r>
              <a:rPr sz="1275" b="0">
                <a:solidFill>
                  <a:srgbClr val="10263D"/>
                </a:solidFill>
                <a:latin typeface="Aptos"/>
                <a:ea typeface="Aptos"/>
                <a:cs typeface="Aptos"/>
              </a:rPr>
              <a:t>Memnuniyet: 59,94</a:t>
            </a:r>
          </a:p>
        </p:txBody>
      </p:sp>
      <p:sp>
        <p:nvSpPr>
          <p:cNvPr id="65" name="">
            <a:extLst xmlns:a="http://schemas.openxmlformats.org/drawingml/2006/main">
              <a:ext uri="{FF2B5EF4-FFF2-40B4-BE49-F238E27FC236}">
                <a16:creationId xmlns:a16="http://schemas.microsoft.com/office/drawing/2014/main" id="{A01A6205-4D63-4925-B713-6537E2B231F8}"/>
              </a:ext>
            </a:extLst>
          </p:cNvPr>
          <p:cNvSpPr>
            <a:spLocks xmlns:a="http://schemas.openxmlformats.org/drawingml/2006/main" noGrp="1"/>
          </p:cNvSpPr>
          <p:nvPr/>
        </p:nvSpPr>
        <p:spPr>
          <a:xfrm xmlns:a="http://schemas.openxmlformats.org/drawingml/2006/main">
            <a:off x="8667750" y="5019675"/>
            <a:ext cx="1019175" cy="285750"/>
          </a:xfrm>
          <a:prstGeom xmlns:a="http://schemas.openxmlformats.org/drawingml/2006/main" prst="roundRect">
            <a:avLst>
              <a:gd name="adj" fmla="val 50000"/>
            </a:avLst>
          </a:prstGeom>
          <a:solidFill xmlns:a="http://schemas.openxmlformats.org/drawingml/2006/main">
            <a:srgbClr val="E0F4EA"/>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876B466-BD63-45AB-9383-281F297EFD8A}"/>
              </a:ext>
            </a:extLst>
          </p:cNvPr>
          <p:cNvSpPr>
            <a:spLocks xmlns:a="http://schemas.openxmlformats.org/drawingml/2006/main" noGrp="1"/>
          </p:cNvSpPr>
          <p:nvPr/>
        </p:nvSpPr>
        <p:spPr>
          <a:xfrm xmlns:a="http://schemas.openxmlformats.org/drawingml/2006/main">
            <a:off x="8763000" y="5067300"/>
            <a:ext cx="828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2DA66F"/>
                </a:solidFill>
                <a:latin typeface="Aptos"/>
                <a:ea typeface="Aptos"/>
                <a:cs typeface="Aptos"/>
              </a:defRPr>
            </a:pPr>
            <a:r>
              <a:rPr sz="975" b="1">
                <a:solidFill>
                  <a:srgbClr val="2DA66F"/>
                </a:solidFill>
                <a:latin typeface="Aptos"/>
                <a:ea typeface="Aptos"/>
                <a:cs typeface="Aptos"/>
              </a:rPr>
              <a:t>03 • KORU</a:t>
            </a:r>
          </a:p>
        </p:txBody>
      </p:sp>
      <p:sp>
        <p:nvSpPr>
          <p:cNvPr id="67" name="">
            <a:extLst xmlns:a="http://schemas.openxmlformats.org/drawingml/2006/main">
              <a:ext uri="{FF2B5EF4-FFF2-40B4-BE49-F238E27FC236}">
                <a16:creationId xmlns:a16="http://schemas.microsoft.com/office/drawing/2014/main" id="{C20ABFD8-2B1A-4F48-8318-7403542D25EA}"/>
              </a:ext>
            </a:extLst>
          </p:cNvPr>
          <p:cNvSpPr>
            <a:spLocks xmlns:a="http://schemas.openxmlformats.org/drawingml/2006/main" noGrp="1"/>
          </p:cNvSpPr>
          <p:nvPr/>
        </p:nvSpPr>
        <p:spPr>
          <a:xfrm xmlns:a="http://schemas.openxmlformats.org/drawingml/2006/main">
            <a:off x="8667750" y="5381625"/>
            <a:ext cx="2552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0263D"/>
                </a:solidFill>
                <a:latin typeface="Aptos"/>
                <a:ea typeface="Aptos"/>
                <a:cs typeface="Aptos"/>
              </a:defRPr>
            </a:pPr>
            <a:r>
              <a:rPr sz="1275" b="0">
                <a:solidFill>
                  <a:srgbClr val="10263D"/>
                </a:solidFill>
                <a:latin typeface="Aptos"/>
                <a:ea typeface="Aptos"/>
                <a:cs typeface="Aptos"/>
              </a:rPr>
              <a:t>Ambalaj 70,49 • Sipariş karşılama 69,85</a:t>
            </a:r>
          </a:p>
        </p:txBody>
      </p:sp>
      <p:sp>
        <p:nvSpPr>
          <p:cNvPr id="68" name="">
            <a:extLst xmlns:a="http://schemas.openxmlformats.org/drawingml/2006/main">
              <a:ext uri="{FF2B5EF4-FFF2-40B4-BE49-F238E27FC236}">
                <a16:creationId xmlns:a16="http://schemas.microsoft.com/office/drawing/2014/main" id="{D35E5DBA-4563-4180-BBF1-A01EB316EF07}"/>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69" name="">
            <a:extLst xmlns:a="http://schemas.openxmlformats.org/drawingml/2006/main">
              <a:ext uri="{FF2B5EF4-FFF2-40B4-BE49-F238E27FC236}">
                <a16:creationId xmlns:a16="http://schemas.microsoft.com/office/drawing/2014/main" id="{0F480283-BD53-4251-A4E1-459360C265E8}"/>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70" name="">
            <a:extLst xmlns:a="http://schemas.openxmlformats.org/drawingml/2006/main">
              <a:ext uri="{FF2B5EF4-FFF2-40B4-BE49-F238E27FC236}">
                <a16:creationId xmlns:a16="http://schemas.microsoft.com/office/drawing/2014/main" id="{EB187234-80CD-4AF1-BD7A-B098EDC75FD0}"/>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1172264869"/>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45A76F2D-BB5C-4954-85BE-358959B1FC07}"/>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82A160-C8D6-4D92-A3AD-FE609475120C}"/>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3 • MÜŞTERI MEMNUNIYETI</a:t>
            </a:r>
          </a:p>
        </p:txBody>
      </p:sp>
      <p:sp>
        <p:nvSpPr>
          <p:cNvPr id="3" name="">
            <a:extLst xmlns:a="http://schemas.openxmlformats.org/drawingml/2006/main">
              <a:ext uri="{FF2B5EF4-FFF2-40B4-BE49-F238E27FC236}">
                <a16:creationId xmlns:a16="http://schemas.microsoft.com/office/drawing/2014/main" id="{EF49D764-11CB-4F19-9252-5E81B189D319}"/>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NPS +5,05: en büyük büyüme havuzu pasifler</a:t>
            </a:r>
          </a:p>
        </p:txBody>
      </p:sp>
      <p:sp>
        <p:nvSpPr>
          <p:cNvPr id="4" name="">
            <a:extLst xmlns:a="http://schemas.openxmlformats.org/drawingml/2006/main">
              <a:ext uri="{FF2B5EF4-FFF2-40B4-BE49-F238E27FC236}">
                <a16:creationId xmlns:a16="http://schemas.microsoft.com/office/drawing/2014/main" id="{61CA5850-1E71-4C5D-969D-B53C9E8E4603}"/>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Memnuniyeti artırırken hedef yalnızca şikâyeti azaltmak değil, pasifi promotere dönüştürmek</a:t>
            </a:r>
          </a:p>
        </p:txBody>
      </p:sp>
      <p:sp>
        <p:nvSpPr>
          <p:cNvPr id="5" name="">
            <a:extLst xmlns:a="http://schemas.openxmlformats.org/drawingml/2006/main">
              <a:ext uri="{FF2B5EF4-FFF2-40B4-BE49-F238E27FC236}">
                <a16:creationId xmlns:a16="http://schemas.microsoft.com/office/drawing/2014/main" id="{B68A622E-6724-43FA-8626-162043659021}"/>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9C4573FD-EF15-427B-ADB5-26879C4D0821}"/>
              </a:ext>
            </a:extLst>
          </p:cNvPr>
          <p:cNvSpPr>
            <a:spLocks xmlns:a="http://schemas.openxmlformats.org/drawingml/2006/main" noGrp="1"/>
          </p:cNvSpPr>
          <p:nvPr/>
        </p:nvSpPr>
        <p:spPr>
          <a:xfrm xmlns:a="http://schemas.openxmlformats.org/drawingml/2006/main">
            <a:off x="666750" y="2028825"/>
            <a:ext cx="4333875" cy="4019550"/>
          </a:xfrm>
          <a:prstGeom xmlns:a="http://schemas.openxmlformats.org/drawingml/2006/main" prst="roundRect">
            <a:avLst>
              <a:gd name="adj" fmla="val 3791"/>
            </a:avLst>
          </a:prstGeom>
          <a:solidFill xmlns:a="http://schemas.openxmlformats.org/drawingml/2006/main">
            <a:srgbClr val="10263D"/>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9B41086-C518-4257-B024-14D8760C7757}"/>
              </a:ext>
            </a:extLst>
          </p:cNvPr>
          <p:cNvSpPr>
            <a:spLocks xmlns:a="http://schemas.openxmlformats.org/drawingml/2006/main" noGrp="1"/>
          </p:cNvSpPr>
          <p:nvPr/>
        </p:nvSpPr>
        <p:spPr>
          <a:xfrm xmlns:a="http://schemas.openxmlformats.org/drawingml/2006/main">
            <a:off x="971550" y="23336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CC3E1"/>
                </a:solidFill>
                <a:latin typeface="Aptos"/>
                <a:ea typeface="Aptos"/>
                <a:cs typeface="Aptos"/>
              </a:defRPr>
            </a:pPr>
            <a:r>
              <a:rPr sz="1200" b="1">
                <a:solidFill>
                  <a:srgbClr val="9CC3E1"/>
                </a:solidFill>
                <a:latin typeface="Aptos"/>
                <a:ea typeface="Aptos"/>
                <a:cs typeface="Aptos"/>
              </a:rPr>
              <a:t>NPS</a:t>
            </a:r>
          </a:p>
        </p:txBody>
      </p:sp>
      <p:sp>
        <p:nvSpPr>
          <p:cNvPr id="8" name="">
            <a:extLst xmlns:a="http://schemas.openxmlformats.org/drawingml/2006/main">
              <a:ext uri="{FF2B5EF4-FFF2-40B4-BE49-F238E27FC236}">
                <a16:creationId xmlns:a16="http://schemas.microsoft.com/office/drawing/2014/main" id="{05DD3D7C-2FD6-4DB0-B399-7576315F561B}"/>
              </a:ext>
            </a:extLst>
          </p:cNvPr>
          <p:cNvSpPr>
            <a:spLocks xmlns:a="http://schemas.openxmlformats.org/drawingml/2006/main" noGrp="1"/>
          </p:cNvSpPr>
          <p:nvPr/>
        </p:nvSpPr>
        <p:spPr>
          <a:xfrm xmlns:a="http://schemas.openxmlformats.org/drawingml/2006/main">
            <a:off x="942975" y="2619375"/>
            <a:ext cx="2571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07"/>
          </a:bodyPr>
          <a:lstStyle xmlns:a="http://schemas.openxmlformats.org/drawingml/2006/main"/>
          <a:p xmlns:a="http://schemas.openxmlformats.org/drawingml/2006/main">
            <a:pPr algn="l">
              <a:defRPr sz="5400" b="1">
                <a:solidFill>
                  <a:srgbClr val="FFFFFF"/>
                </a:solidFill>
                <a:latin typeface="Aptos Display"/>
                <a:ea typeface="Aptos Display"/>
                <a:cs typeface="Aptos Display"/>
              </a:defRPr>
            </a:pPr>
            <a:r>
              <a:rPr sz="5400" b="1">
                <a:solidFill>
                  <a:srgbClr val="FFFFFF"/>
                </a:solidFill>
                <a:latin typeface="Aptos Display"/>
                <a:ea typeface="Aptos Display"/>
                <a:cs typeface="Aptos Display"/>
              </a:rPr>
              <a:t>+5,05</a:t>
            </a:r>
          </a:p>
        </p:txBody>
      </p:sp>
      <p:sp>
        <p:nvSpPr>
          <p:cNvPr id="9" name="">
            <a:extLst xmlns:a="http://schemas.openxmlformats.org/drawingml/2006/main">
              <a:ext uri="{FF2B5EF4-FFF2-40B4-BE49-F238E27FC236}">
                <a16:creationId xmlns:a16="http://schemas.microsoft.com/office/drawing/2014/main" id="{D9701208-1096-452B-AFC2-B29103945CA2}"/>
              </a:ext>
            </a:extLst>
          </p:cNvPr>
          <p:cNvSpPr>
            <a:spLocks xmlns:a="http://schemas.openxmlformats.org/drawingml/2006/main" noGrp="1"/>
          </p:cNvSpPr>
          <p:nvPr/>
        </p:nvSpPr>
        <p:spPr>
          <a:xfrm xmlns:a="http://schemas.openxmlformats.org/drawingml/2006/main">
            <a:off x="981075" y="34194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D9E7"/>
                </a:solidFill>
                <a:latin typeface="Aptos"/>
                <a:ea typeface="Aptos"/>
                <a:cs typeface="Aptos"/>
              </a:defRPr>
            </a:pPr>
            <a:r>
              <a:rPr sz="1350" b="0">
                <a:solidFill>
                  <a:srgbClr val="C7D9E7"/>
                </a:solidFill>
                <a:latin typeface="Aptos"/>
                <a:ea typeface="Aptos"/>
                <a:cs typeface="Aptos"/>
              </a:rPr>
              <a:t>3.944 yanıt</a:t>
            </a:r>
          </a:p>
        </p:txBody>
      </p:sp>
      <p:sp>
        <p:nvSpPr>
          <p:cNvPr id="10" name="">
            <a:extLst xmlns:a="http://schemas.openxmlformats.org/drawingml/2006/main">
              <a:ext uri="{FF2B5EF4-FFF2-40B4-BE49-F238E27FC236}">
                <a16:creationId xmlns:a16="http://schemas.microsoft.com/office/drawing/2014/main" id="{3B78E455-9DFA-440A-80C4-DC1B36DF163D}"/>
              </a:ext>
            </a:extLst>
          </p:cNvPr>
          <p:cNvSpPr>
            <a:spLocks xmlns:a="http://schemas.openxmlformats.org/drawingml/2006/main" noGrp="1"/>
          </p:cNvSpPr>
          <p:nvPr/>
        </p:nvSpPr>
        <p:spPr>
          <a:xfrm xmlns:a="http://schemas.openxmlformats.org/drawingml/2006/main">
            <a:off x="981075" y="4000500"/>
            <a:ext cx="550045" cy="514350"/>
          </a:xfrm>
          <a:prstGeom xmlns:a="http://schemas.openxmlformats.org/drawingml/2006/main" prst="roundRect">
            <a:avLst>
              <a:gd name="adj" fmla="val 12963"/>
            </a:avLst>
          </a:prstGeom>
          <a:solidFill xmlns:a="http://schemas.openxmlformats.org/drawingml/2006/main">
            <a:srgbClr val="D84F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60E1038-23C5-4D89-857E-0D013B629572}"/>
              </a:ext>
            </a:extLst>
          </p:cNvPr>
          <p:cNvSpPr>
            <a:spLocks xmlns:a="http://schemas.openxmlformats.org/drawingml/2006/main" noGrp="1"/>
          </p:cNvSpPr>
          <p:nvPr/>
        </p:nvSpPr>
        <p:spPr>
          <a:xfrm xmlns:a="http://schemas.openxmlformats.org/drawingml/2006/main">
            <a:off x="1531120" y="4000500"/>
            <a:ext cx="2409139" cy="514350"/>
          </a:xfrm>
          <a:prstGeom xmlns:a="http://schemas.openxmlformats.org/drawingml/2006/main" prst="rect">
            <a:avLst/>
          </a:prstGeom>
          <a:solidFill xmlns:a="http://schemas.openxmlformats.org/drawingml/2006/main">
            <a:srgbClr val="F2B9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69AD47-2332-47BF-A373-EAD0645B61D6}"/>
              </a:ext>
            </a:extLst>
          </p:cNvPr>
          <p:cNvSpPr>
            <a:spLocks xmlns:a="http://schemas.openxmlformats.org/drawingml/2006/main" noGrp="1"/>
          </p:cNvSpPr>
          <p:nvPr/>
        </p:nvSpPr>
        <p:spPr>
          <a:xfrm xmlns:a="http://schemas.openxmlformats.org/drawingml/2006/main">
            <a:off x="3940259" y="4000500"/>
            <a:ext cx="736516" cy="514350"/>
          </a:xfrm>
          <a:prstGeom xmlns:a="http://schemas.openxmlformats.org/drawingml/2006/main" prst="roundRect">
            <a:avLst>
              <a:gd name="adj" fmla="val 12963"/>
            </a:avLst>
          </a:prstGeom>
          <a:solidFill xmlns:a="http://schemas.openxmlformats.org/drawingml/2006/main">
            <a:srgbClr val="2DA66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3A2B35-31E7-4CF7-AD80-B73859AE23D9}"/>
              </a:ext>
            </a:extLst>
          </p:cNvPr>
          <p:cNvSpPr>
            <a:spLocks xmlns:a="http://schemas.openxmlformats.org/drawingml/2006/main" noGrp="1"/>
          </p:cNvSpPr>
          <p:nvPr/>
        </p:nvSpPr>
        <p:spPr>
          <a:xfrm xmlns:a="http://schemas.openxmlformats.org/drawingml/2006/main">
            <a:off x="981075" y="4162425"/>
            <a:ext cx="55004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14,9%</a:t>
            </a:r>
          </a:p>
        </p:txBody>
      </p:sp>
      <p:sp>
        <p:nvSpPr>
          <p:cNvPr id="14" name="">
            <a:extLst xmlns:a="http://schemas.openxmlformats.org/drawingml/2006/main">
              <a:ext uri="{FF2B5EF4-FFF2-40B4-BE49-F238E27FC236}">
                <a16:creationId xmlns:a16="http://schemas.microsoft.com/office/drawing/2014/main" id="{D7185574-A99C-4F9C-B250-5FE094FB003C}"/>
              </a:ext>
            </a:extLst>
          </p:cNvPr>
          <p:cNvSpPr>
            <a:spLocks xmlns:a="http://schemas.openxmlformats.org/drawingml/2006/main" noGrp="1"/>
          </p:cNvSpPr>
          <p:nvPr/>
        </p:nvSpPr>
        <p:spPr>
          <a:xfrm xmlns:a="http://schemas.openxmlformats.org/drawingml/2006/main">
            <a:off x="1531120" y="4162425"/>
            <a:ext cx="240913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10263D"/>
                </a:solidFill>
                <a:latin typeface="Aptos"/>
                <a:ea typeface="Aptos"/>
                <a:cs typeface="Aptos"/>
              </a:defRPr>
            </a:pPr>
            <a:r>
              <a:rPr sz="1275" b="1">
                <a:solidFill>
                  <a:srgbClr val="10263D"/>
                </a:solidFill>
                <a:latin typeface="Aptos"/>
                <a:ea typeface="Aptos"/>
                <a:cs typeface="Aptos"/>
              </a:rPr>
              <a:t>65,2%</a:t>
            </a:r>
          </a:p>
        </p:txBody>
      </p:sp>
      <p:sp>
        <p:nvSpPr>
          <p:cNvPr id="15" name="">
            <a:extLst xmlns:a="http://schemas.openxmlformats.org/drawingml/2006/main">
              <a:ext uri="{FF2B5EF4-FFF2-40B4-BE49-F238E27FC236}">
                <a16:creationId xmlns:a16="http://schemas.microsoft.com/office/drawing/2014/main" id="{46EA5AFC-0DD8-4372-825B-222EA4FE8119}"/>
              </a:ext>
            </a:extLst>
          </p:cNvPr>
          <p:cNvSpPr>
            <a:spLocks xmlns:a="http://schemas.openxmlformats.org/drawingml/2006/main" noGrp="1"/>
          </p:cNvSpPr>
          <p:nvPr/>
        </p:nvSpPr>
        <p:spPr>
          <a:xfrm xmlns:a="http://schemas.openxmlformats.org/drawingml/2006/main">
            <a:off x="3940259" y="4162425"/>
            <a:ext cx="736516"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19,9%</a:t>
            </a:r>
          </a:p>
        </p:txBody>
      </p:sp>
      <p:sp>
        <p:nvSpPr>
          <p:cNvPr id="16" name="">
            <a:extLst xmlns:a="http://schemas.openxmlformats.org/drawingml/2006/main">
              <a:ext uri="{FF2B5EF4-FFF2-40B4-BE49-F238E27FC236}">
                <a16:creationId xmlns:a16="http://schemas.microsoft.com/office/drawing/2014/main" id="{0576C620-29F7-4DA5-B3D3-1B962F6E2BF8}"/>
              </a:ext>
            </a:extLst>
          </p:cNvPr>
          <p:cNvSpPr>
            <a:spLocks xmlns:a="http://schemas.openxmlformats.org/drawingml/2006/main" noGrp="1"/>
          </p:cNvSpPr>
          <p:nvPr/>
        </p:nvSpPr>
        <p:spPr>
          <a:xfrm xmlns:a="http://schemas.openxmlformats.org/drawingml/2006/main">
            <a:off x="990600" y="4733925"/>
            <a:ext cx="85725" cy="85725"/>
          </a:xfrm>
          <a:prstGeom xmlns:a="http://schemas.openxmlformats.org/drawingml/2006/main" prst="ellipse">
            <a:avLst/>
          </a:prstGeom>
          <a:solidFill xmlns:a="http://schemas.openxmlformats.org/drawingml/2006/main">
            <a:srgbClr val="D84F5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2581AB-5731-45A8-8163-AEFF90006123}"/>
              </a:ext>
            </a:extLst>
          </p:cNvPr>
          <p:cNvSpPr>
            <a:spLocks xmlns:a="http://schemas.openxmlformats.org/drawingml/2006/main" noGrp="1"/>
          </p:cNvSpPr>
          <p:nvPr/>
        </p:nvSpPr>
        <p:spPr>
          <a:xfrm xmlns:a="http://schemas.openxmlformats.org/drawingml/2006/main">
            <a:off x="1133475" y="4695825"/>
            <a:ext cx="1162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D7E6F1"/>
                </a:solidFill>
                <a:latin typeface="Aptos"/>
                <a:ea typeface="Aptos"/>
                <a:cs typeface="Aptos"/>
              </a:defRPr>
            </a:pPr>
            <a:r>
              <a:rPr sz="1050" b="0">
                <a:solidFill>
                  <a:srgbClr val="D7E6F1"/>
                </a:solidFill>
                <a:latin typeface="Aptos"/>
                <a:ea typeface="Aptos"/>
                <a:cs typeface="Aptos"/>
              </a:rPr>
              <a:t>Detractor • 587</a:t>
            </a:r>
          </a:p>
        </p:txBody>
      </p:sp>
      <p:sp>
        <p:nvSpPr>
          <p:cNvPr id="18" name="">
            <a:extLst xmlns:a="http://schemas.openxmlformats.org/drawingml/2006/main">
              <a:ext uri="{FF2B5EF4-FFF2-40B4-BE49-F238E27FC236}">
                <a16:creationId xmlns:a16="http://schemas.microsoft.com/office/drawing/2014/main" id="{D32F7AA2-FBB7-4514-B58B-4BC8E93ACA31}"/>
              </a:ext>
            </a:extLst>
          </p:cNvPr>
          <p:cNvSpPr>
            <a:spLocks xmlns:a="http://schemas.openxmlformats.org/drawingml/2006/main" noGrp="1"/>
          </p:cNvSpPr>
          <p:nvPr/>
        </p:nvSpPr>
        <p:spPr>
          <a:xfrm xmlns:a="http://schemas.openxmlformats.org/drawingml/2006/main">
            <a:off x="2190750" y="4733925"/>
            <a:ext cx="85725" cy="85725"/>
          </a:xfrm>
          <a:prstGeom xmlns:a="http://schemas.openxmlformats.org/drawingml/2006/main" prst="ellipse">
            <a:avLst/>
          </a:prstGeom>
          <a:solidFill xmlns:a="http://schemas.openxmlformats.org/drawingml/2006/main">
            <a:srgbClr val="F2B94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1CC04D8-FBC2-4D39-B2F1-3BD04216CA22}"/>
              </a:ext>
            </a:extLst>
          </p:cNvPr>
          <p:cNvSpPr>
            <a:spLocks xmlns:a="http://schemas.openxmlformats.org/drawingml/2006/main" noGrp="1"/>
          </p:cNvSpPr>
          <p:nvPr/>
        </p:nvSpPr>
        <p:spPr>
          <a:xfrm xmlns:a="http://schemas.openxmlformats.org/drawingml/2006/main">
            <a:off x="2333625" y="4695825"/>
            <a:ext cx="1162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D7E6F1"/>
                </a:solidFill>
                <a:latin typeface="Aptos"/>
                <a:ea typeface="Aptos"/>
                <a:cs typeface="Aptos"/>
              </a:defRPr>
            </a:pPr>
            <a:r>
              <a:rPr sz="1050" b="0">
                <a:solidFill>
                  <a:srgbClr val="D7E6F1"/>
                </a:solidFill>
                <a:latin typeface="Aptos"/>
                <a:ea typeface="Aptos"/>
                <a:cs typeface="Aptos"/>
              </a:rPr>
              <a:t>Passive • 2.571</a:t>
            </a:r>
          </a:p>
        </p:txBody>
      </p:sp>
      <p:sp>
        <p:nvSpPr>
          <p:cNvPr id="20" name="">
            <a:extLst xmlns:a="http://schemas.openxmlformats.org/drawingml/2006/main">
              <a:ext uri="{FF2B5EF4-FFF2-40B4-BE49-F238E27FC236}">
                <a16:creationId xmlns:a16="http://schemas.microsoft.com/office/drawing/2014/main" id="{E739AEFC-8998-4348-BE4E-DFFA9216A771}"/>
              </a:ext>
            </a:extLst>
          </p:cNvPr>
          <p:cNvSpPr>
            <a:spLocks xmlns:a="http://schemas.openxmlformats.org/drawingml/2006/main" noGrp="1"/>
          </p:cNvSpPr>
          <p:nvPr/>
        </p:nvSpPr>
        <p:spPr>
          <a:xfrm xmlns:a="http://schemas.openxmlformats.org/drawingml/2006/main">
            <a:off x="3333750" y="4733925"/>
            <a:ext cx="85725" cy="85725"/>
          </a:xfrm>
          <a:prstGeom xmlns:a="http://schemas.openxmlformats.org/drawingml/2006/main" prst="ellipse">
            <a:avLst/>
          </a:prstGeom>
          <a:solidFill xmlns:a="http://schemas.openxmlformats.org/drawingml/2006/main">
            <a:srgbClr val="2DA66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9DED835-862A-4E65-B832-A7BF2CEE8B2C}"/>
              </a:ext>
            </a:extLst>
          </p:cNvPr>
          <p:cNvSpPr>
            <a:spLocks xmlns:a="http://schemas.openxmlformats.org/drawingml/2006/main" noGrp="1"/>
          </p:cNvSpPr>
          <p:nvPr/>
        </p:nvSpPr>
        <p:spPr>
          <a:xfrm xmlns:a="http://schemas.openxmlformats.org/drawingml/2006/main">
            <a:off x="3476625" y="4695825"/>
            <a:ext cx="1162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D7E6F1"/>
                </a:solidFill>
                <a:latin typeface="Aptos"/>
                <a:ea typeface="Aptos"/>
                <a:cs typeface="Aptos"/>
              </a:defRPr>
            </a:pPr>
            <a:r>
              <a:rPr sz="1050" b="0">
                <a:solidFill>
                  <a:srgbClr val="D7E6F1"/>
                </a:solidFill>
                <a:latin typeface="Aptos"/>
                <a:ea typeface="Aptos"/>
                <a:cs typeface="Aptos"/>
              </a:rPr>
              <a:t>Promoter • 786</a:t>
            </a:r>
          </a:p>
        </p:txBody>
      </p:sp>
      <p:sp>
        <p:nvSpPr>
          <p:cNvPr id="22" name="">
            <a:extLst xmlns:a="http://schemas.openxmlformats.org/drawingml/2006/main">
              <a:ext uri="{FF2B5EF4-FFF2-40B4-BE49-F238E27FC236}">
                <a16:creationId xmlns:a16="http://schemas.microsoft.com/office/drawing/2014/main" id="{8540B034-74D9-42A0-9592-F8D85AB05742}"/>
              </a:ext>
            </a:extLst>
          </p:cNvPr>
          <p:cNvSpPr>
            <a:spLocks xmlns:a="http://schemas.openxmlformats.org/drawingml/2006/main" noGrp="1"/>
          </p:cNvSpPr>
          <p:nvPr/>
        </p:nvSpPr>
        <p:spPr>
          <a:xfrm xmlns:a="http://schemas.openxmlformats.org/drawingml/2006/main">
            <a:off x="981075" y="5248275"/>
            <a:ext cx="3619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Pasif müşteri oranı düşmeden NPS kalıcı biçimde sıçramaz.</a:t>
            </a:r>
          </a:p>
        </p:txBody>
      </p:sp>
      <p:sp>
        <p:nvSpPr>
          <p:cNvPr id="23" name="">
            <a:extLst xmlns:a="http://schemas.openxmlformats.org/drawingml/2006/main">
              <a:ext uri="{FF2B5EF4-FFF2-40B4-BE49-F238E27FC236}">
                <a16:creationId xmlns:a16="http://schemas.microsoft.com/office/drawing/2014/main" id="{FE1319FE-FF01-4CD4-9438-EEE28EDB3098}"/>
              </a:ext>
            </a:extLst>
          </p:cNvPr>
          <p:cNvSpPr>
            <a:spLocks xmlns:a="http://schemas.openxmlformats.org/drawingml/2006/main" noGrp="1"/>
          </p:cNvSpPr>
          <p:nvPr/>
        </p:nvSpPr>
        <p:spPr>
          <a:xfrm xmlns:a="http://schemas.openxmlformats.org/drawingml/2006/main">
            <a:off x="5476875" y="2076450"/>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0263D"/>
                </a:solidFill>
                <a:latin typeface="Aptos"/>
                <a:ea typeface="Aptos"/>
                <a:cs typeface="Aptos"/>
              </a:defRPr>
            </a:pPr>
            <a:r>
              <a:rPr sz="2100" b="1">
                <a:solidFill>
                  <a:srgbClr val="10263D"/>
                </a:solidFill>
                <a:latin typeface="Aptos"/>
                <a:ea typeface="Aptos"/>
                <a:cs typeface="Aptos"/>
              </a:rPr>
              <a:t>12 aylık aksiyon planı</a:t>
            </a:r>
          </a:p>
        </p:txBody>
      </p:sp>
      <p:sp>
        <p:nvSpPr>
          <p:cNvPr id="24" name="">
            <a:extLst xmlns:a="http://schemas.openxmlformats.org/drawingml/2006/main">
              <a:ext uri="{FF2B5EF4-FFF2-40B4-BE49-F238E27FC236}">
                <a16:creationId xmlns:a16="http://schemas.microsoft.com/office/drawing/2014/main" id="{965B36E2-6450-48E6-A57D-02585F6FD36B}"/>
              </a:ext>
            </a:extLst>
          </p:cNvPr>
          <p:cNvSpPr>
            <a:spLocks xmlns:a="http://schemas.openxmlformats.org/drawingml/2006/main" noGrp="1"/>
          </p:cNvSpPr>
          <p:nvPr/>
        </p:nvSpPr>
        <p:spPr>
          <a:xfrm xmlns:a="http://schemas.openxmlformats.org/drawingml/2006/main">
            <a:off x="5514975" y="2657475"/>
            <a:ext cx="190500" cy="190500"/>
          </a:xfrm>
          <a:prstGeom xmlns:a="http://schemas.openxmlformats.org/drawingml/2006/main" prst="ellipse">
            <a:avLst/>
          </a:prstGeom>
          <a:solidFill xmlns:a="http://schemas.openxmlformats.org/drawingml/2006/main">
            <a:srgbClr val="D84F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AA5E26A-5DA9-471B-92E6-3F81CE4E4C41}"/>
              </a:ext>
            </a:extLst>
          </p:cNvPr>
          <p:cNvSpPr>
            <a:spLocks xmlns:a="http://schemas.openxmlformats.org/drawingml/2006/main" noGrp="1"/>
          </p:cNvSpPr>
          <p:nvPr/>
        </p:nvSpPr>
        <p:spPr>
          <a:xfrm xmlns:a="http://schemas.openxmlformats.org/drawingml/2006/main">
            <a:off x="5514975" y="26955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1</a:t>
            </a:r>
          </a:p>
        </p:txBody>
      </p:sp>
      <p:sp>
        <p:nvSpPr>
          <p:cNvPr id="26" name="">
            <a:extLst xmlns:a="http://schemas.openxmlformats.org/drawingml/2006/main">
              <a:ext uri="{FF2B5EF4-FFF2-40B4-BE49-F238E27FC236}">
                <a16:creationId xmlns:a16="http://schemas.microsoft.com/office/drawing/2014/main" id="{8B0A9503-3B9C-4E1E-A6D2-57EEAA4A4102}"/>
              </a:ext>
            </a:extLst>
          </p:cNvPr>
          <p:cNvSpPr>
            <a:spLocks xmlns:a="http://schemas.openxmlformats.org/drawingml/2006/main" noGrp="1"/>
          </p:cNvSpPr>
          <p:nvPr/>
        </p:nvSpPr>
        <p:spPr>
          <a:xfrm xmlns:a="http://schemas.openxmlformats.org/drawingml/2006/main">
            <a:off x="5867400" y="2628900"/>
            <a:ext cx="3409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D"/>
                </a:solidFill>
                <a:latin typeface="Aptos"/>
                <a:ea typeface="Aptos"/>
                <a:cs typeface="Aptos"/>
              </a:defRPr>
            </a:pPr>
            <a:r>
              <a:rPr sz="1650" b="1">
                <a:solidFill>
                  <a:srgbClr val="10263D"/>
                </a:solidFill>
                <a:latin typeface="Aptos"/>
                <a:ea typeface="Aptos"/>
                <a:cs typeface="Aptos"/>
              </a:rPr>
              <a:t>Performans ve güvenilirlik</a:t>
            </a:r>
          </a:p>
        </p:txBody>
      </p:sp>
      <p:sp>
        <p:nvSpPr>
          <p:cNvPr id="27" name="">
            <a:extLst xmlns:a="http://schemas.openxmlformats.org/drawingml/2006/main">
              <a:ext uri="{FF2B5EF4-FFF2-40B4-BE49-F238E27FC236}">
                <a16:creationId xmlns:a16="http://schemas.microsoft.com/office/drawing/2014/main" id="{2E9091DD-19F8-4EDD-A873-349B9B58DC25}"/>
              </a:ext>
            </a:extLst>
          </p:cNvPr>
          <p:cNvSpPr>
            <a:spLocks xmlns:a="http://schemas.openxmlformats.org/drawingml/2006/main" noGrp="1"/>
          </p:cNvSpPr>
          <p:nvPr/>
        </p:nvSpPr>
        <p:spPr>
          <a:xfrm xmlns:a="http://schemas.openxmlformats.org/drawingml/2006/main">
            <a:off x="5867400" y="2952750"/>
            <a:ext cx="3981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0748A"/>
                </a:solidFill>
                <a:latin typeface="Aptos"/>
                <a:ea typeface="Aptos"/>
                <a:cs typeface="Aptos"/>
              </a:defRPr>
            </a:pPr>
            <a:r>
              <a:rPr sz="1275" b="0">
                <a:solidFill>
                  <a:srgbClr val="60748A"/>
                </a:solidFill>
                <a:latin typeface="Aptos"/>
                <a:ea typeface="Aptos"/>
                <a:cs typeface="Aptos"/>
              </a:rPr>
              <a:t>Sayfa hızı, hata oranı ve mobil darboğazları haftalık izleyip en yüksek trafik akışlarını iyileştir.</a:t>
            </a:r>
          </a:p>
        </p:txBody>
      </p:sp>
      <p:sp>
        <p:nvSpPr>
          <p:cNvPr id="28" name="">
            <a:extLst xmlns:a="http://schemas.openxmlformats.org/drawingml/2006/main">
              <a:ext uri="{FF2B5EF4-FFF2-40B4-BE49-F238E27FC236}">
                <a16:creationId xmlns:a16="http://schemas.microsoft.com/office/drawing/2014/main" id="{6E4BF0A8-05C0-48DB-87D4-C17A57F6D0EF}"/>
              </a:ext>
            </a:extLst>
          </p:cNvPr>
          <p:cNvSpPr>
            <a:spLocks xmlns:a="http://schemas.openxmlformats.org/drawingml/2006/main" noGrp="1"/>
          </p:cNvSpPr>
          <p:nvPr/>
        </p:nvSpPr>
        <p:spPr>
          <a:xfrm xmlns:a="http://schemas.openxmlformats.org/drawingml/2006/main">
            <a:off x="9963150" y="2800350"/>
            <a:ext cx="1304925" cy="333375"/>
          </a:xfrm>
          <a:prstGeom xmlns:a="http://schemas.openxmlformats.org/drawingml/2006/main" prst="roundRect">
            <a:avLst>
              <a:gd name="adj" fmla="val 50000"/>
            </a:avLst>
          </a:prstGeom>
          <a:solidFill xmlns:a="http://schemas.openxmlformats.org/drawingml/2006/main">
            <a:srgbClr val="FBE5E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4F072EF-E588-4C57-8741-FBBAA0CE0A7E}"/>
              </a:ext>
            </a:extLst>
          </p:cNvPr>
          <p:cNvSpPr>
            <a:spLocks xmlns:a="http://schemas.openxmlformats.org/drawingml/2006/main" noGrp="1"/>
          </p:cNvSpPr>
          <p:nvPr/>
        </p:nvSpPr>
        <p:spPr>
          <a:xfrm xmlns:a="http://schemas.openxmlformats.org/drawingml/2006/main">
            <a:off x="10058400" y="284797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D84F55"/>
                </a:solidFill>
                <a:latin typeface="Aptos"/>
                <a:ea typeface="Aptos"/>
                <a:cs typeface="Aptos"/>
              </a:defRPr>
            </a:pPr>
            <a:r>
              <a:rPr sz="1125" b="1">
                <a:solidFill>
                  <a:srgbClr val="D84F55"/>
                </a:solidFill>
                <a:latin typeface="Aptos"/>
                <a:ea typeface="Aptos"/>
                <a:cs typeface="Aptos"/>
              </a:rPr>
              <a:t>41,69 → 55+</a:t>
            </a:r>
          </a:p>
        </p:txBody>
      </p:sp>
      <p:sp>
        <p:nvSpPr>
          <p:cNvPr id="30" name="">
            <a:extLst xmlns:a="http://schemas.openxmlformats.org/drawingml/2006/main">
              <a:ext uri="{FF2B5EF4-FFF2-40B4-BE49-F238E27FC236}">
                <a16:creationId xmlns:a16="http://schemas.microsoft.com/office/drawing/2014/main" id="{5E3FB308-D0ED-4349-A4C8-DD80AC60D288}"/>
              </a:ext>
            </a:extLst>
          </p:cNvPr>
          <p:cNvSpPr>
            <a:spLocks xmlns:a="http://schemas.openxmlformats.org/drawingml/2006/main" noGrp="1"/>
          </p:cNvSpPr>
          <p:nvPr/>
        </p:nvSpPr>
        <p:spPr>
          <a:xfrm xmlns:a="http://schemas.openxmlformats.org/drawingml/2006/main">
            <a:off x="5514975" y="3714750"/>
            <a:ext cx="190500" cy="190500"/>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4EBADB6-6228-44EA-A41E-EF0082CBBDBD}"/>
              </a:ext>
            </a:extLst>
          </p:cNvPr>
          <p:cNvSpPr>
            <a:spLocks xmlns:a="http://schemas.openxmlformats.org/drawingml/2006/main" noGrp="1"/>
          </p:cNvSpPr>
          <p:nvPr/>
        </p:nvSpPr>
        <p:spPr>
          <a:xfrm xmlns:a="http://schemas.openxmlformats.org/drawingml/2006/main">
            <a:off x="5514975" y="3752850"/>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FC5F7F8A-467C-48E9-A719-97C2FC7C4E2D}"/>
              </a:ext>
            </a:extLst>
          </p:cNvPr>
          <p:cNvSpPr>
            <a:spLocks xmlns:a="http://schemas.openxmlformats.org/drawingml/2006/main" noGrp="1"/>
          </p:cNvSpPr>
          <p:nvPr/>
        </p:nvSpPr>
        <p:spPr>
          <a:xfrm xmlns:a="http://schemas.openxmlformats.org/drawingml/2006/main">
            <a:off x="5867400" y="3686175"/>
            <a:ext cx="3409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D"/>
                </a:solidFill>
                <a:latin typeface="Aptos"/>
                <a:ea typeface="Aptos"/>
                <a:cs typeface="Aptos"/>
              </a:defRPr>
            </a:pPr>
            <a:r>
              <a:rPr sz="1650" b="1">
                <a:solidFill>
                  <a:srgbClr val="10263D"/>
                </a:solidFill>
                <a:latin typeface="Aptos"/>
                <a:ea typeface="Aptos"/>
                <a:cs typeface="Aptos"/>
              </a:rPr>
              <a:t>Sipariş yolculuğu</a:t>
            </a:r>
          </a:p>
        </p:txBody>
      </p:sp>
      <p:sp>
        <p:nvSpPr>
          <p:cNvPr id="33" name="">
            <a:extLst xmlns:a="http://schemas.openxmlformats.org/drawingml/2006/main">
              <a:ext uri="{FF2B5EF4-FFF2-40B4-BE49-F238E27FC236}">
                <a16:creationId xmlns:a16="http://schemas.microsoft.com/office/drawing/2014/main" id="{11D09BFD-3667-4624-A4AF-6EE8A9DD1AD1}"/>
              </a:ext>
            </a:extLst>
          </p:cNvPr>
          <p:cNvSpPr>
            <a:spLocks xmlns:a="http://schemas.openxmlformats.org/drawingml/2006/main" noGrp="1"/>
          </p:cNvSpPr>
          <p:nvPr/>
        </p:nvSpPr>
        <p:spPr>
          <a:xfrm xmlns:a="http://schemas.openxmlformats.org/drawingml/2006/main">
            <a:off x="5867400" y="4010025"/>
            <a:ext cx="3981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0748A"/>
                </a:solidFill>
                <a:latin typeface="Aptos"/>
                <a:ea typeface="Aptos"/>
                <a:cs typeface="Aptos"/>
              </a:defRPr>
            </a:pPr>
            <a:r>
              <a:rPr sz="1275" b="0">
                <a:solidFill>
                  <a:srgbClr val="60748A"/>
                </a:solidFill>
                <a:latin typeface="Aptos"/>
                <a:ea typeface="Aptos"/>
                <a:cs typeface="Aptos"/>
              </a:rPr>
              <a:t>Arama, navigasyon, sepetin korunması ve ödeme adımlarındaki sürtünmeyi azalt.</a:t>
            </a:r>
          </a:p>
        </p:txBody>
      </p:sp>
      <p:sp>
        <p:nvSpPr>
          <p:cNvPr id="34" name="">
            <a:extLst xmlns:a="http://schemas.openxmlformats.org/drawingml/2006/main">
              <a:ext uri="{FF2B5EF4-FFF2-40B4-BE49-F238E27FC236}">
                <a16:creationId xmlns:a16="http://schemas.microsoft.com/office/drawing/2014/main" id="{CD9D593C-2B9E-44D3-AA9F-EE1909DD2A3A}"/>
              </a:ext>
            </a:extLst>
          </p:cNvPr>
          <p:cNvSpPr>
            <a:spLocks xmlns:a="http://schemas.openxmlformats.org/drawingml/2006/main" noGrp="1"/>
          </p:cNvSpPr>
          <p:nvPr/>
        </p:nvSpPr>
        <p:spPr>
          <a:xfrm xmlns:a="http://schemas.openxmlformats.org/drawingml/2006/main">
            <a:off x="9963150" y="3857625"/>
            <a:ext cx="1304925" cy="333375"/>
          </a:xfrm>
          <a:prstGeom xmlns:a="http://schemas.openxmlformats.org/drawingml/2006/main" prst="roundRect">
            <a:avLst>
              <a:gd name="adj" fmla="val 50000"/>
            </a:avLst>
          </a:prstGeom>
          <a:solidFill xmlns:a="http://schemas.openxmlformats.org/drawingml/2006/main">
            <a:srgbClr val="E7EE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5C92008-9423-4F38-865D-207B41A6F037}"/>
              </a:ext>
            </a:extLst>
          </p:cNvPr>
          <p:cNvSpPr>
            <a:spLocks xmlns:a="http://schemas.openxmlformats.org/drawingml/2006/main" noGrp="1"/>
          </p:cNvSpPr>
          <p:nvPr/>
        </p:nvSpPr>
        <p:spPr>
          <a:xfrm xmlns:a="http://schemas.openxmlformats.org/drawingml/2006/main">
            <a:off x="10058400" y="3905250"/>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2F6BFF"/>
                </a:solidFill>
                <a:latin typeface="Aptos"/>
                <a:ea typeface="Aptos"/>
                <a:cs typeface="Aptos"/>
              </a:defRPr>
            </a:pPr>
            <a:r>
              <a:rPr sz="1125" b="1">
                <a:solidFill>
                  <a:srgbClr val="2F6BFF"/>
                </a:solidFill>
                <a:latin typeface="Aptos"/>
                <a:ea typeface="Aptos"/>
                <a:cs typeface="Aptos"/>
              </a:rPr>
              <a:t>44,51 → 55+</a:t>
            </a:r>
          </a:p>
        </p:txBody>
      </p:sp>
      <p:sp>
        <p:nvSpPr>
          <p:cNvPr id="36" name="">
            <a:extLst xmlns:a="http://schemas.openxmlformats.org/drawingml/2006/main">
              <a:ext uri="{FF2B5EF4-FFF2-40B4-BE49-F238E27FC236}">
                <a16:creationId xmlns:a16="http://schemas.microsoft.com/office/drawing/2014/main" id="{BBDE8B18-BD4D-47B5-8F88-4E1F8AF1884E}"/>
              </a:ext>
            </a:extLst>
          </p:cNvPr>
          <p:cNvSpPr>
            <a:spLocks xmlns:a="http://schemas.openxmlformats.org/drawingml/2006/main" noGrp="1"/>
          </p:cNvSpPr>
          <p:nvPr/>
        </p:nvSpPr>
        <p:spPr>
          <a:xfrm xmlns:a="http://schemas.openxmlformats.org/drawingml/2006/main">
            <a:off x="5514975" y="4772025"/>
            <a:ext cx="190500" cy="190500"/>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124EACD-8D2B-4A56-8530-CBDADDDEB203}"/>
              </a:ext>
            </a:extLst>
          </p:cNvPr>
          <p:cNvSpPr>
            <a:spLocks xmlns:a="http://schemas.openxmlformats.org/drawingml/2006/main" noGrp="1"/>
          </p:cNvSpPr>
          <p:nvPr/>
        </p:nvSpPr>
        <p:spPr>
          <a:xfrm xmlns:a="http://schemas.openxmlformats.org/drawingml/2006/main">
            <a:off x="5514975" y="481012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3</a:t>
            </a:r>
          </a:p>
        </p:txBody>
      </p:sp>
      <p:sp>
        <p:nvSpPr>
          <p:cNvPr id="38" name="">
            <a:extLst xmlns:a="http://schemas.openxmlformats.org/drawingml/2006/main">
              <a:ext uri="{FF2B5EF4-FFF2-40B4-BE49-F238E27FC236}">
                <a16:creationId xmlns:a16="http://schemas.microsoft.com/office/drawing/2014/main" id="{0209A6C8-645B-4118-A8D6-1488C919148A}"/>
              </a:ext>
            </a:extLst>
          </p:cNvPr>
          <p:cNvSpPr>
            <a:spLocks xmlns:a="http://schemas.openxmlformats.org/drawingml/2006/main" noGrp="1"/>
          </p:cNvSpPr>
          <p:nvPr/>
        </p:nvSpPr>
        <p:spPr>
          <a:xfrm xmlns:a="http://schemas.openxmlformats.org/drawingml/2006/main">
            <a:off x="5867400" y="4743450"/>
            <a:ext cx="3409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D"/>
                </a:solidFill>
                <a:latin typeface="Aptos"/>
                <a:ea typeface="Aptos"/>
                <a:cs typeface="Aptos"/>
              </a:defRPr>
            </a:pPr>
            <a:r>
              <a:rPr sz="1650" b="1">
                <a:solidFill>
                  <a:srgbClr val="10263D"/>
                </a:solidFill>
                <a:latin typeface="Aptos"/>
                <a:ea typeface="Aptos"/>
                <a:cs typeface="Aptos"/>
              </a:rPr>
              <a:t>Kapalı döngü VoC</a:t>
            </a:r>
          </a:p>
        </p:txBody>
      </p:sp>
      <p:sp>
        <p:nvSpPr>
          <p:cNvPr id="39" name="">
            <a:extLst xmlns:a="http://schemas.openxmlformats.org/drawingml/2006/main">
              <a:ext uri="{FF2B5EF4-FFF2-40B4-BE49-F238E27FC236}">
                <a16:creationId xmlns:a16="http://schemas.microsoft.com/office/drawing/2014/main" id="{7CCA9E2A-8FFC-4D28-BD6B-D2397A84F59A}"/>
              </a:ext>
            </a:extLst>
          </p:cNvPr>
          <p:cNvSpPr>
            <a:spLocks xmlns:a="http://schemas.openxmlformats.org/drawingml/2006/main" noGrp="1"/>
          </p:cNvSpPr>
          <p:nvPr/>
        </p:nvSpPr>
        <p:spPr>
          <a:xfrm xmlns:a="http://schemas.openxmlformats.org/drawingml/2006/main">
            <a:off x="5867400" y="5067300"/>
            <a:ext cx="3981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0748A"/>
                </a:solidFill>
                <a:latin typeface="Aptos"/>
                <a:ea typeface="Aptos"/>
                <a:cs typeface="Aptos"/>
              </a:defRPr>
            </a:pPr>
            <a:r>
              <a:rPr sz="1275" b="0">
                <a:solidFill>
                  <a:srgbClr val="60748A"/>
                </a:solidFill>
                <a:latin typeface="Aptos"/>
                <a:ea typeface="Aptos"/>
                <a:cs typeface="Aptos"/>
              </a:rPr>
              <a:t>Detractor’a 48 saatte dönüş; pasiflere neden-sondajı ve çözüm sonrası mini anket.</a:t>
            </a:r>
          </a:p>
        </p:txBody>
      </p:sp>
      <p:sp>
        <p:nvSpPr>
          <p:cNvPr id="40" name="">
            <a:extLst xmlns:a="http://schemas.openxmlformats.org/drawingml/2006/main">
              <a:ext uri="{FF2B5EF4-FFF2-40B4-BE49-F238E27FC236}">
                <a16:creationId xmlns:a16="http://schemas.microsoft.com/office/drawing/2014/main" id="{5AF54090-467B-4FA8-B13B-9C19DD029DF6}"/>
              </a:ext>
            </a:extLst>
          </p:cNvPr>
          <p:cNvSpPr>
            <a:spLocks xmlns:a="http://schemas.openxmlformats.org/drawingml/2006/main" noGrp="1"/>
          </p:cNvSpPr>
          <p:nvPr/>
        </p:nvSpPr>
        <p:spPr>
          <a:xfrm xmlns:a="http://schemas.openxmlformats.org/drawingml/2006/main">
            <a:off x="9963150" y="4914900"/>
            <a:ext cx="1304925" cy="333375"/>
          </a:xfrm>
          <a:prstGeom xmlns:a="http://schemas.openxmlformats.org/drawingml/2006/main" prst="roundRect">
            <a:avLst>
              <a:gd name="adj" fmla="val 50000"/>
            </a:avLst>
          </a:prstGeom>
          <a:solidFill xmlns:a="http://schemas.openxmlformats.org/drawingml/2006/main">
            <a:srgbClr val="DDF7F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C9DB127-F450-4FD8-BB71-A8D98A9A91B7}"/>
              </a:ext>
            </a:extLst>
          </p:cNvPr>
          <p:cNvSpPr>
            <a:spLocks xmlns:a="http://schemas.openxmlformats.org/drawingml/2006/main" noGrp="1"/>
          </p:cNvSpPr>
          <p:nvPr/>
        </p:nvSpPr>
        <p:spPr>
          <a:xfrm xmlns:a="http://schemas.openxmlformats.org/drawingml/2006/main">
            <a:off x="10058400" y="496252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00A88F"/>
                </a:solidFill>
                <a:latin typeface="Aptos"/>
                <a:ea typeface="Aptos"/>
                <a:cs typeface="Aptos"/>
              </a:defRPr>
            </a:pPr>
            <a:r>
              <a:rPr sz="1125" b="1">
                <a:solidFill>
                  <a:srgbClr val="00A88F"/>
                </a:solidFill>
                <a:latin typeface="Aptos"/>
                <a:ea typeface="Aptos"/>
                <a:cs typeface="Aptos"/>
              </a:rPr>
              <a:t>NPS +5 → +15</a:t>
            </a:r>
          </a:p>
        </p:txBody>
      </p:sp>
      <p:sp>
        <p:nvSpPr>
          <p:cNvPr id="42" name="">
            <a:extLst xmlns:a="http://schemas.openxmlformats.org/drawingml/2006/main">
              <a:ext uri="{FF2B5EF4-FFF2-40B4-BE49-F238E27FC236}">
                <a16:creationId xmlns:a16="http://schemas.microsoft.com/office/drawing/2014/main" id="{8E5E437F-AEA0-4E08-B972-0F470087315E}"/>
              </a:ext>
            </a:extLst>
          </p:cNvPr>
          <p:cNvSpPr>
            <a:spLocks xmlns:a="http://schemas.openxmlformats.org/drawingml/2006/main" noGrp="1"/>
          </p:cNvSpPr>
          <p:nvPr/>
        </p:nvSpPr>
        <p:spPr>
          <a:xfrm xmlns:a="http://schemas.openxmlformats.org/drawingml/2006/main">
            <a:off x="5495925" y="58674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0748A"/>
                </a:solidFill>
                <a:latin typeface="Aptos"/>
                <a:ea typeface="Aptos"/>
                <a:cs typeface="Aptos"/>
              </a:defRPr>
            </a:pPr>
            <a:r>
              <a:rPr sz="1050" b="0">
                <a:solidFill>
                  <a:srgbClr val="60748A"/>
                </a:solidFill>
                <a:latin typeface="Aptos"/>
                <a:ea typeface="Aptos"/>
                <a:cs typeface="Aptos"/>
              </a:rPr>
              <a:t>Hedefler başlangıç hedefidir; Q1 deney ve ölçüm sonuçlarıyla kalibre edilecektir.</a:t>
            </a:r>
          </a:p>
        </p:txBody>
      </p:sp>
      <p:sp>
        <p:nvSpPr>
          <p:cNvPr id="43" name="">
            <a:extLst xmlns:a="http://schemas.openxmlformats.org/drawingml/2006/main">
              <a:ext uri="{FF2B5EF4-FFF2-40B4-BE49-F238E27FC236}">
                <a16:creationId xmlns:a16="http://schemas.microsoft.com/office/drawing/2014/main" id="{038FBF17-DAA3-47D6-A01D-D2A6C20F910D}"/>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44" name="">
            <a:extLst xmlns:a="http://schemas.openxmlformats.org/drawingml/2006/main">
              <a:ext uri="{FF2B5EF4-FFF2-40B4-BE49-F238E27FC236}">
                <a16:creationId xmlns:a16="http://schemas.microsoft.com/office/drawing/2014/main" id="{920B7489-758E-444D-8B6B-1DFD5E65748E}"/>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 yıllık müşteri analitiği ve büyüme planı</a:t>
            </a:r>
          </a:p>
        </p:txBody>
      </p:sp>
      <p:sp>
        <p:nvSpPr>
          <p:cNvPr id="45" name="">
            <a:extLst xmlns:a="http://schemas.openxmlformats.org/drawingml/2006/main">
              <a:ext uri="{FF2B5EF4-FFF2-40B4-BE49-F238E27FC236}">
                <a16:creationId xmlns:a16="http://schemas.microsoft.com/office/drawing/2014/main" id="{DD9F518F-BAEB-4BD9-91F5-A4A46DA0FE74}"/>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365294058"/>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65DA2427-7F55-4B6D-AAA1-D94D5112F767}"/>
              </a:ext>
            </a:extLst>
          </p:cNvPr>
          <p:cNvSpPr>
            <a:spLocks xmlns:a="http://schemas.openxmlformats.org/drawingml/2006/main" noGrp="1"/>
          </p:cNvSpPr>
          <p:nvPr/>
        </p:nvSpPr>
        <p:spPr>
          <a:xfrm xmlns:a="http://schemas.openxmlformats.org/drawingml/2006/main">
            <a:off x="628650" y="485775"/>
            <a:ext cx="438150" cy="57150"/>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9B1B00-1119-47A5-B4D2-A0FDEB336439}"/>
              </a:ext>
            </a:extLst>
          </p:cNvPr>
          <p:cNvSpPr>
            <a:spLocks xmlns:a="http://schemas.openxmlformats.org/drawingml/2006/main" noGrp="1"/>
          </p:cNvSpPr>
          <p:nvPr/>
        </p:nvSpPr>
        <p:spPr>
          <a:xfrm xmlns:a="http://schemas.openxmlformats.org/drawingml/2006/main">
            <a:off x="628650" y="6286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F6BFF"/>
                </a:solidFill>
                <a:latin typeface="Aptos"/>
                <a:ea typeface="Aptos"/>
                <a:cs typeface="Aptos"/>
              </a:defRPr>
            </a:pPr>
            <a:r>
              <a:rPr sz="1125" b="1">
                <a:solidFill>
                  <a:srgbClr val="2F6BFF"/>
                </a:solidFill>
                <a:latin typeface="Aptos"/>
                <a:ea typeface="Aptos"/>
                <a:cs typeface="Aptos"/>
              </a:rPr>
              <a:t>12 AYLIK YOL HARITASI</a:t>
            </a:r>
          </a:p>
        </p:txBody>
      </p:sp>
      <p:sp>
        <p:nvSpPr>
          <p:cNvPr id="3" name="">
            <a:extLst xmlns:a="http://schemas.openxmlformats.org/drawingml/2006/main">
              <a:ext uri="{FF2B5EF4-FFF2-40B4-BE49-F238E27FC236}">
                <a16:creationId xmlns:a16="http://schemas.microsoft.com/office/drawing/2014/main" id="{D1C3541D-ABB4-4C92-A957-7FB8392F07B9}"/>
              </a:ext>
            </a:extLst>
          </p:cNvPr>
          <p:cNvSpPr>
            <a:spLocks xmlns:a="http://schemas.openxmlformats.org/drawingml/2006/main" noGrp="1"/>
          </p:cNvSpPr>
          <p:nvPr/>
        </p:nvSpPr>
        <p:spPr>
          <a:xfrm xmlns:a="http://schemas.openxmlformats.org/drawingml/2006/main">
            <a:off x="628650" y="88582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a:solidFill>
                  <a:srgbClr val="10263D"/>
                </a:solidFill>
                <a:latin typeface="Aptos Display"/>
                <a:ea typeface="Aptos Display"/>
                <a:cs typeface="Aptos Display"/>
              </a:defRPr>
            </a:pPr>
            <a:r>
              <a:rPr sz="3300" b="1">
                <a:solidFill>
                  <a:srgbClr val="10263D"/>
                </a:solidFill>
                <a:latin typeface="Aptos Display"/>
                <a:ea typeface="Aptos Display"/>
                <a:cs typeface="Aptos Display"/>
              </a:rPr>
              <a:t>İlk 90 gün öğren; sonra kazananı ölçekle</a:t>
            </a:r>
          </a:p>
        </p:txBody>
      </p:sp>
      <p:sp>
        <p:nvSpPr>
          <p:cNvPr id="4" name="">
            <a:extLst xmlns:a="http://schemas.openxmlformats.org/drawingml/2006/main">
              <a:ext uri="{FF2B5EF4-FFF2-40B4-BE49-F238E27FC236}">
                <a16:creationId xmlns:a16="http://schemas.microsoft.com/office/drawing/2014/main" id="{F72FFDEA-3AE4-4FDC-9058-5B09CCFE7905}"/>
              </a:ext>
            </a:extLst>
          </p:cNvPr>
          <p:cNvSpPr>
            <a:spLocks xmlns:a="http://schemas.openxmlformats.org/drawingml/2006/main" noGrp="1"/>
          </p:cNvSpPr>
          <p:nvPr/>
        </p:nvSpPr>
        <p:spPr>
          <a:xfrm xmlns:a="http://schemas.openxmlformats.org/drawingml/2006/main">
            <a:off x="647700" y="14954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748A"/>
                </a:solidFill>
                <a:latin typeface="Aptos"/>
                <a:ea typeface="Aptos"/>
                <a:cs typeface="Aptos"/>
              </a:defRPr>
            </a:pPr>
            <a:r>
              <a:rPr sz="1425" b="0">
                <a:solidFill>
                  <a:srgbClr val="60748A"/>
                </a:solidFill>
                <a:latin typeface="Aptos"/>
                <a:ea typeface="Aptos"/>
                <a:cs typeface="Aptos"/>
              </a:rPr>
              <a:t>Üç iş akışı tek scorecard ile yönetilecek</a:t>
            </a:r>
          </a:p>
        </p:txBody>
      </p:sp>
      <p:sp>
        <p:nvSpPr>
          <p:cNvPr id="5" name="">
            <a:extLst xmlns:a="http://schemas.openxmlformats.org/drawingml/2006/main">
              <a:ext uri="{FF2B5EF4-FFF2-40B4-BE49-F238E27FC236}">
                <a16:creationId xmlns:a16="http://schemas.microsoft.com/office/drawing/2014/main" id="{2511B62C-AD4C-46A9-8948-CB0229721FFB}"/>
              </a:ext>
            </a:extLst>
          </p:cNvPr>
          <p:cNvSpPr>
            <a:spLocks xmlns:a="http://schemas.openxmlformats.org/drawingml/2006/main" noGrp="1"/>
          </p:cNvSpPr>
          <p:nvPr/>
        </p:nvSpPr>
        <p:spPr>
          <a:xfrm xmlns:a="http://schemas.openxmlformats.org/drawingml/2006/main">
            <a:off x="11049000" y="552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60748A"/>
                </a:solidFill>
                <a:latin typeface="Aptos"/>
                <a:ea typeface="Aptos"/>
                <a:cs typeface="Aptos"/>
              </a:defRPr>
            </a:pPr>
            <a:r>
              <a:rPr sz="1125" b="1">
                <a:solidFill>
                  <a:srgbClr val="60748A"/>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D20C24F3-1822-4DCC-9032-4B68F3BDD67E}"/>
              </a:ext>
            </a:extLst>
          </p:cNvPr>
          <p:cNvSpPr>
            <a:spLocks xmlns:a="http://schemas.openxmlformats.org/drawingml/2006/main" noGrp="1"/>
          </p:cNvSpPr>
          <p:nvPr/>
        </p:nvSpPr>
        <p:spPr>
          <a:xfrm xmlns:a="http://schemas.openxmlformats.org/drawingml/2006/main">
            <a:off x="647700" y="2028825"/>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F6BFF"/>
                </a:solidFill>
                <a:latin typeface="Aptos Display"/>
                <a:ea typeface="Aptos Display"/>
                <a:cs typeface="Aptos Display"/>
              </a:defRPr>
            </a:pPr>
            <a:r>
              <a:rPr sz="2325" b="1">
                <a:solidFill>
                  <a:srgbClr val="2F6BFF"/>
                </a:solidFill>
                <a:latin typeface="Aptos Display"/>
                <a:ea typeface="Aptos Display"/>
                <a:cs typeface="Aptos Display"/>
              </a:rPr>
              <a:t>Q1</a:t>
            </a:r>
          </a:p>
        </p:txBody>
      </p:sp>
      <p:sp>
        <p:nvSpPr>
          <p:cNvPr id="7" name="">
            <a:extLst xmlns:a="http://schemas.openxmlformats.org/drawingml/2006/main">
              <a:ext uri="{FF2B5EF4-FFF2-40B4-BE49-F238E27FC236}">
                <a16:creationId xmlns:a16="http://schemas.microsoft.com/office/drawing/2014/main" id="{845855B6-FAAE-4712-8E42-D27319957FC5}"/>
              </a:ext>
            </a:extLst>
          </p:cNvPr>
          <p:cNvSpPr>
            <a:spLocks xmlns:a="http://schemas.openxmlformats.org/drawingml/2006/main" noGrp="1"/>
          </p:cNvSpPr>
          <p:nvPr/>
        </p:nvSpPr>
        <p:spPr>
          <a:xfrm xmlns:a="http://schemas.openxmlformats.org/drawingml/2006/main">
            <a:off x="647700" y="2476500"/>
            <a:ext cx="2514600" cy="0"/>
          </a:xfrm>
          <a:prstGeom xmlns:a="http://schemas.openxmlformats.org/drawingml/2006/main" prst="line">
            <a:avLst/>
          </a:prstGeom>
          <a:noFill xmlns:a="http://schemas.openxmlformats.org/drawingml/2006/main"/>
          <a:ln xmlns:a="http://schemas.openxmlformats.org/drawingml/2006/main" w="47625">
            <a:solidFill>
              <a:srgbClr val="2F6BFF"/>
            </a:solidFill>
            <a:prstDash val="solid"/>
          </a:ln>
        </p:spPr>
      </p:sp>
      <p:sp>
        <p:nvSpPr>
          <p:cNvPr id="8" name="">
            <a:extLst xmlns:a="http://schemas.openxmlformats.org/drawingml/2006/main">
              <a:ext uri="{FF2B5EF4-FFF2-40B4-BE49-F238E27FC236}">
                <a16:creationId xmlns:a16="http://schemas.microsoft.com/office/drawing/2014/main" id="{1DBEFEFA-EBB4-42B8-8524-252E400B7571}"/>
              </a:ext>
            </a:extLst>
          </p:cNvPr>
          <p:cNvSpPr>
            <a:spLocks xmlns:a="http://schemas.openxmlformats.org/drawingml/2006/main" noGrp="1"/>
          </p:cNvSpPr>
          <p:nvPr/>
        </p:nvSpPr>
        <p:spPr>
          <a:xfrm xmlns:a="http://schemas.openxmlformats.org/drawingml/2006/main">
            <a:off x="647700" y="2676525"/>
            <a:ext cx="2514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263D"/>
                </a:solidFill>
                <a:latin typeface="Aptos"/>
                <a:ea typeface="Aptos"/>
                <a:cs typeface="Aptos"/>
              </a:defRPr>
            </a:pPr>
            <a:r>
              <a:rPr sz="1725" b="1">
                <a:solidFill>
                  <a:srgbClr val="10263D"/>
                </a:solidFill>
                <a:latin typeface="Aptos"/>
                <a:ea typeface="Aptos"/>
                <a:cs typeface="Aptos"/>
              </a:rPr>
              <a:t>Temel &amp; pilot</a:t>
            </a:r>
          </a:p>
        </p:txBody>
      </p:sp>
      <p:sp>
        <p:nvSpPr>
          <p:cNvPr id="9" name="">
            <a:extLst xmlns:a="http://schemas.openxmlformats.org/drawingml/2006/main">
              <a:ext uri="{FF2B5EF4-FFF2-40B4-BE49-F238E27FC236}">
                <a16:creationId xmlns:a16="http://schemas.microsoft.com/office/drawing/2014/main" id="{7F21A34B-FB0A-4C6A-83BA-80EED9F80B94}"/>
              </a:ext>
            </a:extLst>
          </p:cNvPr>
          <p:cNvSpPr>
            <a:spLocks xmlns:a="http://schemas.openxmlformats.org/drawingml/2006/main" noGrp="1"/>
          </p:cNvSpPr>
          <p:nvPr/>
        </p:nvSpPr>
        <p:spPr>
          <a:xfrm xmlns:a="http://schemas.openxmlformats.org/drawingml/2006/main">
            <a:off x="647700" y="3200400"/>
            <a:ext cx="66675" cy="66675"/>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FFA10B-58A3-40B0-886B-D1604144DE32}"/>
              </a:ext>
            </a:extLst>
          </p:cNvPr>
          <p:cNvSpPr>
            <a:spLocks xmlns:a="http://schemas.openxmlformats.org/drawingml/2006/main" noGrp="1"/>
          </p:cNvSpPr>
          <p:nvPr/>
        </p:nvSpPr>
        <p:spPr>
          <a:xfrm xmlns:a="http://schemas.openxmlformats.org/drawingml/2006/main">
            <a:off x="828675" y="312420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28"/>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RFM dashboard ve kontrol grupları</a:t>
            </a:r>
          </a:p>
        </p:txBody>
      </p:sp>
      <p:sp>
        <p:nvSpPr>
          <p:cNvPr id="11" name="">
            <a:extLst xmlns:a="http://schemas.openxmlformats.org/drawingml/2006/main">
              <a:ext uri="{FF2B5EF4-FFF2-40B4-BE49-F238E27FC236}">
                <a16:creationId xmlns:a16="http://schemas.microsoft.com/office/drawing/2014/main" id="{0948DF14-6CA7-444F-817F-EFA60F5EE3B8}"/>
              </a:ext>
            </a:extLst>
          </p:cNvPr>
          <p:cNvSpPr>
            <a:spLocks xmlns:a="http://schemas.openxmlformats.org/drawingml/2006/main" noGrp="1"/>
          </p:cNvSpPr>
          <p:nvPr/>
        </p:nvSpPr>
        <p:spPr>
          <a:xfrm xmlns:a="http://schemas.openxmlformats.org/drawingml/2006/main">
            <a:off x="647700" y="3609975"/>
            <a:ext cx="66675" cy="66675"/>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2A0DF22-9DC9-46BB-8E0B-7B3D3B6F22D2}"/>
              </a:ext>
            </a:extLst>
          </p:cNvPr>
          <p:cNvSpPr>
            <a:spLocks xmlns:a="http://schemas.openxmlformats.org/drawingml/2006/main" noGrp="1"/>
          </p:cNvSpPr>
          <p:nvPr/>
        </p:nvSpPr>
        <p:spPr>
          <a:xfrm xmlns:a="http://schemas.openxmlformats.org/drawingml/2006/main">
            <a:off x="828675" y="353377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At Risk win‑back pilotu</a:t>
            </a:r>
          </a:p>
        </p:txBody>
      </p:sp>
      <p:sp>
        <p:nvSpPr>
          <p:cNvPr id="13" name="">
            <a:extLst xmlns:a="http://schemas.openxmlformats.org/drawingml/2006/main">
              <a:ext uri="{FF2B5EF4-FFF2-40B4-BE49-F238E27FC236}">
                <a16:creationId xmlns:a16="http://schemas.microsoft.com/office/drawing/2014/main" id="{6F70283D-34CE-43A7-8DF1-01E3497D44C2}"/>
              </a:ext>
            </a:extLst>
          </p:cNvPr>
          <p:cNvSpPr>
            <a:spLocks xmlns:a="http://schemas.openxmlformats.org/drawingml/2006/main" noGrp="1"/>
          </p:cNvSpPr>
          <p:nvPr/>
        </p:nvSpPr>
        <p:spPr>
          <a:xfrm xmlns:a="http://schemas.openxmlformats.org/drawingml/2006/main">
            <a:off x="647700" y="4019550"/>
            <a:ext cx="66675" cy="66675"/>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04AF542-D2A9-4760-AF92-601D9163D9D6}"/>
              </a:ext>
            </a:extLst>
          </p:cNvPr>
          <p:cNvSpPr>
            <a:spLocks xmlns:a="http://schemas.openxmlformats.org/drawingml/2006/main" noGrp="1"/>
          </p:cNvSpPr>
          <p:nvPr/>
        </p:nvSpPr>
        <p:spPr>
          <a:xfrm xmlns:a="http://schemas.openxmlformats.org/drawingml/2006/main">
            <a:off x="828675" y="394335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Bundle yerleşimi testi</a:t>
            </a:r>
          </a:p>
        </p:txBody>
      </p:sp>
      <p:sp>
        <p:nvSpPr>
          <p:cNvPr id="15" name="">
            <a:extLst xmlns:a="http://schemas.openxmlformats.org/drawingml/2006/main">
              <a:ext uri="{FF2B5EF4-FFF2-40B4-BE49-F238E27FC236}">
                <a16:creationId xmlns:a16="http://schemas.microsoft.com/office/drawing/2014/main" id="{AB1813A3-9B9A-42B1-8D2D-27676A584EB1}"/>
              </a:ext>
            </a:extLst>
          </p:cNvPr>
          <p:cNvSpPr>
            <a:spLocks xmlns:a="http://schemas.openxmlformats.org/drawingml/2006/main" noGrp="1"/>
          </p:cNvSpPr>
          <p:nvPr/>
        </p:nvSpPr>
        <p:spPr>
          <a:xfrm xmlns:a="http://schemas.openxmlformats.org/drawingml/2006/main">
            <a:off x="647700" y="4429125"/>
            <a:ext cx="66675" cy="66675"/>
          </a:xfrm>
          <a:prstGeom xmlns:a="http://schemas.openxmlformats.org/drawingml/2006/main" prst="ellipse">
            <a:avLst/>
          </a:prstGeom>
          <a:solidFill xmlns:a="http://schemas.openxmlformats.org/drawingml/2006/main">
            <a:srgbClr val="2F6B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80B3AF-96D7-441C-8B4A-F2B7EBE05938}"/>
              </a:ext>
            </a:extLst>
          </p:cNvPr>
          <p:cNvSpPr>
            <a:spLocks xmlns:a="http://schemas.openxmlformats.org/drawingml/2006/main" noGrp="1"/>
          </p:cNvSpPr>
          <p:nvPr/>
        </p:nvSpPr>
        <p:spPr>
          <a:xfrm xmlns:a="http://schemas.openxmlformats.org/drawingml/2006/main">
            <a:off x="828675" y="435292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16"/>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Web performans kök neden analizi</a:t>
            </a:r>
          </a:p>
        </p:txBody>
      </p:sp>
      <p:sp>
        <p:nvSpPr>
          <p:cNvPr id="17" name="">
            <a:extLst xmlns:a="http://schemas.openxmlformats.org/drawingml/2006/main">
              <a:ext uri="{FF2B5EF4-FFF2-40B4-BE49-F238E27FC236}">
                <a16:creationId xmlns:a16="http://schemas.microsoft.com/office/drawing/2014/main" id="{9F1BFE84-933E-44F5-BA1B-1431F287EAFD}"/>
              </a:ext>
            </a:extLst>
          </p:cNvPr>
          <p:cNvSpPr>
            <a:spLocks xmlns:a="http://schemas.openxmlformats.org/drawingml/2006/main" noGrp="1"/>
          </p:cNvSpPr>
          <p:nvPr/>
        </p:nvSpPr>
        <p:spPr>
          <a:xfrm xmlns:a="http://schemas.openxmlformats.org/drawingml/2006/main">
            <a:off x="3419475" y="2028825"/>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EF6A5B"/>
                </a:solidFill>
                <a:latin typeface="Aptos Display"/>
                <a:ea typeface="Aptos Display"/>
                <a:cs typeface="Aptos Display"/>
              </a:defRPr>
            </a:pPr>
            <a:r>
              <a:rPr sz="2325" b="1">
                <a:solidFill>
                  <a:srgbClr val="EF6A5B"/>
                </a:solidFill>
                <a:latin typeface="Aptos Display"/>
                <a:ea typeface="Aptos Display"/>
                <a:cs typeface="Aptos Display"/>
              </a:rPr>
              <a:t>Q2</a:t>
            </a:r>
          </a:p>
        </p:txBody>
      </p:sp>
      <p:sp>
        <p:nvSpPr>
          <p:cNvPr id="18" name="">
            <a:extLst xmlns:a="http://schemas.openxmlformats.org/drawingml/2006/main">
              <a:ext uri="{FF2B5EF4-FFF2-40B4-BE49-F238E27FC236}">
                <a16:creationId xmlns:a16="http://schemas.microsoft.com/office/drawing/2014/main" id="{C467BF9D-8FB5-420C-8589-5E2F31ABED7B}"/>
              </a:ext>
            </a:extLst>
          </p:cNvPr>
          <p:cNvSpPr>
            <a:spLocks xmlns:a="http://schemas.openxmlformats.org/drawingml/2006/main" noGrp="1"/>
          </p:cNvSpPr>
          <p:nvPr/>
        </p:nvSpPr>
        <p:spPr>
          <a:xfrm xmlns:a="http://schemas.openxmlformats.org/drawingml/2006/main">
            <a:off x="3419475" y="2476500"/>
            <a:ext cx="2514600" cy="0"/>
          </a:xfrm>
          <a:prstGeom xmlns:a="http://schemas.openxmlformats.org/drawingml/2006/main" prst="line">
            <a:avLst/>
          </a:prstGeom>
          <a:noFill xmlns:a="http://schemas.openxmlformats.org/drawingml/2006/main"/>
          <a:ln xmlns:a="http://schemas.openxmlformats.org/drawingml/2006/main" w="47625">
            <a:solidFill>
              <a:srgbClr val="EF6A5B"/>
            </a:solidFill>
            <a:prstDash val="solid"/>
          </a:ln>
        </p:spPr>
      </p:sp>
      <p:sp>
        <p:nvSpPr>
          <p:cNvPr id="19" name="">
            <a:extLst xmlns:a="http://schemas.openxmlformats.org/drawingml/2006/main">
              <a:ext uri="{FF2B5EF4-FFF2-40B4-BE49-F238E27FC236}">
                <a16:creationId xmlns:a16="http://schemas.microsoft.com/office/drawing/2014/main" id="{557D1ABE-F6DF-4B2B-B942-540DF70B6D3F}"/>
              </a:ext>
            </a:extLst>
          </p:cNvPr>
          <p:cNvSpPr>
            <a:spLocks xmlns:a="http://schemas.openxmlformats.org/drawingml/2006/main" noGrp="1"/>
          </p:cNvSpPr>
          <p:nvPr/>
        </p:nvSpPr>
        <p:spPr>
          <a:xfrm xmlns:a="http://schemas.openxmlformats.org/drawingml/2006/main">
            <a:off x="3419475" y="2676525"/>
            <a:ext cx="2514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263D"/>
                </a:solidFill>
                <a:latin typeface="Aptos"/>
                <a:ea typeface="Aptos"/>
                <a:cs typeface="Aptos"/>
              </a:defRPr>
            </a:pPr>
            <a:r>
              <a:rPr sz="1725" b="1">
                <a:solidFill>
                  <a:srgbClr val="10263D"/>
                </a:solidFill>
                <a:latin typeface="Aptos"/>
                <a:ea typeface="Aptos"/>
                <a:cs typeface="Aptos"/>
              </a:rPr>
              <a:t>Ölçekle</a:t>
            </a:r>
          </a:p>
        </p:txBody>
      </p:sp>
      <p:sp>
        <p:nvSpPr>
          <p:cNvPr id="20" name="">
            <a:extLst xmlns:a="http://schemas.openxmlformats.org/drawingml/2006/main">
              <a:ext uri="{FF2B5EF4-FFF2-40B4-BE49-F238E27FC236}">
                <a16:creationId xmlns:a16="http://schemas.microsoft.com/office/drawing/2014/main" id="{A940DFFC-0A79-410B-8F5B-6612EE343FDF}"/>
              </a:ext>
            </a:extLst>
          </p:cNvPr>
          <p:cNvSpPr>
            <a:spLocks xmlns:a="http://schemas.openxmlformats.org/drawingml/2006/main" noGrp="1"/>
          </p:cNvSpPr>
          <p:nvPr/>
        </p:nvSpPr>
        <p:spPr>
          <a:xfrm xmlns:a="http://schemas.openxmlformats.org/drawingml/2006/main">
            <a:off x="3419475" y="3200400"/>
            <a:ext cx="66675" cy="66675"/>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9AE7D01-4686-45FA-A957-585623F00720}"/>
              </a:ext>
            </a:extLst>
          </p:cNvPr>
          <p:cNvSpPr>
            <a:spLocks xmlns:a="http://schemas.openxmlformats.org/drawingml/2006/main" noGrp="1"/>
          </p:cNvSpPr>
          <p:nvPr/>
        </p:nvSpPr>
        <p:spPr>
          <a:xfrm xmlns:a="http://schemas.openxmlformats.org/drawingml/2006/main">
            <a:off x="3600450" y="312420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Kazanan win‑back teklifini büyüt</a:t>
            </a:r>
          </a:p>
        </p:txBody>
      </p:sp>
      <p:sp>
        <p:nvSpPr>
          <p:cNvPr id="22" name="">
            <a:extLst xmlns:a="http://schemas.openxmlformats.org/drawingml/2006/main">
              <a:ext uri="{FF2B5EF4-FFF2-40B4-BE49-F238E27FC236}">
                <a16:creationId xmlns:a16="http://schemas.microsoft.com/office/drawing/2014/main" id="{0A4F2F5F-15F6-4ED4-B348-E71E4330D0BC}"/>
              </a:ext>
            </a:extLst>
          </p:cNvPr>
          <p:cNvSpPr>
            <a:spLocks xmlns:a="http://schemas.openxmlformats.org/drawingml/2006/main" noGrp="1"/>
          </p:cNvSpPr>
          <p:nvPr/>
        </p:nvSpPr>
        <p:spPr>
          <a:xfrm xmlns:a="http://schemas.openxmlformats.org/drawingml/2006/main">
            <a:off x="3419475" y="3609975"/>
            <a:ext cx="66675" cy="66675"/>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F016F88-68C2-4C2E-909E-27F2B7220FE1}"/>
              </a:ext>
            </a:extLst>
          </p:cNvPr>
          <p:cNvSpPr>
            <a:spLocks xmlns:a="http://schemas.openxmlformats.org/drawingml/2006/main" noGrp="1"/>
          </p:cNvSpPr>
          <p:nvPr/>
        </p:nvSpPr>
        <p:spPr>
          <a:xfrm xmlns:a="http://schemas.openxmlformats.org/drawingml/2006/main">
            <a:off x="3600450" y="353377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54"/>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PDP ve sepet önerilerini yaygınlaştır</a:t>
            </a:r>
          </a:p>
        </p:txBody>
      </p:sp>
      <p:sp>
        <p:nvSpPr>
          <p:cNvPr id="24" name="">
            <a:extLst xmlns:a="http://schemas.openxmlformats.org/drawingml/2006/main">
              <a:ext uri="{FF2B5EF4-FFF2-40B4-BE49-F238E27FC236}">
                <a16:creationId xmlns:a16="http://schemas.microsoft.com/office/drawing/2014/main" id="{75546A2A-306F-4F48-8007-6220BE470755}"/>
              </a:ext>
            </a:extLst>
          </p:cNvPr>
          <p:cNvSpPr>
            <a:spLocks xmlns:a="http://schemas.openxmlformats.org/drawingml/2006/main" noGrp="1"/>
          </p:cNvSpPr>
          <p:nvPr/>
        </p:nvSpPr>
        <p:spPr>
          <a:xfrm xmlns:a="http://schemas.openxmlformats.org/drawingml/2006/main">
            <a:off x="3419475" y="4019550"/>
            <a:ext cx="66675" cy="66675"/>
          </a:xfrm>
          <a:prstGeom xmlns:a="http://schemas.openxmlformats.org/drawingml/2006/main" prst="ellipse">
            <a:avLst/>
          </a:prstGeom>
          <a:solidFill xmlns:a="http://schemas.openxmlformats.org/drawingml/2006/main">
            <a:srgbClr val="EF6A5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D0D761C-5699-4B05-A1C2-D2C879CD14C1}"/>
              </a:ext>
            </a:extLst>
          </p:cNvPr>
          <p:cNvSpPr>
            <a:spLocks xmlns:a="http://schemas.openxmlformats.org/drawingml/2006/main" noGrp="1"/>
          </p:cNvSpPr>
          <p:nvPr/>
        </p:nvSpPr>
        <p:spPr>
          <a:xfrm xmlns:a="http://schemas.openxmlformats.org/drawingml/2006/main">
            <a:off x="3600450" y="394335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54"/>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Kritik performans iyileştirmelerini canlıya al</a:t>
            </a:r>
          </a:p>
        </p:txBody>
      </p:sp>
      <p:sp>
        <p:nvSpPr>
          <p:cNvPr id="26" name="">
            <a:extLst xmlns:a="http://schemas.openxmlformats.org/drawingml/2006/main">
              <a:ext uri="{FF2B5EF4-FFF2-40B4-BE49-F238E27FC236}">
                <a16:creationId xmlns:a16="http://schemas.microsoft.com/office/drawing/2014/main" id="{9D66E156-9253-4927-84BE-14B22EFF0A12}"/>
              </a:ext>
            </a:extLst>
          </p:cNvPr>
          <p:cNvSpPr>
            <a:spLocks xmlns:a="http://schemas.openxmlformats.org/drawingml/2006/main" noGrp="1"/>
          </p:cNvSpPr>
          <p:nvPr/>
        </p:nvSpPr>
        <p:spPr>
          <a:xfrm xmlns:a="http://schemas.openxmlformats.org/drawingml/2006/main">
            <a:off x="6191250" y="2028825"/>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0A88F"/>
                </a:solidFill>
                <a:latin typeface="Aptos Display"/>
                <a:ea typeface="Aptos Display"/>
                <a:cs typeface="Aptos Display"/>
              </a:defRPr>
            </a:pPr>
            <a:r>
              <a:rPr sz="2325" b="1">
                <a:solidFill>
                  <a:srgbClr val="00A88F"/>
                </a:solidFill>
                <a:latin typeface="Aptos Display"/>
                <a:ea typeface="Aptos Display"/>
                <a:cs typeface="Aptos Display"/>
              </a:rPr>
              <a:t>Q3</a:t>
            </a:r>
          </a:p>
        </p:txBody>
      </p:sp>
      <p:sp>
        <p:nvSpPr>
          <p:cNvPr id="27" name="">
            <a:extLst xmlns:a="http://schemas.openxmlformats.org/drawingml/2006/main">
              <a:ext uri="{FF2B5EF4-FFF2-40B4-BE49-F238E27FC236}">
                <a16:creationId xmlns:a16="http://schemas.microsoft.com/office/drawing/2014/main" id="{EB01BDA1-98DA-4DC9-BFEB-299849257A78}"/>
              </a:ext>
            </a:extLst>
          </p:cNvPr>
          <p:cNvSpPr>
            <a:spLocks xmlns:a="http://schemas.openxmlformats.org/drawingml/2006/main" noGrp="1"/>
          </p:cNvSpPr>
          <p:nvPr/>
        </p:nvSpPr>
        <p:spPr>
          <a:xfrm xmlns:a="http://schemas.openxmlformats.org/drawingml/2006/main">
            <a:off x="6191250" y="2476500"/>
            <a:ext cx="2514600" cy="0"/>
          </a:xfrm>
          <a:prstGeom xmlns:a="http://schemas.openxmlformats.org/drawingml/2006/main" prst="line">
            <a:avLst/>
          </a:prstGeom>
          <a:noFill xmlns:a="http://schemas.openxmlformats.org/drawingml/2006/main"/>
          <a:ln xmlns:a="http://schemas.openxmlformats.org/drawingml/2006/main" w="47625">
            <a:solidFill>
              <a:srgbClr val="00A88F"/>
            </a:solidFill>
            <a:prstDash val="solid"/>
          </a:ln>
        </p:spPr>
      </p:sp>
      <p:sp>
        <p:nvSpPr>
          <p:cNvPr id="28" name="">
            <a:extLst xmlns:a="http://schemas.openxmlformats.org/drawingml/2006/main">
              <a:ext uri="{FF2B5EF4-FFF2-40B4-BE49-F238E27FC236}">
                <a16:creationId xmlns:a16="http://schemas.microsoft.com/office/drawing/2014/main" id="{700CF032-A6F2-42F1-BAD2-F43A392F4E1D}"/>
              </a:ext>
            </a:extLst>
          </p:cNvPr>
          <p:cNvSpPr>
            <a:spLocks xmlns:a="http://schemas.openxmlformats.org/drawingml/2006/main" noGrp="1"/>
          </p:cNvSpPr>
          <p:nvPr/>
        </p:nvSpPr>
        <p:spPr>
          <a:xfrm xmlns:a="http://schemas.openxmlformats.org/drawingml/2006/main">
            <a:off x="6191250" y="2676525"/>
            <a:ext cx="2514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263D"/>
                </a:solidFill>
                <a:latin typeface="Aptos"/>
                <a:ea typeface="Aptos"/>
                <a:cs typeface="Aptos"/>
              </a:defRPr>
            </a:pPr>
            <a:r>
              <a:rPr sz="1725" b="1">
                <a:solidFill>
                  <a:srgbClr val="10263D"/>
                </a:solidFill>
                <a:latin typeface="Aptos"/>
                <a:ea typeface="Aptos"/>
                <a:cs typeface="Aptos"/>
              </a:rPr>
              <a:t>Kişiselleştir</a:t>
            </a:r>
          </a:p>
        </p:txBody>
      </p:sp>
      <p:sp>
        <p:nvSpPr>
          <p:cNvPr id="29" name="">
            <a:extLst xmlns:a="http://schemas.openxmlformats.org/drawingml/2006/main">
              <a:ext uri="{FF2B5EF4-FFF2-40B4-BE49-F238E27FC236}">
                <a16:creationId xmlns:a16="http://schemas.microsoft.com/office/drawing/2014/main" id="{264955B7-E9CD-4482-B17B-9D7762C2A1B3}"/>
              </a:ext>
            </a:extLst>
          </p:cNvPr>
          <p:cNvSpPr>
            <a:spLocks xmlns:a="http://schemas.openxmlformats.org/drawingml/2006/main" noGrp="1"/>
          </p:cNvSpPr>
          <p:nvPr/>
        </p:nvSpPr>
        <p:spPr>
          <a:xfrm xmlns:a="http://schemas.openxmlformats.org/drawingml/2006/main">
            <a:off x="6191250" y="3200400"/>
            <a:ext cx="66675" cy="66675"/>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EA4925C-0C81-4ABD-94B0-EE65C588BA3D}"/>
              </a:ext>
            </a:extLst>
          </p:cNvPr>
          <p:cNvSpPr>
            <a:spLocks xmlns:a="http://schemas.openxmlformats.org/drawingml/2006/main" noGrp="1"/>
          </p:cNvSpPr>
          <p:nvPr/>
        </p:nvSpPr>
        <p:spPr>
          <a:xfrm xmlns:a="http://schemas.openxmlformats.org/drawingml/2006/main">
            <a:off x="6372225" y="312420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54"/>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Segment bazlı yaşam döngüsü akışları</a:t>
            </a:r>
          </a:p>
        </p:txBody>
      </p:sp>
      <p:sp>
        <p:nvSpPr>
          <p:cNvPr id="31" name="">
            <a:extLst xmlns:a="http://schemas.openxmlformats.org/drawingml/2006/main">
              <a:ext uri="{FF2B5EF4-FFF2-40B4-BE49-F238E27FC236}">
                <a16:creationId xmlns:a16="http://schemas.microsoft.com/office/drawing/2014/main" id="{AE2B44C5-6E12-4BEE-9BD7-E03BA1D4E8CA}"/>
              </a:ext>
            </a:extLst>
          </p:cNvPr>
          <p:cNvSpPr>
            <a:spLocks xmlns:a="http://schemas.openxmlformats.org/drawingml/2006/main" noGrp="1"/>
          </p:cNvSpPr>
          <p:nvPr/>
        </p:nvSpPr>
        <p:spPr>
          <a:xfrm xmlns:a="http://schemas.openxmlformats.org/drawingml/2006/main">
            <a:off x="6191250" y="3609975"/>
            <a:ext cx="66675" cy="66675"/>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9669DDA-516C-486F-979C-5D7C536F8B2B}"/>
              </a:ext>
            </a:extLst>
          </p:cNvPr>
          <p:cNvSpPr>
            <a:spLocks xmlns:a="http://schemas.openxmlformats.org/drawingml/2006/main" noGrp="1"/>
          </p:cNvSpPr>
          <p:nvPr/>
        </p:nvSpPr>
        <p:spPr>
          <a:xfrm xmlns:a="http://schemas.openxmlformats.org/drawingml/2006/main">
            <a:off x="6372225" y="353377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Kategori ilgisine göre öneriler</a:t>
            </a:r>
          </a:p>
        </p:txBody>
      </p:sp>
      <p:sp>
        <p:nvSpPr>
          <p:cNvPr id="33" name="">
            <a:extLst xmlns:a="http://schemas.openxmlformats.org/drawingml/2006/main">
              <a:ext uri="{FF2B5EF4-FFF2-40B4-BE49-F238E27FC236}">
                <a16:creationId xmlns:a16="http://schemas.microsoft.com/office/drawing/2014/main" id="{9ECED19F-B9F9-4FF4-BD56-5328E685FE66}"/>
              </a:ext>
            </a:extLst>
          </p:cNvPr>
          <p:cNvSpPr>
            <a:spLocks xmlns:a="http://schemas.openxmlformats.org/drawingml/2006/main" noGrp="1"/>
          </p:cNvSpPr>
          <p:nvPr/>
        </p:nvSpPr>
        <p:spPr>
          <a:xfrm xmlns:a="http://schemas.openxmlformats.org/drawingml/2006/main">
            <a:off x="6191250" y="4019550"/>
            <a:ext cx="66675" cy="66675"/>
          </a:xfrm>
          <a:prstGeom xmlns:a="http://schemas.openxmlformats.org/drawingml/2006/main" prst="ellipse">
            <a:avLst/>
          </a:prstGeom>
          <a:solidFill xmlns:a="http://schemas.openxmlformats.org/drawingml/2006/main">
            <a:srgbClr val="00A88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63A5276-0E2A-4474-9824-5D28F82900A9}"/>
              </a:ext>
            </a:extLst>
          </p:cNvPr>
          <p:cNvSpPr>
            <a:spLocks xmlns:a="http://schemas.openxmlformats.org/drawingml/2006/main" noGrp="1"/>
          </p:cNvSpPr>
          <p:nvPr/>
        </p:nvSpPr>
        <p:spPr>
          <a:xfrm xmlns:a="http://schemas.openxmlformats.org/drawingml/2006/main">
            <a:off x="6372225" y="394335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VoC geri bildirim döngüsü</a:t>
            </a:r>
          </a:p>
        </p:txBody>
      </p:sp>
      <p:sp>
        <p:nvSpPr>
          <p:cNvPr id="35" name="">
            <a:extLst xmlns:a="http://schemas.openxmlformats.org/drawingml/2006/main">
              <a:ext uri="{FF2B5EF4-FFF2-40B4-BE49-F238E27FC236}">
                <a16:creationId xmlns:a16="http://schemas.microsoft.com/office/drawing/2014/main" id="{B5720721-BE2C-46A5-9B5F-8AD142E0CCD6}"/>
              </a:ext>
            </a:extLst>
          </p:cNvPr>
          <p:cNvSpPr>
            <a:spLocks xmlns:a="http://schemas.openxmlformats.org/drawingml/2006/main" noGrp="1"/>
          </p:cNvSpPr>
          <p:nvPr/>
        </p:nvSpPr>
        <p:spPr>
          <a:xfrm xmlns:a="http://schemas.openxmlformats.org/drawingml/2006/main">
            <a:off x="8963025" y="2028825"/>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7B61FF"/>
                </a:solidFill>
                <a:latin typeface="Aptos Display"/>
                <a:ea typeface="Aptos Display"/>
                <a:cs typeface="Aptos Display"/>
              </a:defRPr>
            </a:pPr>
            <a:r>
              <a:rPr sz="2325" b="1">
                <a:solidFill>
                  <a:srgbClr val="7B61FF"/>
                </a:solidFill>
                <a:latin typeface="Aptos Display"/>
                <a:ea typeface="Aptos Display"/>
                <a:cs typeface="Aptos Display"/>
              </a:rPr>
              <a:t>Q4</a:t>
            </a:r>
          </a:p>
        </p:txBody>
      </p:sp>
      <p:sp>
        <p:nvSpPr>
          <p:cNvPr id="36" name="">
            <a:extLst xmlns:a="http://schemas.openxmlformats.org/drawingml/2006/main">
              <a:ext uri="{FF2B5EF4-FFF2-40B4-BE49-F238E27FC236}">
                <a16:creationId xmlns:a16="http://schemas.microsoft.com/office/drawing/2014/main" id="{C1D0014E-F3FE-4615-973F-252DFED3222C}"/>
              </a:ext>
            </a:extLst>
          </p:cNvPr>
          <p:cNvSpPr>
            <a:spLocks xmlns:a="http://schemas.openxmlformats.org/drawingml/2006/main" noGrp="1"/>
          </p:cNvSpPr>
          <p:nvPr/>
        </p:nvSpPr>
        <p:spPr>
          <a:xfrm xmlns:a="http://schemas.openxmlformats.org/drawingml/2006/main">
            <a:off x="8963025" y="2476500"/>
            <a:ext cx="2514600" cy="0"/>
          </a:xfrm>
          <a:prstGeom xmlns:a="http://schemas.openxmlformats.org/drawingml/2006/main" prst="line">
            <a:avLst/>
          </a:prstGeom>
          <a:noFill xmlns:a="http://schemas.openxmlformats.org/drawingml/2006/main"/>
          <a:ln xmlns:a="http://schemas.openxmlformats.org/drawingml/2006/main" w="47625">
            <a:solidFill>
              <a:srgbClr val="7B61FF"/>
            </a:solidFill>
            <a:prstDash val="solid"/>
          </a:ln>
        </p:spPr>
      </p:sp>
      <p:sp>
        <p:nvSpPr>
          <p:cNvPr id="37" name="">
            <a:extLst xmlns:a="http://schemas.openxmlformats.org/drawingml/2006/main">
              <a:ext uri="{FF2B5EF4-FFF2-40B4-BE49-F238E27FC236}">
                <a16:creationId xmlns:a16="http://schemas.microsoft.com/office/drawing/2014/main" id="{68A64C83-2C66-44BE-BB02-4CC91CD7948E}"/>
              </a:ext>
            </a:extLst>
          </p:cNvPr>
          <p:cNvSpPr>
            <a:spLocks xmlns:a="http://schemas.openxmlformats.org/drawingml/2006/main" noGrp="1"/>
          </p:cNvSpPr>
          <p:nvPr/>
        </p:nvSpPr>
        <p:spPr>
          <a:xfrm xmlns:a="http://schemas.openxmlformats.org/drawingml/2006/main">
            <a:off x="8963025" y="2676525"/>
            <a:ext cx="2514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263D"/>
                </a:solidFill>
                <a:latin typeface="Aptos"/>
                <a:ea typeface="Aptos"/>
                <a:cs typeface="Aptos"/>
              </a:defRPr>
            </a:pPr>
            <a:r>
              <a:rPr sz="1725" b="1">
                <a:solidFill>
                  <a:srgbClr val="10263D"/>
                </a:solidFill>
                <a:latin typeface="Aptos"/>
                <a:ea typeface="Aptos"/>
                <a:cs typeface="Aptos"/>
              </a:rPr>
              <a:t>Optimize et</a:t>
            </a:r>
          </a:p>
        </p:txBody>
      </p:sp>
      <p:sp>
        <p:nvSpPr>
          <p:cNvPr id="38" name="">
            <a:extLst xmlns:a="http://schemas.openxmlformats.org/drawingml/2006/main">
              <a:ext uri="{FF2B5EF4-FFF2-40B4-BE49-F238E27FC236}">
                <a16:creationId xmlns:a16="http://schemas.microsoft.com/office/drawing/2014/main" id="{89603551-06A6-4EFF-BA2F-BF8A068F120E}"/>
              </a:ext>
            </a:extLst>
          </p:cNvPr>
          <p:cNvSpPr>
            <a:spLocks xmlns:a="http://schemas.openxmlformats.org/drawingml/2006/main" noGrp="1"/>
          </p:cNvSpPr>
          <p:nvPr/>
        </p:nvSpPr>
        <p:spPr>
          <a:xfrm xmlns:a="http://schemas.openxmlformats.org/drawingml/2006/main">
            <a:off x="8963025" y="3200400"/>
            <a:ext cx="66675" cy="66675"/>
          </a:xfrm>
          <a:prstGeom xmlns:a="http://schemas.openxmlformats.org/drawingml/2006/main" prst="ellipse">
            <a:avLst/>
          </a:prstGeom>
          <a:solidFill xmlns:a="http://schemas.openxmlformats.org/drawingml/2006/main">
            <a:srgbClr val="7B61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CCF0B7A-57B9-4855-BA23-75542EB0817F}"/>
              </a:ext>
            </a:extLst>
          </p:cNvPr>
          <p:cNvSpPr>
            <a:spLocks xmlns:a="http://schemas.openxmlformats.org/drawingml/2006/main" noGrp="1"/>
          </p:cNvSpPr>
          <p:nvPr/>
        </p:nvSpPr>
        <p:spPr>
          <a:xfrm xmlns:a="http://schemas.openxmlformats.org/drawingml/2006/main">
            <a:off x="9144000" y="312420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Bütçeyi artımlı değere göre dağıt</a:t>
            </a:r>
          </a:p>
        </p:txBody>
      </p:sp>
      <p:sp>
        <p:nvSpPr>
          <p:cNvPr id="40" name="">
            <a:extLst xmlns:a="http://schemas.openxmlformats.org/drawingml/2006/main">
              <a:ext uri="{FF2B5EF4-FFF2-40B4-BE49-F238E27FC236}">
                <a16:creationId xmlns:a16="http://schemas.microsoft.com/office/drawing/2014/main" id="{AB93B9A4-A9EB-4F4E-AD2F-32A48A511CC1}"/>
              </a:ext>
            </a:extLst>
          </p:cNvPr>
          <p:cNvSpPr>
            <a:spLocks xmlns:a="http://schemas.openxmlformats.org/drawingml/2006/main" noGrp="1"/>
          </p:cNvSpPr>
          <p:nvPr/>
        </p:nvSpPr>
        <p:spPr>
          <a:xfrm xmlns:a="http://schemas.openxmlformats.org/drawingml/2006/main">
            <a:off x="8963025" y="3609975"/>
            <a:ext cx="66675" cy="66675"/>
          </a:xfrm>
          <a:prstGeom xmlns:a="http://schemas.openxmlformats.org/drawingml/2006/main" prst="ellipse">
            <a:avLst/>
          </a:prstGeom>
          <a:solidFill xmlns:a="http://schemas.openxmlformats.org/drawingml/2006/main">
            <a:srgbClr val="7B61FF"/>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64CBA90-B68C-4C10-B35A-11328E8FF1D7}"/>
              </a:ext>
            </a:extLst>
          </p:cNvPr>
          <p:cNvSpPr>
            <a:spLocks xmlns:a="http://schemas.openxmlformats.org/drawingml/2006/main" noGrp="1"/>
          </p:cNvSpPr>
          <p:nvPr/>
        </p:nvSpPr>
        <p:spPr>
          <a:xfrm xmlns:a="http://schemas.openxmlformats.org/drawingml/2006/main">
            <a:off x="9144000" y="353377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Hedefleri yeniden kalibre et</a:t>
            </a:r>
          </a:p>
        </p:txBody>
      </p:sp>
      <p:sp>
        <p:nvSpPr>
          <p:cNvPr id="42" name="">
            <a:extLst xmlns:a="http://schemas.openxmlformats.org/drawingml/2006/main">
              <a:ext uri="{FF2B5EF4-FFF2-40B4-BE49-F238E27FC236}">
                <a16:creationId xmlns:a16="http://schemas.microsoft.com/office/drawing/2014/main" id="{8402715C-86D1-4C25-B1A3-788CE50F9C40}"/>
              </a:ext>
            </a:extLst>
          </p:cNvPr>
          <p:cNvSpPr>
            <a:spLocks xmlns:a="http://schemas.openxmlformats.org/drawingml/2006/main" noGrp="1"/>
          </p:cNvSpPr>
          <p:nvPr/>
        </p:nvSpPr>
        <p:spPr>
          <a:xfrm xmlns:a="http://schemas.openxmlformats.org/drawingml/2006/main">
            <a:off x="8963025" y="4019550"/>
            <a:ext cx="66675" cy="66675"/>
          </a:xfrm>
          <a:prstGeom xmlns:a="http://schemas.openxmlformats.org/drawingml/2006/main" prst="ellipse">
            <a:avLst/>
          </a:prstGeom>
          <a:solidFill xmlns:a="http://schemas.openxmlformats.org/drawingml/2006/main">
            <a:srgbClr val="7B61FF"/>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557A323-23E2-43B2-AD64-8E3865F3EC5B}"/>
              </a:ext>
            </a:extLst>
          </p:cNvPr>
          <p:cNvSpPr>
            <a:spLocks xmlns:a="http://schemas.openxmlformats.org/drawingml/2006/main" noGrp="1"/>
          </p:cNvSpPr>
          <p:nvPr/>
        </p:nvSpPr>
        <p:spPr>
          <a:xfrm xmlns:a="http://schemas.openxmlformats.org/drawingml/2006/main">
            <a:off x="9144000" y="3943350"/>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10263D"/>
                </a:solidFill>
                <a:latin typeface="Aptos"/>
                <a:ea typeface="Aptos"/>
                <a:cs typeface="Aptos"/>
              </a:defRPr>
            </a:pPr>
            <a:r>
              <a:rPr sz="1200" b="0">
                <a:solidFill>
                  <a:srgbClr val="10263D"/>
                </a:solidFill>
                <a:latin typeface="Aptos"/>
                <a:ea typeface="Aptos"/>
                <a:cs typeface="Aptos"/>
              </a:rPr>
              <a:t>2027 retention planını kilitle</a:t>
            </a:r>
          </a:p>
        </p:txBody>
      </p:sp>
      <p:sp>
        <p:nvSpPr>
          <p:cNvPr id="44" name="">
            <a:extLst xmlns:a="http://schemas.openxmlformats.org/drawingml/2006/main">
              <a:ext uri="{FF2B5EF4-FFF2-40B4-BE49-F238E27FC236}">
                <a16:creationId xmlns:a16="http://schemas.microsoft.com/office/drawing/2014/main" id="{6F7CEDB6-13A1-4FE8-B8D7-627924F36EFA}"/>
              </a:ext>
            </a:extLst>
          </p:cNvPr>
          <p:cNvSpPr>
            <a:spLocks xmlns:a="http://schemas.openxmlformats.org/drawingml/2006/main" noGrp="1"/>
          </p:cNvSpPr>
          <p:nvPr/>
        </p:nvSpPr>
        <p:spPr>
          <a:xfrm xmlns:a="http://schemas.openxmlformats.org/drawingml/2006/main">
            <a:off x="647700" y="4914900"/>
            <a:ext cx="10896600" cy="1200150"/>
          </a:xfrm>
          <a:prstGeom xmlns:a="http://schemas.openxmlformats.org/drawingml/2006/main" prst="roundRect">
            <a:avLst>
              <a:gd name="adj" fmla="val 12698"/>
            </a:avLst>
          </a:prstGeom>
          <a:solidFill xmlns:a="http://schemas.openxmlformats.org/drawingml/2006/main">
            <a:srgbClr val="10263D"/>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44DA860B-8C14-47E4-88D6-2B35D0EBC586}"/>
              </a:ext>
            </a:extLst>
          </p:cNvPr>
          <p:cNvSpPr>
            <a:spLocks xmlns:a="http://schemas.openxmlformats.org/drawingml/2006/main" noGrp="1"/>
          </p:cNvSpPr>
          <p:nvPr/>
        </p:nvSpPr>
        <p:spPr>
          <a:xfrm xmlns:a="http://schemas.openxmlformats.org/drawingml/2006/main">
            <a:off x="885825" y="51244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CC3E1"/>
                </a:solidFill>
                <a:latin typeface="Aptos"/>
                <a:ea typeface="Aptos"/>
                <a:cs typeface="Aptos"/>
              </a:defRPr>
            </a:pPr>
            <a:r>
              <a:rPr sz="975" b="1">
                <a:solidFill>
                  <a:srgbClr val="9CC3E1"/>
                </a:solidFill>
                <a:latin typeface="Aptos"/>
                <a:ea typeface="Aptos"/>
                <a:cs typeface="Aptos"/>
              </a:rPr>
              <a:t>CEO SCORECARD</a:t>
            </a:r>
          </a:p>
        </p:txBody>
      </p:sp>
      <p:sp>
        <p:nvSpPr>
          <p:cNvPr id="46" name="">
            <a:extLst xmlns:a="http://schemas.openxmlformats.org/drawingml/2006/main">
              <a:ext uri="{FF2B5EF4-FFF2-40B4-BE49-F238E27FC236}">
                <a16:creationId xmlns:a16="http://schemas.microsoft.com/office/drawing/2014/main" id="{113520A8-B971-45B6-8FD6-AE941340EAD1}"/>
              </a:ext>
            </a:extLst>
          </p:cNvPr>
          <p:cNvSpPr>
            <a:spLocks xmlns:a="http://schemas.openxmlformats.org/drawingml/2006/main" noGrp="1"/>
          </p:cNvSpPr>
          <p:nvPr/>
        </p:nvSpPr>
        <p:spPr>
          <a:xfrm xmlns:a="http://schemas.openxmlformats.org/drawingml/2006/main">
            <a:off x="2619375" y="5076825"/>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FFFFFF"/>
                </a:solidFill>
                <a:latin typeface="Aptos"/>
                <a:ea typeface="Aptos"/>
                <a:cs typeface="Aptos"/>
              </a:defRPr>
            </a:pPr>
            <a:r>
              <a:rPr sz="2175" b="1">
                <a:solidFill>
                  <a:srgbClr val="FFFFFF"/>
                </a:solidFill>
                <a:latin typeface="Aptos"/>
                <a:ea typeface="Aptos"/>
                <a:cs typeface="Aptos"/>
              </a:rPr>
              <a:t>≥ %12</a:t>
            </a:r>
          </a:p>
        </p:txBody>
      </p:sp>
      <p:sp>
        <p:nvSpPr>
          <p:cNvPr id="47" name="">
            <a:extLst xmlns:a="http://schemas.openxmlformats.org/drawingml/2006/main">
              <a:ext uri="{FF2B5EF4-FFF2-40B4-BE49-F238E27FC236}">
                <a16:creationId xmlns:a16="http://schemas.microsoft.com/office/drawing/2014/main" id="{EBB8DF9F-62FB-4D81-85C1-9BD449FC7FD9}"/>
              </a:ext>
            </a:extLst>
          </p:cNvPr>
          <p:cNvSpPr>
            <a:spLocks xmlns:a="http://schemas.openxmlformats.org/drawingml/2006/main" noGrp="1"/>
          </p:cNvSpPr>
          <p:nvPr/>
        </p:nvSpPr>
        <p:spPr>
          <a:xfrm xmlns:a="http://schemas.openxmlformats.org/drawingml/2006/main">
            <a:off x="2619375" y="5457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7D9E7"/>
                </a:solidFill>
                <a:latin typeface="Aptos"/>
                <a:ea typeface="Aptos"/>
                <a:cs typeface="Aptos"/>
              </a:defRPr>
            </a:pPr>
            <a:r>
              <a:rPr sz="1050" b="0">
                <a:solidFill>
                  <a:srgbClr val="C7D9E7"/>
                </a:solidFill>
                <a:latin typeface="Aptos"/>
                <a:ea typeface="Aptos"/>
                <a:cs typeface="Aptos"/>
              </a:rPr>
              <a:t>At Risk reaktivasyon</a:t>
            </a:r>
          </a:p>
        </p:txBody>
      </p:sp>
      <p:sp>
        <p:nvSpPr>
          <p:cNvPr id="48" name="">
            <a:extLst xmlns:a="http://schemas.openxmlformats.org/drawingml/2006/main">
              <a:ext uri="{FF2B5EF4-FFF2-40B4-BE49-F238E27FC236}">
                <a16:creationId xmlns:a16="http://schemas.microsoft.com/office/drawing/2014/main" id="{0B05810B-C517-48E1-97FA-431C0BAC8C39}"/>
              </a:ext>
            </a:extLst>
          </p:cNvPr>
          <p:cNvSpPr>
            <a:spLocks xmlns:a="http://schemas.openxmlformats.org/drawingml/2006/main" noGrp="1"/>
          </p:cNvSpPr>
          <p:nvPr/>
        </p:nvSpPr>
        <p:spPr>
          <a:xfrm xmlns:a="http://schemas.openxmlformats.org/drawingml/2006/main">
            <a:off x="4695825" y="5076825"/>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FFFFFF"/>
                </a:solidFill>
                <a:latin typeface="Aptos"/>
                <a:ea typeface="Aptos"/>
                <a:cs typeface="Aptos"/>
              </a:defRPr>
            </a:pPr>
            <a:r>
              <a:rPr sz="2175" b="1">
                <a:solidFill>
                  <a:srgbClr val="FFFFFF"/>
                </a:solidFill>
                <a:latin typeface="Aptos"/>
                <a:ea typeface="Aptos"/>
                <a:cs typeface="Aptos"/>
              </a:rPr>
              <a:t>≥ %35</a:t>
            </a:r>
          </a:p>
        </p:txBody>
      </p:sp>
      <p:sp>
        <p:nvSpPr>
          <p:cNvPr id="49" name="">
            <a:extLst xmlns:a="http://schemas.openxmlformats.org/drawingml/2006/main">
              <a:ext uri="{FF2B5EF4-FFF2-40B4-BE49-F238E27FC236}">
                <a16:creationId xmlns:a16="http://schemas.microsoft.com/office/drawing/2014/main" id="{7F1119F3-16DE-452E-BB79-8295D194387A}"/>
              </a:ext>
            </a:extLst>
          </p:cNvPr>
          <p:cNvSpPr>
            <a:spLocks xmlns:a="http://schemas.openxmlformats.org/drawingml/2006/main" noGrp="1"/>
          </p:cNvSpPr>
          <p:nvPr/>
        </p:nvSpPr>
        <p:spPr>
          <a:xfrm xmlns:a="http://schemas.openxmlformats.org/drawingml/2006/main">
            <a:off x="4695825" y="54578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7D9E7"/>
                </a:solidFill>
                <a:latin typeface="Aptos"/>
                <a:ea typeface="Aptos"/>
                <a:cs typeface="Aptos"/>
              </a:defRPr>
            </a:pPr>
            <a:r>
              <a:rPr sz="1050" b="0">
                <a:solidFill>
                  <a:srgbClr val="C7D9E7"/>
                </a:solidFill>
                <a:latin typeface="Aptos"/>
                <a:ea typeface="Aptos"/>
                <a:cs typeface="Aptos"/>
              </a:rPr>
              <a:t>JAM companion attach</a:t>
            </a:r>
          </a:p>
        </p:txBody>
      </p:sp>
      <p:sp>
        <p:nvSpPr>
          <p:cNvPr id="50" name="">
            <a:extLst xmlns:a="http://schemas.openxmlformats.org/drawingml/2006/main">
              <a:ext uri="{FF2B5EF4-FFF2-40B4-BE49-F238E27FC236}">
                <a16:creationId xmlns:a16="http://schemas.microsoft.com/office/drawing/2014/main" id="{C7FCC623-E015-424B-B309-89F2AD060FA5}"/>
              </a:ext>
            </a:extLst>
          </p:cNvPr>
          <p:cNvSpPr>
            <a:spLocks xmlns:a="http://schemas.openxmlformats.org/drawingml/2006/main" noGrp="1"/>
          </p:cNvSpPr>
          <p:nvPr/>
        </p:nvSpPr>
        <p:spPr>
          <a:xfrm xmlns:a="http://schemas.openxmlformats.org/drawingml/2006/main">
            <a:off x="6819900" y="5076825"/>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FFFFFF"/>
                </a:solidFill>
                <a:latin typeface="Aptos"/>
                <a:ea typeface="Aptos"/>
                <a:cs typeface="Aptos"/>
              </a:defRPr>
            </a:pPr>
            <a:r>
              <a:rPr sz="2175" b="1">
                <a:solidFill>
                  <a:srgbClr val="FFFFFF"/>
                </a:solidFill>
                <a:latin typeface="Aptos"/>
                <a:ea typeface="Aptos"/>
                <a:cs typeface="Aptos"/>
              </a:rPr>
              <a:t>+15</a:t>
            </a:r>
          </a:p>
        </p:txBody>
      </p:sp>
      <p:sp>
        <p:nvSpPr>
          <p:cNvPr id="51" name="">
            <a:extLst xmlns:a="http://schemas.openxmlformats.org/drawingml/2006/main">
              <a:ext uri="{FF2B5EF4-FFF2-40B4-BE49-F238E27FC236}">
                <a16:creationId xmlns:a16="http://schemas.microsoft.com/office/drawing/2014/main" id="{5A29805E-A5CF-4C18-AF9B-41794E33B81B}"/>
              </a:ext>
            </a:extLst>
          </p:cNvPr>
          <p:cNvSpPr>
            <a:spLocks xmlns:a="http://schemas.openxmlformats.org/drawingml/2006/main" noGrp="1"/>
          </p:cNvSpPr>
          <p:nvPr/>
        </p:nvSpPr>
        <p:spPr>
          <a:xfrm xmlns:a="http://schemas.openxmlformats.org/drawingml/2006/main">
            <a:off x="6819900" y="545782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7D9E7"/>
                </a:solidFill>
                <a:latin typeface="Aptos"/>
                <a:ea typeface="Aptos"/>
                <a:cs typeface="Aptos"/>
              </a:defRPr>
            </a:pPr>
            <a:r>
              <a:rPr sz="1050" b="0">
                <a:solidFill>
                  <a:srgbClr val="C7D9E7"/>
                </a:solidFill>
                <a:latin typeface="Aptos"/>
                <a:ea typeface="Aptos"/>
                <a:cs typeface="Aptos"/>
              </a:rPr>
              <a:t>yıl sonu NPS</a:t>
            </a:r>
          </a:p>
        </p:txBody>
      </p:sp>
      <p:sp>
        <p:nvSpPr>
          <p:cNvPr id="52" name="">
            <a:extLst xmlns:a="http://schemas.openxmlformats.org/drawingml/2006/main">
              <a:ext uri="{FF2B5EF4-FFF2-40B4-BE49-F238E27FC236}">
                <a16:creationId xmlns:a16="http://schemas.microsoft.com/office/drawing/2014/main" id="{45B448CD-5B7A-4D16-94ED-34ECF294CD37}"/>
              </a:ext>
            </a:extLst>
          </p:cNvPr>
          <p:cNvSpPr>
            <a:spLocks xmlns:a="http://schemas.openxmlformats.org/drawingml/2006/main" noGrp="1"/>
          </p:cNvSpPr>
          <p:nvPr/>
        </p:nvSpPr>
        <p:spPr>
          <a:xfrm xmlns:a="http://schemas.openxmlformats.org/drawingml/2006/main">
            <a:off x="8343900" y="5124450"/>
            <a:ext cx="0" cy="647700"/>
          </a:xfrm>
          <a:prstGeom xmlns:a="http://schemas.openxmlformats.org/drawingml/2006/main" prst="line">
            <a:avLst/>
          </a:prstGeom>
          <a:noFill xmlns:a="http://schemas.openxmlformats.org/drawingml/2006/main"/>
          <a:ln xmlns:a="http://schemas.openxmlformats.org/drawingml/2006/main" w="9525">
            <a:solidFill>
              <a:srgbClr val="FFFFFF">
                <a:alpha val="20784"/>
              </a:srgbClr>
            </a:solidFill>
            <a:prstDash val="solid"/>
          </a:ln>
        </p:spPr>
      </p:sp>
      <p:sp>
        <p:nvSpPr>
          <p:cNvPr id="53" name="">
            <a:extLst xmlns:a="http://schemas.openxmlformats.org/drawingml/2006/main">
              <a:ext uri="{FF2B5EF4-FFF2-40B4-BE49-F238E27FC236}">
                <a16:creationId xmlns:a16="http://schemas.microsoft.com/office/drawing/2014/main" id="{AA7E6BB5-9858-4A4A-ADAA-3562425FCC3D}"/>
              </a:ext>
            </a:extLst>
          </p:cNvPr>
          <p:cNvSpPr>
            <a:spLocks xmlns:a="http://schemas.openxmlformats.org/drawingml/2006/main" noGrp="1"/>
          </p:cNvSpPr>
          <p:nvPr/>
        </p:nvSpPr>
        <p:spPr>
          <a:xfrm xmlns:a="http://schemas.openxmlformats.org/drawingml/2006/main">
            <a:off x="8601075" y="51149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CC3E1"/>
                </a:solidFill>
                <a:latin typeface="Aptos"/>
                <a:ea typeface="Aptos"/>
                <a:cs typeface="Aptos"/>
              </a:defRPr>
            </a:pPr>
            <a:r>
              <a:rPr sz="900" b="1">
                <a:solidFill>
                  <a:srgbClr val="9CC3E1"/>
                </a:solidFill>
                <a:latin typeface="Aptos"/>
                <a:ea typeface="Aptos"/>
                <a:cs typeface="Aptos"/>
              </a:rPr>
              <a:t>GUARDRAILS</a:t>
            </a:r>
          </a:p>
        </p:txBody>
      </p:sp>
      <p:sp>
        <p:nvSpPr>
          <p:cNvPr id="54" name="">
            <a:extLst xmlns:a="http://schemas.openxmlformats.org/drawingml/2006/main">
              <a:ext uri="{FF2B5EF4-FFF2-40B4-BE49-F238E27FC236}">
                <a16:creationId xmlns:a16="http://schemas.microsoft.com/office/drawing/2014/main" id="{2FC0A271-C737-430E-864A-030B74F7DF71}"/>
              </a:ext>
            </a:extLst>
          </p:cNvPr>
          <p:cNvSpPr>
            <a:spLocks xmlns:a="http://schemas.openxmlformats.org/drawingml/2006/main" noGrp="1"/>
          </p:cNvSpPr>
          <p:nvPr/>
        </p:nvSpPr>
        <p:spPr>
          <a:xfrm xmlns:a="http://schemas.openxmlformats.org/drawingml/2006/main">
            <a:off x="8601075" y="5391150"/>
            <a:ext cx="2619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Katkı marjı • iade oranı • iletişim şikâyeti • site hata oranı</a:t>
            </a:r>
          </a:p>
        </p:txBody>
      </p:sp>
      <p:sp>
        <p:nvSpPr>
          <p:cNvPr id="55" name="">
            <a:extLst xmlns:a="http://schemas.openxmlformats.org/drawingml/2006/main">
              <a:ext uri="{FF2B5EF4-FFF2-40B4-BE49-F238E27FC236}">
                <a16:creationId xmlns:a16="http://schemas.microsoft.com/office/drawing/2014/main" id="{33FF8A70-F40C-4BED-B5D8-290D815AE11C}"/>
              </a:ext>
            </a:extLst>
          </p:cNvPr>
          <p:cNvSpPr>
            <a:spLocks xmlns:a="http://schemas.openxmlformats.org/drawingml/2006/main" noGrp="1"/>
          </p:cNvSpPr>
          <p:nvPr/>
        </p:nvSpPr>
        <p:spPr>
          <a:xfrm xmlns:a="http://schemas.openxmlformats.org/drawingml/2006/main">
            <a:off x="2876550" y="6219825"/>
            <a:ext cx="6438900" cy="333375"/>
          </a:xfrm>
          <a:prstGeom xmlns:a="http://schemas.openxmlformats.org/drawingml/2006/main" prst="roundRect">
            <a:avLst>
              <a:gd name="adj" fmla="val 50000"/>
            </a:avLst>
          </a:prstGeom>
          <a:solidFill xmlns:a="http://schemas.openxmlformats.org/drawingml/2006/main">
            <a:srgbClr val="F2B94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7BEFD3B-8FD5-43A9-A5C2-571446E8B8FB}"/>
              </a:ext>
            </a:extLst>
          </p:cNvPr>
          <p:cNvSpPr>
            <a:spLocks xmlns:a="http://schemas.openxmlformats.org/drawingml/2006/main" noGrp="1"/>
          </p:cNvSpPr>
          <p:nvPr/>
        </p:nvSpPr>
        <p:spPr>
          <a:xfrm xmlns:a="http://schemas.openxmlformats.org/drawingml/2006/main">
            <a:off x="2971800" y="6267450"/>
            <a:ext cx="6248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0263D"/>
                </a:solidFill>
                <a:latin typeface="Aptos"/>
                <a:ea typeface="Aptos"/>
                <a:cs typeface="Aptos"/>
              </a:defRPr>
            </a:pPr>
            <a:r>
              <a:rPr sz="1200" b="1">
                <a:solidFill>
                  <a:srgbClr val="10263D"/>
                </a:solidFill>
                <a:latin typeface="Aptos"/>
                <a:ea typeface="Aptos"/>
                <a:cs typeface="Aptos"/>
              </a:rPr>
              <a:t>KARAR: 3 pilotu Q1’de başlat, aylık CEO scorecard ile yönet</a:t>
            </a:r>
          </a:p>
        </p:txBody>
      </p:sp>
      <p:sp>
        <p:nvSpPr>
          <p:cNvPr id="57" name="">
            <a:extLst xmlns:a="http://schemas.openxmlformats.org/drawingml/2006/main">
              <a:ext uri="{FF2B5EF4-FFF2-40B4-BE49-F238E27FC236}">
                <a16:creationId xmlns:a16="http://schemas.microsoft.com/office/drawing/2014/main" id="{665D075B-4DA7-4F47-933D-E83440E22212}"/>
              </a:ext>
            </a:extLst>
          </p:cNvPr>
          <p:cNvSpPr>
            <a:spLocks xmlns:a="http://schemas.openxmlformats.org/drawingml/2006/main" noGrp="1"/>
          </p:cNvSpPr>
          <p:nvPr/>
        </p:nvSpPr>
        <p:spPr>
          <a:xfrm xmlns:a="http://schemas.openxmlformats.org/drawingml/2006/main">
            <a:off x="628650" y="6496050"/>
            <a:ext cx="10934700" cy="0"/>
          </a:xfrm>
          <a:prstGeom xmlns:a="http://schemas.openxmlformats.org/drawingml/2006/main" prst="line">
            <a:avLst/>
          </a:prstGeom>
          <a:noFill xmlns:a="http://schemas.openxmlformats.org/drawingml/2006/main"/>
          <a:ln xmlns:a="http://schemas.openxmlformats.org/drawingml/2006/main" w="9525">
            <a:solidFill>
              <a:srgbClr val="DCE5EE"/>
            </a:solidFill>
            <a:prstDash val="solid"/>
          </a:ln>
        </p:spPr>
      </p:sp>
      <p:sp>
        <p:nvSpPr>
          <p:cNvPr id="58" name="">
            <a:extLst xmlns:a="http://schemas.openxmlformats.org/drawingml/2006/main">
              <a:ext uri="{FF2B5EF4-FFF2-40B4-BE49-F238E27FC236}">
                <a16:creationId xmlns:a16="http://schemas.microsoft.com/office/drawing/2014/main" id="{07BBB2C5-2A2E-40FE-8EF8-17C85E0C2030}"/>
              </a:ext>
            </a:extLst>
          </p:cNvPr>
          <p:cNvSpPr>
            <a:spLocks xmlns:a="http://schemas.openxmlformats.org/drawingml/2006/main" noGrp="1"/>
          </p:cNvSpPr>
          <p:nvPr/>
        </p:nvSpPr>
        <p:spPr>
          <a:xfrm xmlns:a="http://schemas.openxmlformats.org/drawingml/2006/main">
            <a:off x="628650" y="65722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8292A3"/>
                </a:solidFill>
                <a:latin typeface="Aptos"/>
                <a:ea typeface="Aptos"/>
                <a:cs typeface="Aptos"/>
              </a:defRPr>
            </a:pPr>
            <a:r>
              <a:rPr sz="900" b="0">
                <a:solidFill>
                  <a:srgbClr val="8292A3"/>
                </a:solidFill>
                <a:latin typeface="Aptos"/>
                <a:ea typeface="Aptos"/>
                <a:cs typeface="Aptos"/>
              </a:rPr>
              <a:t>CRM E‑Commerce • 12 aylık uygulama planı</a:t>
            </a:r>
          </a:p>
        </p:txBody>
      </p:sp>
      <p:sp>
        <p:nvSpPr>
          <p:cNvPr id="59" name="">
            <a:extLst xmlns:a="http://schemas.openxmlformats.org/drawingml/2006/main">
              <a:ext uri="{FF2B5EF4-FFF2-40B4-BE49-F238E27FC236}">
                <a16:creationId xmlns:a16="http://schemas.microsoft.com/office/drawing/2014/main" id="{929263BD-9CC0-4432-9DAD-0098EF032431}"/>
              </a:ext>
            </a:extLst>
          </p:cNvPr>
          <p:cNvSpPr>
            <a:spLocks xmlns:a="http://schemas.openxmlformats.org/drawingml/2006/main" noGrp="1"/>
          </p:cNvSpPr>
          <p:nvPr/>
        </p:nvSpPr>
        <p:spPr>
          <a:xfrm xmlns:a="http://schemas.openxmlformats.org/drawingml/2006/main">
            <a:off x="9667875" y="6572250"/>
            <a:ext cx="18954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292A3"/>
                </a:solidFill>
                <a:latin typeface="Aptos"/>
                <a:ea typeface="Aptos"/>
                <a:cs typeface="Aptos"/>
              </a:defRPr>
            </a:pPr>
            <a:r>
              <a:rPr sz="900" b="0">
                <a:solidFill>
                  <a:srgbClr val="8292A3"/>
                </a:solidFill>
                <a:latin typeface="Aptos"/>
                <a:ea typeface="Aptos"/>
                <a:cs typeface="Aptos"/>
              </a:rPr>
              <a:t>Hüseyin Yanmaz</a:t>
            </a:r>
          </a:p>
        </p:txBody>
      </p:sp>
    </p:spTree>
    <p:extLst>
      <p:ext uri="{BB962C8B-B14F-4D97-AF65-F5344CB8AC3E}">
        <p14:creationId xmlns:p14="http://schemas.microsoft.com/office/powerpoint/2010/main" val="1605347614"/>
      </p:ext>
    </p:extLst>
  </p:cSld>
</p:sld>
</file>

<file path=ppt/theme/theme1.xml><?xml version="1.0" encoding="utf-8"?>
<a:theme xmlns:a="http://schemas.openxmlformats.org/drawingml/2006/main" name="ChatGPT">
  <a:themeElements>
    <a:clrScheme name="E-commerce Analytics">
      <a:dk1>
        <a:srgbClr val="000000"/>
      </a:dk1>
      <a:lt1>
        <a:srgbClr val="FFFFFF"/>
      </a:lt1>
      <a:dk2>
        <a:srgbClr val="173A5E"/>
      </a:dk2>
      <a:lt2>
        <a:srgbClr val="DCE5EE"/>
      </a:lt2>
      <a:accent1>
        <a:srgbClr val="2F6BFF"/>
      </a:accent1>
      <a:accent2>
        <a:srgbClr val="00A88F"/>
      </a:accent2>
      <a:accent3>
        <a:srgbClr val="EF6A5B"/>
      </a:accent3>
      <a:accent4>
        <a:srgbClr val="F2B94B"/>
      </a:accent4>
      <a:accent5>
        <a:srgbClr val="7B61FF"/>
      </a:accent5>
      <a:accent6>
        <a:srgbClr val="2DA66F"/>
      </a:accent6>
      <a:hlink>
        <a:srgbClr val="2F6BFF"/>
      </a:hlink>
      <a:folHlink>
        <a:srgbClr val="7B61FF"/>
      </a:folHlink>
    </a:clrScheme>
    <a:fontScheme name="Office">
      <a:majorFont>
        <a:latin typeface="Calibri Light"/>
        <a:ea typeface="Calibri Light"/>
        <a:cs typeface="Calibri Light"/>
      </a:majorFont>
      <a:minorFont>
        <a:latin typeface="Calibri"/>
        <a:ea typeface="Calibri"/>
        <a:cs typeface="Calibri"/>
      </a:minorFont>
    </a:fontScheme>
    <a:fmtScheme name="E-commerce Analytic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2026-09-08T11:13:00.4800000Z</dcterms:created>
  <dcterms:modified xsi:type="dcterms:W3CDTF">2026-09-08T11:13:00.4800000Z</dcterms:modified>
</coreProperties>
</file>